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talk: this is the story of how we ship and operate a genuinely complex AWS platform faster by treating kiro-cli as a real development partner. Not autocomplete — memory, rules, agents, guardrails, automation.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scale of what we operate. This isn't a toy project — it's four repos, nine accounts, real FinOps and drift detection, serving live dashboards on EKS. Every one of these surfaces its own conventions and failure modes.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reframed 'the challenge' section. The point: the conventions, security rules, deployment patterns and ops procedures are more than any of us can hold in our heads at once. Every context switch loses knowledge; every new session starts from zero. That's the gap we needed to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Kiro-cli as a persistent, context-aware development partner — not autocomplete. The rest of the deck walks these eight building blocks in order, each one a problem we had and how we solved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I. The problem: every new session, the AI had no idea about our branch naming, Vault auth, Kyverno labels, or that pushing to main is forbidden. So it suggested wrong patterns constantly. Steering is how we inject project DNA into every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fix: markdown documents in .kiro/steering/ that load automatically into every session's context. They act as persistent project rules the agent follows without being reminded. We built 14 of them covering architecture, onboarding, IaC conventions, CI, GitOps, secrets, and hard-won deployment lessons.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Concrete example. Kyverno requires mandatory labels and non-root security context on every K8s resource. Without steering the agent omits them, Kyverno rejects the deployment, and we debug for 20 minutes. With steering it includes mandatoryLabels and runAsUser 1000 automatically, every time. Outcome: zero Kyverno rejections since we added the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II. The problem: kiro had no knowledge of Powerpipe HCL syntax, Steampipe's embedded Postgres mode, our CI architecture, or our FinOps cost formulas. It would hallucinate HCL and break pipelines. Skills teach it what it doesn't know.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fix: skills are structured knowledge packages with YAML frontmatter that tells kiro WHEN to load them — on demand, not always like steering. Each has a description trigger plus reference docs, assets, and scripts. We built skills for powerpipe, steampipe, finops, terraform, AWS architecture, security review, and CI.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killer example. Ask for a card counting EC2 instances. Before skills, the AI queries the live aws_ec2_instance table — wrong, our architecture uses pre-computed tables. After skills, it writes a named query starting from local.all_resources_cte, the pattern we actually use. Correct HCL on the first attempt,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III. The problem with one general-purpose agent: context pollution, wrong tools available, no specialisation, and permission sprawl — every agent could modify any file and run any command. The fix is purpose-built agents.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fix: purpose-built agents, each with scoped tool access, permission boundaries, focused prompts, and safety hooks. Walk the roster — note that reviewers and auditors structurally cannot write. The developer builds; the reviewers critique; nobody has the other's permissions.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agents compose. The feature-developer implements with write access, then delegates review to code-reviewer via the subagent tool — read-only, focused critique. If review passes, it commits and pushes. This mirrors a real team: developer writes, reviewer reviews, neither has the other's permissions.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IV. Even with clear steering rules, mistakes happen: an accidental push to main, a force-push that loses history, a deleted Jira ticket, a write AWS call from a read-only context. One wrong command costs hours. Hooks are deterministic guardrails.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fix: Python scripts that intercept tool calls before they execute. They read the invocation as JSON, check it against safety rules, and exit 2 to block with an explanation. Walk the animation: the agent tries to push to main, the git-safety-guard blocks it and returns why, and the agent self-corrects to the feature branch. We run three guards — git, AWS read-only, and Jira no-delete.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V. Two extremes are both bad: too much prompting grinds the workflow to a halt; too much trust auto-approves destructive operations. The fix is a layered trust gradient — auto-approve safe operations, gate dangerous ones. Result: 80 percent fewer approval prompts, and dangerous operations are structurally impossible rather than discouraged.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VI. Context windows are finite. Loading everything wastes tokens and confuses the model; loading too little starves it. Our fix is two loading strategies: steering is always loaded for rules that apply everywhere; skills load on demand for domain knowledge needed only for specific tasks. A dashboard session loads steering plus the powerpipe skill; a Terraform session swaps in the terraform skill. No wasted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VII. The feature lifecycle has eight-plus steps, each with room for error: forgetting the Jira ticket, wrong branch naming, skipping verification, pushing untested code. Doing it by hand means missed steps. We automated the whole 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fix combines a prompt template (@feature-workflow) that orchestrates the sequence with the feature-developer agent that has the tools, permissions, and hooks to run it safely. Every irreversible action pauses for explicit human approval — plan, Jira, branch, review, push, MR. No forgotten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MR merge, the pipeline takes over with zero manual steps: publish-mod syncs powerpipe/ to the S3 mod bucket, trigger-refresh kicks powerpipe-deploy with REFRESH_DATA true, kubectl rollout restart runs, the pod pulls the new dashboard from S3, and it goes live in the browser. Merge equals deploy — no manual kubectl.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VIII. Now put it all together in one live demo: adding a Resource Count Summary dashboard — cards for totals, a per-account table, a per-environment table. Two new files, walked through the full guided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flow live. Enter feature-developer with ctrl+shift+f — the agentSpawn hook shows current branch. Invoke @feature-workflow. It researches existing patterns, presents a plan, creates the Jira ticket and branch, implements the two files, runs powerpipe dashboard list (exits 0), gets a code-reviewer LGTM, commits and pushes, opens the MR, updates Jira. Merge triggers the pipeline and the dashboard appears in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every feature back to where it's visible in the demo. Steering gives branch naming and the verification step; skills give correct HCL; agents split writing from reviewing; hooks block pushes to main; permissions scope writes; context loads steering always and powerpipe on demand; the workflow runs 8 steps with gates; automation deploys on merge. This is the whole deck in one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summary table, reframed away from 'one-man team'. Each row is a problem we had before kiro and how a building block fixed it. Read a few aloud — the pattern is consistent: knowledge that used to live in our heads now lives in the configuration.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reframed bottom line. Four repos, nine accounts, six dashboards, a full CI/CD pipeline — delivered and maintained with kiro-cli as our development partner. It doesn't replace our judgment; it handles the mechanical parts so we spend our attention on the design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sv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813"/>
        </a:solidFill>
      </p:bgPr>
    </p:bg>
    <p:spTree>
      <p:nvGrpSpPr>
        <p:cNvPr id="1" name=""/>
        <p:cNvGrpSpPr/>
        <p:nvPr/>
      </p:nvGrpSpPr>
      <p:grpSpPr>
        <a:xfrm>
          <a:off x="0" y="0"/>
          <a:ext cx="0" cy="0"/>
          <a:chOff x="0" y="0"/>
          <a:chExt cx="0" cy="0"/>
        </a:xfrm>
      </p:grpSpPr>
      <p:sp>
        <p:nvSpPr>
          <p:cNvPr id="2" name="Text 0"/>
          <p:cNvSpPr/>
          <p:nvPr/>
        </p:nvSpPr>
        <p:spPr>
          <a:xfrm>
            <a:off x="1066800" y="3161705"/>
            <a:ext cx="17769840" cy="276225"/>
          </a:xfrm>
          <a:prstGeom prst="rect">
            <a:avLst/>
          </a:prstGeom>
          <a:noFill/>
          <a:ln/>
        </p:spPr>
        <p:txBody>
          <a:bodyPr wrap="square" lIns="25400" tIns="25400" rIns="25400" bIns="25400" rtlCol="0" anchor="t">
            <a:normAutofit/>
          </a:bodyPr>
          <a:lstStyle/>
          <a:p>
            <a:pPr algn="l" indent="0" marL="0">
              <a:buNone/>
            </a:pPr>
            <a:r>
              <a:rPr lang="en-US" sz="1425" spc="399" kern="0" dirty="0">
                <a:solidFill>
                  <a:srgbClr val="C05F38"/>
                </a:solidFill>
                <a:latin typeface="Courier New" pitchFamily="34" charset="0"/>
                <a:ea typeface="Courier New" pitchFamily="34" charset="-122"/>
                <a:cs typeface="Courier New" pitchFamily="34" charset="-120"/>
              </a:rPr>
              <a:t>HOW WE SHIP FASTER WITH AGENTIC CODING</a:t>
            </a:r>
            <a:endParaRPr lang="en-US" sz="1425" dirty="0"/>
          </a:p>
        </p:txBody>
      </p:sp>
      <p:sp>
        <p:nvSpPr>
          <p:cNvPr id="3" name="Text 1"/>
          <p:cNvSpPr/>
          <p:nvPr/>
        </p:nvSpPr>
        <p:spPr>
          <a:xfrm>
            <a:off x="1066800" y="3761780"/>
            <a:ext cx="14357940" cy="1083469"/>
          </a:xfrm>
          <a:prstGeom prst="rect">
            <a:avLst/>
          </a:prstGeom>
          <a:noFill/>
          <a:ln/>
        </p:spPr>
        <p:txBody>
          <a:bodyPr wrap="square" lIns="25400" tIns="25400" rIns="25400" bIns="25400" rtlCol="0" anchor="t">
            <a:normAutofit/>
          </a:bodyPr>
          <a:lstStyle/>
          <a:p>
            <a:pPr algn="l" indent="0" marL="0">
              <a:lnSpc>
                <a:spcPct val="98000"/>
              </a:lnSpc>
              <a:buNone/>
            </a:pPr>
            <a:r>
              <a:rPr lang="en-US" sz="8400" b="1" spc="-168" kern="0" dirty="0">
                <a:solidFill>
                  <a:srgbClr val="F2ECE0"/>
                </a:solidFill>
                <a:latin typeface="Arial" pitchFamily="34" charset="0"/>
                <a:ea typeface="Arial" pitchFamily="34" charset="-122"/>
                <a:cs typeface="Arial" pitchFamily="34" charset="-120"/>
              </a:rPr>
              <a:t>Building with kiro‑cli</a:t>
            </a:r>
            <a:endParaRPr lang="en-US" sz="8400" dirty="0"/>
          </a:p>
        </p:txBody>
      </p:sp>
      <p:sp>
        <p:nvSpPr>
          <p:cNvPr id="4" name="Text 2"/>
          <p:cNvSpPr/>
          <p:nvPr/>
        </p:nvSpPr>
        <p:spPr>
          <a:xfrm>
            <a:off x="1066800" y="5226248"/>
            <a:ext cx="11066219" cy="1013222"/>
          </a:xfrm>
          <a:prstGeom prst="rect">
            <a:avLst/>
          </a:prstGeom>
          <a:noFill/>
          <a:ln/>
        </p:spPr>
        <p:txBody>
          <a:bodyPr wrap="square" lIns="25400" tIns="25400" rIns="25400" bIns="25400" rtlCol="0" anchor="t">
            <a:normAutofit/>
          </a:bodyPr>
          <a:lstStyle/>
          <a:p>
            <a:pPr algn="l" indent="0" marL="0">
              <a:lnSpc>
                <a:spcPct val="128000"/>
              </a:lnSpc>
              <a:buNone/>
            </a:pPr>
            <a:r>
              <a:rPr lang="en-US" sz="3000" dirty="0">
                <a:solidFill>
                  <a:srgbClr val="9C9584"/>
                </a:solidFill>
                <a:latin typeface="Arial" pitchFamily="34" charset="0"/>
                <a:ea typeface="Arial" pitchFamily="34" charset="-122"/>
                <a:cs typeface="Arial" pitchFamily="34" charset="-120"/>
              </a:rPr>
              <a:t>The problems we hit running a multi-repo AWS platform — and how agentic coding solved each one.</a:t>
            </a:r>
            <a:endParaRPr lang="en-US" sz="3000" dirty="0"/>
          </a:p>
        </p:txBody>
      </p:sp>
      <p:sp>
        <p:nvSpPr>
          <p:cNvPr id="5" name="Text 3"/>
          <p:cNvSpPr/>
          <p:nvPr/>
        </p:nvSpPr>
        <p:spPr>
          <a:xfrm>
            <a:off x="1066800" y="6810970"/>
            <a:ext cx="259110" cy="447675"/>
          </a:xfrm>
          <a:prstGeom prst="rect">
            <a:avLst/>
          </a:prstGeom>
          <a:noFill/>
          <a:ln/>
        </p:spPr>
        <p:txBody>
          <a:bodyPr wrap="square" lIns="25400" tIns="25400" rIns="25400" bIns="25400" rtlCol="0" anchor="t">
            <a:normAutofit/>
          </a:bodyPr>
          <a:lstStyle/>
          <a:p>
            <a:pPr algn="l" indent="0" marL="0">
              <a:buNone/>
            </a:pPr>
            <a:r>
              <a:rPr lang="en-US" sz="2400" dirty="0">
                <a:solidFill>
                  <a:srgbClr val="7E9A66"/>
                </a:solidFill>
                <a:latin typeface="Courier New" pitchFamily="34" charset="0"/>
                <a:ea typeface="Courier New" pitchFamily="34" charset="-122"/>
                <a:cs typeface="Courier New" pitchFamily="34" charset="-120"/>
              </a:rPr>
              <a:t>$</a:t>
            </a:r>
            <a:endParaRPr lang="en-US" sz="2400" dirty="0"/>
          </a:p>
        </p:txBody>
      </p:sp>
      <p:sp>
        <p:nvSpPr>
          <p:cNvPr id="6" name="Text 4"/>
          <p:cNvSpPr/>
          <p:nvPr/>
        </p:nvSpPr>
        <p:spPr>
          <a:xfrm>
            <a:off x="1451521" y="6810970"/>
            <a:ext cx="807839" cy="447675"/>
          </a:xfrm>
          <a:prstGeom prst="rect">
            <a:avLst/>
          </a:prstGeom>
          <a:noFill/>
          <a:ln/>
        </p:spPr>
        <p:txBody>
          <a:bodyPr wrap="square" lIns="0" tIns="0" rIns="0" bIns="0" rtlCol="0" anchor="t">
            <a:normAutofit/>
          </a:bodyPr>
          <a:lstStyle/>
          <a:p>
            <a:pPr algn="l" indent="0" marL="0">
              <a:buNone/>
            </a:pPr>
            <a:r>
              <a:rPr lang="en-US" sz="2400" dirty="0">
                <a:solidFill>
                  <a:srgbClr val="F2ECE0"/>
                </a:solidFill>
                <a:latin typeface="Courier New" pitchFamily="34" charset="0"/>
                <a:ea typeface="Courier New" pitchFamily="34" charset="-122"/>
                <a:cs typeface="Courier New" pitchFamily="34" charset="-120"/>
              </a:rPr>
              <a:t>kiro</a:t>
            </a:r>
            <a:endParaRPr lang="en-US" sz="2400" dirty="0"/>
          </a:p>
        </p:txBody>
      </p:sp>
      <p:sp>
        <p:nvSpPr>
          <p:cNvPr id="7" name="Shape 5"/>
          <p:cNvSpPr/>
          <p:nvPr/>
        </p:nvSpPr>
        <p:spPr>
          <a:xfrm>
            <a:off x="2297460" y="6853833"/>
            <a:ext cx="152400" cy="323850"/>
          </a:xfrm>
          <a:prstGeom prst="rect">
            <a:avLst/>
          </a:prstGeom>
          <a:solidFill>
            <a:srgbClr val="C05F38"/>
          </a:solidFill>
          <a:ln/>
        </p:spPr>
      </p:sp>
      <p:sp>
        <p:nvSpPr>
          <p:cNvPr id="8" name="Text 6"/>
          <p:cNvSpPr/>
          <p:nvPr/>
        </p:nvSpPr>
        <p:spPr>
          <a:xfrm>
            <a:off x="1066800" y="9515475"/>
            <a:ext cx="5597932" cy="276225"/>
          </a:xfrm>
          <a:prstGeom prst="rect">
            <a:avLst/>
          </a:prstGeom>
          <a:noFill/>
          <a:ln/>
        </p:spPr>
        <p:txBody>
          <a:bodyPr wrap="square" lIns="25400" tIns="25400" rIns="25400" bIns="25400" rtlCol="0" anchor="t">
            <a:normAutofit/>
          </a:bodyPr>
          <a:lstStyle/>
          <a:p>
            <a:pPr algn="l" indent="0" marL="0">
              <a:buNone/>
            </a:pPr>
            <a:r>
              <a:rPr lang="en-US" sz="1425" spc="200" kern="0" dirty="0">
                <a:solidFill>
                  <a:srgbClr val="9C9584"/>
                </a:solidFill>
                <a:latin typeface="Courier New" pitchFamily="34" charset="0"/>
                <a:ea typeface="Courier New" pitchFamily="34" charset="-122"/>
                <a:cs typeface="Courier New" pitchFamily="34" charset="-120"/>
              </a:rPr>
              <a:t>POWERPIPE-DASHBOARD · TEAM WALKTHROUGH</a:t>
            </a:r>
            <a:endParaRPr lang="en-US" sz="1425" dirty="0"/>
          </a:p>
        </p:txBody>
      </p:sp>
      <p:sp>
        <p:nvSpPr>
          <p:cNvPr id="9" name="Text 7"/>
          <p:cNvSpPr/>
          <p:nvPr/>
        </p:nvSpPr>
        <p:spPr>
          <a:xfrm>
            <a:off x="16953309" y="9515475"/>
            <a:ext cx="344091" cy="276225"/>
          </a:xfrm>
          <a:prstGeom prst="rect">
            <a:avLst/>
          </a:prstGeom>
          <a:noFill/>
          <a:ln/>
        </p:spPr>
        <p:txBody>
          <a:bodyPr wrap="square" lIns="25400" tIns="25400" rIns="25400" bIns="25400" rtlCol="0" anchor="t">
            <a:normAutofit/>
          </a:bodyPr>
          <a:lstStyle/>
          <a:p>
            <a:pPr algn="l" indent="0" marL="0">
              <a:buNone/>
            </a:pPr>
            <a:r>
              <a:rPr lang="en-US" sz="1425" spc="200" kern="0" dirty="0">
                <a:solidFill>
                  <a:srgbClr val="9C9584"/>
                </a:solidFill>
                <a:latin typeface="Courier New" pitchFamily="34" charset="0"/>
                <a:ea typeface="Courier New" pitchFamily="34" charset="-122"/>
                <a:cs typeface="Courier New" pitchFamily="34" charset="-120"/>
              </a:rPr>
              <a:t>01</a:t>
            </a:r>
            <a:endParaRPr lang="en-US" sz="142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ECE0"/>
        </a:solidFill>
      </p:bgPr>
    </p:bg>
    <p:spTree>
      <p:nvGrpSpPr>
        <p:cNvPr id="1" name=""/>
        <p:cNvGrpSpPr/>
        <p:nvPr/>
      </p:nvGrpSpPr>
      <p:grpSpPr>
        <a:xfrm>
          <a:off x="0" y="0"/>
          <a:ext cx="0" cy="0"/>
          <a:chOff x="0" y="0"/>
          <a:chExt cx="0" cy="0"/>
        </a:xfrm>
      </p:grpSpPr>
      <p:sp>
        <p:nvSpPr>
          <p:cNvPr id="2" name="Text 0"/>
          <p:cNvSpPr/>
          <p:nvPr/>
        </p:nvSpPr>
        <p:spPr>
          <a:xfrm>
            <a:off x="1066800" y="3616821"/>
            <a:ext cx="17769840" cy="276225"/>
          </a:xfrm>
          <a:prstGeom prst="rect">
            <a:avLst/>
          </a:prstGeom>
          <a:noFill/>
          <a:ln/>
        </p:spPr>
        <p:txBody>
          <a:bodyPr wrap="square" lIns="25400" tIns="25400" rIns="25400" bIns="25400" rtlCol="0" anchor="t">
            <a:normAutofit/>
          </a:bodyPr>
          <a:lstStyle/>
          <a:p>
            <a:pPr algn="l" indent="0" marL="0">
              <a:buNone/>
            </a:pPr>
            <a:r>
              <a:rPr lang="en-US" sz="1425" spc="342" kern="0" dirty="0">
                <a:solidFill>
                  <a:srgbClr val="C05F38"/>
                </a:solidFill>
                <a:latin typeface="Courier New" pitchFamily="34" charset="0"/>
                <a:ea typeface="Courier New" pitchFamily="34" charset="-122"/>
                <a:cs typeface="Courier New" pitchFamily="34" charset="-120"/>
              </a:rPr>
              <a:t>WHAT WE RUN</a:t>
            </a:r>
            <a:endParaRPr lang="en-US" sz="1425" dirty="0"/>
          </a:p>
        </p:txBody>
      </p:sp>
      <p:sp>
        <p:nvSpPr>
          <p:cNvPr id="3" name="Text 1"/>
          <p:cNvSpPr/>
          <p:nvPr/>
        </p:nvSpPr>
        <p:spPr>
          <a:xfrm>
            <a:off x="1066800" y="4102596"/>
            <a:ext cx="8204537" cy="671959"/>
          </a:xfrm>
          <a:prstGeom prst="rect">
            <a:avLst/>
          </a:prstGeom>
          <a:noFill/>
          <a:ln/>
        </p:spPr>
        <p:txBody>
          <a:bodyPr wrap="square" lIns="25400" tIns="25400" rIns="25400" bIns="25400" rtlCol="0" anchor="t">
            <a:normAutofit/>
          </a:bodyPr>
          <a:lstStyle/>
          <a:p>
            <a:pPr algn="l" indent="0" marL="0">
              <a:lnSpc>
                <a:spcPct val="104000"/>
              </a:lnSpc>
              <a:buNone/>
            </a:pPr>
            <a:r>
              <a:rPr lang="en-US" sz="4800" b="1" spc="-72" kern="0" dirty="0">
                <a:solidFill>
                  <a:srgbClr val="1B1813"/>
                </a:solidFill>
                <a:latin typeface="Arial" pitchFamily="34" charset="0"/>
                <a:ea typeface="Arial" pitchFamily="34" charset="-122"/>
                <a:cs typeface="Arial" pitchFamily="34" charset="-120"/>
              </a:rPr>
              <a:t>powerpipe-dashboard</a:t>
            </a:r>
            <a:endParaRPr lang="en-US" sz="4800" dirty="0"/>
          </a:p>
        </p:txBody>
      </p:sp>
      <p:sp>
        <p:nvSpPr>
          <p:cNvPr id="4" name="Shape 2"/>
          <p:cNvSpPr/>
          <p:nvPr/>
        </p:nvSpPr>
        <p:spPr>
          <a:xfrm>
            <a:off x="1066800" y="5269855"/>
            <a:ext cx="2948880" cy="19050"/>
          </a:xfrm>
          <a:prstGeom prst="rect">
            <a:avLst/>
          </a:prstGeom>
          <a:solidFill>
            <a:srgbClr val="C05F38"/>
          </a:solidFill>
          <a:ln/>
        </p:spPr>
      </p:sp>
      <p:sp>
        <p:nvSpPr>
          <p:cNvPr id="5" name="Text 3"/>
          <p:cNvSpPr/>
          <p:nvPr/>
        </p:nvSpPr>
        <p:spPr>
          <a:xfrm>
            <a:off x="1066800" y="5517505"/>
            <a:ext cx="3243769" cy="533400"/>
          </a:xfrm>
          <a:prstGeom prst="rect">
            <a:avLst/>
          </a:prstGeom>
          <a:noFill/>
          <a:ln/>
        </p:spPr>
        <p:txBody>
          <a:bodyPr wrap="square" lIns="25400" tIns="25400" rIns="25400" bIns="25400" rtlCol="0" anchor="t">
            <a:normAutofit/>
          </a:bodyPr>
          <a:lstStyle/>
          <a:p>
            <a:pPr algn="l" indent="0" marL="0">
              <a:lnSpc>
                <a:spcPct val="100000"/>
              </a:lnSpc>
              <a:buNone/>
            </a:pPr>
            <a:r>
              <a:rPr lang="en-US" sz="3900" dirty="0">
                <a:solidFill>
                  <a:srgbClr val="1B1813"/>
                </a:solidFill>
                <a:latin typeface="Courier New" pitchFamily="34" charset="0"/>
                <a:ea typeface="Courier New" pitchFamily="34" charset="-122"/>
                <a:cs typeface="Courier New" pitchFamily="34" charset="-120"/>
              </a:rPr>
              <a:t>4</a:t>
            </a:r>
            <a:endParaRPr lang="en-US" sz="3900" dirty="0"/>
          </a:p>
        </p:txBody>
      </p:sp>
      <p:sp>
        <p:nvSpPr>
          <p:cNvPr id="6" name="Text 4"/>
          <p:cNvSpPr/>
          <p:nvPr/>
        </p:nvSpPr>
        <p:spPr>
          <a:xfrm>
            <a:off x="1066800" y="6146155"/>
            <a:ext cx="3037347" cy="657225"/>
          </a:xfrm>
          <a:prstGeom prst="rect">
            <a:avLst/>
          </a:prstGeom>
          <a:noFill/>
          <a:ln/>
        </p:spPr>
        <p:txBody>
          <a:bodyPr wrap="square" lIns="25400" tIns="25400" rIns="25400" bIns="25400" rtlCol="0" anchor="t">
            <a:normAutofit/>
          </a:bodyPr>
          <a:lstStyle/>
          <a:p>
            <a:pPr algn="l" indent="0" marL="0">
              <a:lnSpc>
                <a:spcPct val="130000"/>
              </a:lnSpc>
              <a:buNone/>
            </a:pPr>
            <a:r>
              <a:rPr lang="en-US" sz="1875" dirty="0">
                <a:solidFill>
                  <a:srgbClr val="1B1813"/>
                </a:solidFill>
                <a:latin typeface="Arial" pitchFamily="34" charset="0"/>
                <a:ea typeface="Arial" pitchFamily="34" charset="-122"/>
                <a:cs typeface="Arial" pitchFamily="34" charset="-120"/>
              </a:rPr>
              <a:t>repositories, one platform</a:t>
            </a:r>
            <a:endParaRPr lang="en-US" sz="1875" dirty="0"/>
          </a:p>
        </p:txBody>
      </p:sp>
      <p:sp>
        <p:nvSpPr>
          <p:cNvPr id="7" name="Shape 5"/>
          <p:cNvSpPr/>
          <p:nvPr/>
        </p:nvSpPr>
        <p:spPr>
          <a:xfrm>
            <a:off x="4282380" y="5269855"/>
            <a:ext cx="2948880" cy="19050"/>
          </a:xfrm>
          <a:prstGeom prst="rect">
            <a:avLst/>
          </a:prstGeom>
          <a:solidFill>
            <a:srgbClr val="1B1813">
              <a:alpha val="13000"/>
            </a:srgbClr>
          </a:solidFill>
          <a:ln/>
        </p:spPr>
      </p:sp>
      <p:sp>
        <p:nvSpPr>
          <p:cNvPr id="8" name="Text 6"/>
          <p:cNvSpPr/>
          <p:nvPr/>
        </p:nvSpPr>
        <p:spPr>
          <a:xfrm>
            <a:off x="4282380" y="5517505"/>
            <a:ext cx="3243769" cy="533400"/>
          </a:xfrm>
          <a:prstGeom prst="rect">
            <a:avLst/>
          </a:prstGeom>
          <a:noFill/>
          <a:ln/>
        </p:spPr>
        <p:txBody>
          <a:bodyPr wrap="square" lIns="25400" tIns="25400" rIns="25400" bIns="25400" rtlCol="0" anchor="t">
            <a:normAutofit/>
          </a:bodyPr>
          <a:lstStyle/>
          <a:p>
            <a:pPr algn="l" indent="0" marL="0">
              <a:lnSpc>
                <a:spcPct val="100000"/>
              </a:lnSpc>
              <a:buNone/>
            </a:pPr>
            <a:r>
              <a:rPr lang="en-US" sz="3900" dirty="0">
                <a:solidFill>
                  <a:srgbClr val="1B1813"/>
                </a:solidFill>
                <a:latin typeface="Courier New" pitchFamily="34" charset="0"/>
                <a:ea typeface="Courier New" pitchFamily="34" charset="-122"/>
                <a:cs typeface="Courier New" pitchFamily="34" charset="-120"/>
              </a:rPr>
              <a:t>9</a:t>
            </a:r>
            <a:endParaRPr lang="en-US" sz="3900" dirty="0"/>
          </a:p>
        </p:txBody>
      </p:sp>
      <p:sp>
        <p:nvSpPr>
          <p:cNvPr id="9" name="Text 7"/>
          <p:cNvSpPr/>
          <p:nvPr/>
        </p:nvSpPr>
        <p:spPr>
          <a:xfrm>
            <a:off x="4282380" y="6146155"/>
            <a:ext cx="3243769" cy="347663"/>
          </a:xfrm>
          <a:prstGeom prst="rect">
            <a:avLst/>
          </a:prstGeom>
          <a:noFill/>
          <a:ln/>
        </p:spPr>
        <p:txBody>
          <a:bodyPr wrap="square" lIns="25400" tIns="25400" rIns="25400" bIns="25400" rtlCol="0" anchor="t">
            <a:normAutofit/>
          </a:bodyPr>
          <a:lstStyle/>
          <a:p>
            <a:pPr algn="l" indent="0" marL="0">
              <a:lnSpc>
                <a:spcPct val="130000"/>
              </a:lnSpc>
              <a:buNone/>
            </a:pPr>
            <a:r>
              <a:rPr lang="en-US" sz="1875" dirty="0">
                <a:solidFill>
                  <a:srgbClr val="1B1813"/>
                </a:solidFill>
                <a:latin typeface="Arial" pitchFamily="34" charset="0"/>
                <a:ea typeface="Arial" pitchFamily="34" charset="-122"/>
                <a:cs typeface="Arial" pitchFamily="34" charset="-120"/>
              </a:rPr>
              <a:t>AWS accounts scanned</a:t>
            </a:r>
            <a:endParaRPr lang="en-US" sz="1875" dirty="0"/>
          </a:p>
        </p:txBody>
      </p:sp>
      <p:sp>
        <p:nvSpPr>
          <p:cNvPr id="10" name="Shape 8"/>
          <p:cNvSpPr/>
          <p:nvPr/>
        </p:nvSpPr>
        <p:spPr>
          <a:xfrm>
            <a:off x="7497961" y="5269855"/>
            <a:ext cx="2949029" cy="19050"/>
          </a:xfrm>
          <a:prstGeom prst="rect">
            <a:avLst/>
          </a:prstGeom>
          <a:solidFill>
            <a:srgbClr val="1B1813">
              <a:alpha val="13000"/>
            </a:srgbClr>
          </a:solidFill>
          <a:ln/>
        </p:spPr>
      </p:sp>
      <p:sp>
        <p:nvSpPr>
          <p:cNvPr id="11" name="Text 9"/>
          <p:cNvSpPr/>
          <p:nvPr/>
        </p:nvSpPr>
        <p:spPr>
          <a:xfrm>
            <a:off x="7497961" y="5517505"/>
            <a:ext cx="3243932" cy="533400"/>
          </a:xfrm>
          <a:prstGeom prst="rect">
            <a:avLst/>
          </a:prstGeom>
          <a:noFill/>
          <a:ln/>
        </p:spPr>
        <p:txBody>
          <a:bodyPr wrap="square" lIns="25400" tIns="25400" rIns="25400" bIns="25400" rtlCol="0" anchor="t">
            <a:normAutofit/>
          </a:bodyPr>
          <a:lstStyle/>
          <a:p>
            <a:pPr algn="l" indent="0" marL="0">
              <a:lnSpc>
                <a:spcPct val="100000"/>
              </a:lnSpc>
              <a:buNone/>
            </a:pPr>
            <a:r>
              <a:rPr lang="en-US" sz="3900" dirty="0">
                <a:solidFill>
                  <a:srgbClr val="1B1813"/>
                </a:solidFill>
                <a:latin typeface="Courier New" pitchFamily="34" charset="0"/>
                <a:ea typeface="Courier New" pitchFamily="34" charset="-122"/>
                <a:cs typeface="Courier New" pitchFamily="34" charset="-120"/>
              </a:rPr>
              <a:t>$</a:t>
            </a:r>
            <a:endParaRPr lang="en-US" sz="3900" dirty="0"/>
          </a:p>
        </p:txBody>
      </p:sp>
      <p:sp>
        <p:nvSpPr>
          <p:cNvPr id="12" name="Text 10"/>
          <p:cNvSpPr/>
          <p:nvPr/>
        </p:nvSpPr>
        <p:spPr>
          <a:xfrm>
            <a:off x="7497961" y="6146155"/>
            <a:ext cx="3243932" cy="347663"/>
          </a:xfrm>
          <a:prstGeom prst="rect">
            <a:avLst/>
          </a:prstGeom>
          <a:noFill/>
          <a:ln/>
        </p:spPr>
        <p:txBody>
          <a:bodyPr wrap="square" lIns="25400" tIns="25400" rIns="25400" bIns="25400" rtlCol="0" anchor="t">
            <a:normAutofit/>
          </a:bodyPr>
          <a:lstStyle/>
          <a:p>
            <a:pPr algn="l" indent="0" marL="0">
              <a:lnSpc>
                <a:spcPct val="130000"/>
              </a:lnSpc>
              <a:buNone/>
            </a:pPr>
            <a:r>
              <a:rPr lang="en-US" sz="1875" dirty="0">
                <a:solidFill>
                  <a:srgbClr val="1B1813"/>
                </a:solidFill>
                <a:latin typeface="Arial" pitchFamily="34" charset="0"/>
                <a:ea typeface="Arial" pitchFamily="34" charset="-122"/>
                <a:cs typeface="Arial" pitchFamily="34" charset="-120"/>
              </a:rPr>
              <a:t>FinOps cost reports</a:t>
            </a:r>
            <a:endParaRPr lang="en-US" sz="1875" dirty="0"/>
          </a:p>
        </p:txBody>
      </p:sp>
      <p:sp>
        <p:nvSpPr>
          <p:cNvPr id="13" name="Shape 11"/>
          <p:cNvSpPr/>
          <p:nvPr/>
        </p:nvSpPr>
        <p:spPr>
          <a:xfrm>
            <a:off x="10713690" y="5269855"/>
            <a:ext cx="2948880" cy="19050"/>
          </a:xfrm>
          <a:prstGeom prst="rect">
            <a:avLst/>
          </a:prstGeom>
          <a:solidFill>
            <a:srgbClr val="1B1813">
              <a:alpha val="13000"/>
            </a:srgbClr>
          </a:solidFill>
          <a:ln/>
        </p:spPr>
      </p:sp>
      <p:sp>
        <p:nvSpPr>
          <p:cNvPr id="14" name="Text 12"/>
          <p:cNvSpPr/>
          <p:nvPr/>
        </p:nvSpPr>
        <p:spPr>
          <a:xfrm>
            <a:off x="10713690" y="5517505"/>
            <a:ext cx="3243769" cy="533400"/>
          </a:xfrm>
          <a:prstGeom prst="rect">
            <a:avLst/>
          </a:prstGeom>
          <a:noFill/>
          <a:ln/>
        </p:spPr>
        <p:txBody>
          <a:bodyPr wrap="square" lIns="25400" tIns="25400" rIns="25400" bIns="25400" rtlCol="0" anchor="t">
            <a:normAutofit/>
          </a:bodyPr>
          <a:lstStyle/>
          <a:p>
            <a:pPr algn="l" indent="0" marL="0">
              <a:lnSpc>
                <a:spcPct val="100000"/>
              </a:lnSpc>
              <a:buNone/>
            </a:pPr>
            <a:r>
              <a:rPr lang="en-US" sz="3900" dirty="0">
                <a:solidFill>
                  <a:srgbClr val="1B1813"/>
                </a:solidFill>
                <a:latin typeface="Courier New" pitchFamily="34" charset="0"/>
                <a:ea typeface="Courier New" pitchFamily="34" charset="-122"/>
                <a:cs typeface="Courier New" pitchFamily="34" charset="-120"/>
              </a:rPr>
              <a:t>≠</a:t>
            </a:r>
            <a:endParaRPr lang="en-US" sz="3900" dirty="0"/>
          </a:p>
        </p:txBody>
      </p:sp>
      <p:sp>
        <p:nvSpPr>
          <p:cNvPr id="15" name="Text 13"/>
          <p:cNvSpPr/>
          <p:nvPr/>
        </p:nvSpPr>
        <p:spPr>
          <a:xfrm>
            <a:off x="10713690" y="6146155"/>
            <a:ext cx="3037347" cy="657225"/>
          </a:xfrm>
          <a:prstGeom prst="rect">
            <a:avLst/>
          </a:prstGeom>
          <a:noFill/>
          <a:ln/>
        </p:spPr>
        <p:txBody>
          <a:bodyPr wrap="square" lIns="25400" tIns="25400" rIns="25400" bIns="25400" rtlCol="0" anchor="t">
            <a:normAutofit/>
          </a:bodyPr>
          <a:lstStyle/>
          <a:p>
            <a:pPr algn="l" indent="0" marL="0">
              <a:lnSpc>
                <a:spcPct val="130000"/>
              </a:lnSpc>
              <a:buNone/>
            </a:pPr>
            <a:r>
              <a:rPr lang="en-US" sz="1875" dirty="0">
                <a:solidFill>
                  <a:srgbClr val="1B1813"/>
                </a:solidFill>
                <a:latin typeface="Arial" pitchFamily="34" charset="0"/>
                <a:ea typeface="Arial" pitchFamily="34" charset="-122"/>
                <a:cs typeface="Arial" pitchFamily="34" charset="-120"/>
              </a:rPr>
              <a:t>infrastructure drift detection</a:t>
            </a:r>
            <a:endParaRPr lang="en-US" sz="1875" dirty="0"/>
          </a:p>
        </p:txBody>
      </p:sp>
      <p:sp>
        <p:nvSpPr>
          <p:cNvPr id="16" name="Shape 14"/>
          <p:cNvSpPr/>
          <p:nvPr/>
        </p:nvSpPr>
        <p:spPr>
          <a:xfrm>
            <a:off x="13929271" y="5269855"/>
            <a:ext cx="2949029" cy="19050"/>
          </a:xfrm>
          <a:prstGeom prst="rect">
            <a:avLst/>
          </a:prstGeom>
          <a:solidFill>
            <a:srgbClr val="1B1813">
              <a:alpha val="13000"/>
            </a:srgbClr>
          </a:solidFill>
          <a:ln/>
        </p:spPr>
      </p:sp>
      <p:sp>
        <p:nvSpPr>
          <p:cNvPr id="17" name="Text 15"/>
          <p:cNvSpPr/>
          <p:nvPr/>
        </p:nvSpPr>
        <p:spPr>
          <a:xfrm>
            <a:off x="13929271" y="5517505"/>
            <a:ext cx="3243932" cy="533400"/>
          </a:xfrm>
          <a:prstGeom prst="rect">
            <a:avLst/>
          </a:prstGeom>
          <a:noFill/>
          <a:ln/>
        </p:spPr>
        <p:txBody>
          <a:bodyPr wrap="square" lIns="25400" tIns="25400" rIns="25400" bIns="25400" rtlCol="0" anchor="t">
            <a:normAutofit/>
          </a:bodyPr>
          <a:lstStyle/>
          <a:p>
            <a:pPr algn="l" indent="0" marL="0">
              <a:lnSpc>
                <a:spcPct val="100000"/>
              </a:lnSpc>
              <a:buNone/>
            </a:pPr>
            <a:r>
              <a:rPr lang="en-US" sz="3900" dirty="0">
                <a:solidFill>
                  <a:srgbClr val="1B1813"/>
                </a:solidFill>
                <a:latin typeface="Courier New" pitchFamily="34" charset="0"/>
                <a:ea typeface="Courier New" pitchFamily="34" charset="-122"/>
                <a:cs typeface="Courier New" pitchFamily="34" charset="-120"/>
              </a:rPr>
              <a:t>⎈</a:t>
            </a:r>
            <a:endParaRPr lang="en-US" sz="3900" dirty="0"/>
          </a:p>
        </p:txBody>
      </p:sp>
      <p:sp>
        <p:nvSpPr>
          <p:cNvPr id="18" name="Text 16"/>
          <p:cNvSpPr/>
          <p:nvPr/>
        </p:nvSpPr>
        <p:spPr>
          <a:xfrm>
            <a:off x="13929271" y="6146155"/>
            <a:ext cx="3037500" cy="657225"/>
          </a:xfrm>
          <a:prstGeom prst="rect">
            <a:avLst/>
          </a:prstGeom>
          <a:noFill/>
          <a:ln/>
        </p:spPr>
        <p:txBody>
          <a:bodyPr wrap="square" lIns="25400" tIns="25400" rIns="25400" bIns="25400" rtlCol="0" anchor="t">
            <a:normAutofit/>
          </a:bodyPr>
          <a:lstStyle/>
          <a:p>
            <a:pPr algn="l" indent="0" marL="0">
              <a:lnSpc>
                <a:spcPct val="130000"/>
              </a:lnSpc>
              <a:buNone/>
            </a:pPr>
            <a:r>
              <a:rPr lang="en-US" sz="1875" dirty="0">
                <a:solidFill>
                  <a:srgbClr val="1B1813"/>
                </a:solidFill>
                <a:latin typeface="Arial" pitchFamily="34" charset="0"/>
                <a:ea typeface="Arial" pitchFamily="34" charset="-122"/>
                <a:cs typeface="Arial" pitchFamily="34" charset="-120"/>
              </a:rPr>
              <a:t>interactive dashboards on EKS</a:t>
            </a:r>
            <a:endParaRPr lang="en-US" sz="1875" dirty="0"/>
          </a:p>
        </p:txBody>
      </p:sp>
      <p:sp>
        <p:nvSpPr>
          <p:cNvPr id="19" name="Text 17"/>
          <p:cNvSpPr/>
          <p:nvPr/>
        </p:nvSpPr>
        <p:spPr>
          <a:xfrm>
            <a:off x="16953309" y="9515475"/>
            <a:ext cx="344091" cy="276225"/>
          </a:xfrm>
          <a:prstGeom prst="rect">
            <a:avLst/>
          </a:prstGeom>
          <a:noFill/>
          <a:ln/>
        </p:spPr>
        <p:txBody>
          <a:bodyPr wrap="square" lIns="25400" tIns="25400" rIns="25400" bIns="25400" rtlCol="0" anchor="t">
            <a:normAutofit/>
          </a:bodyPr>
          <a:lstStyle/>
          <a:p>
            <a:pPr algn="l" indent="0" marL="0">
              <a:buNone/>
            </a:pPr>
            <a:r>
              <a:rPr lang="en-US" sz="1425" spc="200" kern="0" dirty="0">
                <a:solidFill>
                  <a:srgbClr val="6E6656"/>
                </a:solidFill>
                <a:latin typeface="Courier New" pitchFamily="34" charset="0"/>
                <a:ea typeface="Courier New" pitchFamily="34" charset="-122"/>
                <a:cs typeface="Courier New" pitchFamily="34" charset="-120"/>
              </a:rPr>
              <a:t>02</a:t>
            </a:r>
            <a:endParaRPr lang="en-US" sz="142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B1813"/>
        </a:solidFill>
      </p:bgPr>
    </p:bg>
    <p:spTree>
      <p:nvGrpSpPr>
        <p:cNvPr id="1" name=""/>
        <p:cNvGrpSpPr/>
        <p:nvPr/>
      </p:nvGrpSpPr>
      <p:grpSpPr>
        <a:xfrm>
          <a:off x="0" y="0"/>
          <a:ext cx="0" cy="0"/>
          <a:chOff x="0" y="0"/>
          <a:chExt cx="0" cy="0"/>
        </a:xfrm>
      </p:grpSpPr>
      <p:sp>
        <p:nvSpPr>
          <p:cNvPr id="2" name="Text 0"/>
          <p:cNvSpPr/>
          <p:nvPr/>
        </p:nvSpPr>
        <p:spPr>
          <a:xfrm>
            <a:off x="1066800" y="3163342"/>
            <a:ext cx="17769840" cy="276225"/>
          </a:xfrm>
          <a:prstGeom prst="rect">
            <a:avLst/>
          </a:prstGeom>
          <a:noFill/>
          <a:ln/>
        </p:spPr>
        <p:txBody>
          <a:bodyPr wrap="square" lIns="25400" tIns="25400" rIns="25400" bIns="25400" rtlCol="0" anchor="t">
            <a:normAutofit/>
          </a:bodyPr>
          <a:lstStyle/>
          <a:p>
            <a:pPr algn="l" indent="0" marL="0">
              <a:buNone/>
            </a:pPr>
            <a:r>
              <a:rPr lang="en-US" sz="1425" spc="342" kern="0" dirty="0">
                <a:solidFill>
                  <a:srgbClr val="C05F38"/>
                </a:solidFill>
                <a:latin typeface="Courier New" pitchFamily="34" charset="0"/>
                <a:ea typeface="Courier New" pitchFamily="34" charset="-122"/>
                <a:cs typeface="Courier New" pitchFamily="34" charset="-120"/>
              </a:rPr>
              <a:t>THE CHALLENGE</a:t>
            </a:r>
            <a:endParaRPr lang="en-US" sz="1425" dirty="0"/>
          </a:p>
        </p:txBody>
      </p:sp>
      <p:sp>
        <p:nvSpPr>
          <p:cNvPr id="3" name="Text 1"/>
          <p:cNvSpPr/>
          <p:nvPr/>
        </p:nvSpPr>
        <p:spPr>
          <a:xfrm>
            <a:off x="1066800" y="3744367"/>
            <a:ext cx="10476041" cy="1607641"/>
          </a:xfrm>
          <a:prstGeom prst="rect">
            <a:avLst/>
          </a:prstGeom>
          <a:noFill/>
          <a:ln/>
        </p:spPr>
        <p:txBody>
          <a:bodyPr wrap="square" lIns="25400" tIns="25400" rIns="25400" bIns="25400" rtlCol="0" anchor="t">
            <a:normAutofit/>
          </a:bodyPr>
          <a:lstStyle/>
          <a:p>
            <a:pPr algn="l" indent="0" marL="0">
              <a:lnSpc>
                <a:spcPct val="103000"/>
              </a:lnSpc>
              <a:buNone/>
            </a:pPr>
            <a:r>
              <a:rPr lang="en-US" sz="6000" b="1" spc="-120" kern="0" dirty="0">
                <a:solidFill>
                  <a:srgbClr val="F2ECE0"/>
                </a:solidFill>
                <a:latin typeface="Arial" pitchFamily="34" charset="0"/>
                <a:ea typeface="Arial" pitchFamily="34" charset="-122"/>
                <a:cs typeface="Arial" pitchFamily="34" charset="-120"/>
              </a:rPr>
              <a:t>More context than anyone can hold in their head.</a:t>
            </a:r>
            <a:endParaRPr lang="en-US" sz="6000" dirty="0"/>
          </a:p>
        </p:txBody>
      </p:sp>
      <p:sp>
        <p:nvSpPr>
          <p:cNvPr id="4" name="Text 2"/>
          <p:cNvSpPr/>
          <p:nvPr/>
        </p:nvSpPr>
        <p:spPr>
          <a:xfrm>
            <a:off x="1066800" y="5733008"/>
            <a:ext cx="13078343" cy="1524000"/>
          </a:xfrm>
          <a:prstGeom prst="rect">
            <a:avLst/>
          </a:prstGeom>
          <a:noFill/>
          <a:ln/>
        </p:spPr>
        <p:txBody>
          <a:bodyPr wrap="square" lIns="25400" tIns="25400" rIns="25400" bIns="25400" rtlCol="0" anchor="t">
            <a:normAutofit/>
          </a:bodyPr>
          <a:lstStyle/>
          <a:p>
            <a:pPr algn="l" indent="0" marL="0">
              <a:lnSpc>
                <a:spcPct val="130000"/>
              </a:lnSpc>
              <a:buNone/>
            </a:pPr>
            <a:r>
              <a:rPr lang="en-US" sz="3000" dirty="0">
                <a:solidFill>
                  <a:srgbClr val="9C9584"/>
                </a:solidFill>
                <a:latin typeface="Arial" pitchFamily="34" charset="0"/>
                <a:ea typeface="Arial" pitchFamily="34" charset="-122"/>
                <a:cs typeface="Arial" pitchFamily="34" charset="-120"/>
              </a:rPr>
              <a:t>Branch conventions, Vault auth, Kyverno policies, deploy patterns, verification steps — spread across four repos. Every context switch loses knowledge. Every new session starts from zero.</a:t>
            </a:r>
            <a:endParaRPr lang="en-US" sz="3000" dirty="0"/>
          </a:p>
        </p:txBody>
      </p:sp>
      <p:sp>
        <p:nvSpPr>
          <p:cNvPr id="5" name="Text 3"/>
          <p:cNvSpPr/>
          <p:nvPr/>
        </p:nvSpPr>
        <p:spPr>
          <a:xfrm>
            <a:off x="16953309" y="9515475"/>
            <a:ext cx="344091" cy="276225"/>
          </a:xfrm>
          <a:prstGeom prst="rect">
            <a:avLst/>
          </a:prstGeom>
          <a:noFill/>
          <a:ln/>
        </p:spPr>
        <p:txBody>
          <a:bodyPr wrap="square" lIns="25400" tIns="25400" rIns="25400" bIns="25400" rtlCol="0" anchor="t">
            <a:normAutofit/>
          </a:bodyPr>
          <a:lstStyle/>
          <a:p>
            <a:pPr algn="l" indent="0" marL="0">
              <a:buNone/>
            </a:pPr>
            <a:r>
              <a:rPr lang="en-US" sz="1425" spc="200" kern="0" dirty="0">
                <a:solidFill>
                  <a:srgbClr val="9C9584"/>
                </a:solidFill>
                <a:latin typeface="Courier New" pitchFamily="34" charset="0"/>
                <a:ea typeface="Courier New" pitchFamily="34" charset="-122"/>
                <a:cs typeface="Courier New" pitchFamily="34" charset="-120"/>
              </a:rPr>
              <a:t>03</a:t>
            </a:r>
            <a:endParaRPr lang="en-US" sz="142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B1813"/>
        </a:solidFill>
      </p:bgPr>
    </p:bg>
    <p:spTree>
      <p:nvGrpSpPr>
        <p:cNvPr id="1" name=""/>
        <p:cNvGrpSpPr/>
        <p:nvPr/>
      </p:nvGrpSpPr>
      <p:grpSpPr>
        <a:xfrm>
          <a:off x="0" y="0"/>
          <a:ext cx="0" cy="0"/>
          <a:chOff x="0" y="0"/>
          <a:chExt cx="0" cy="0"/>
        </a:xfrm>
      </p:grpSpPr>
      <p:sp>
        <p:nvSpPr>
          <p:cNvPr id="2" name="Text 0"/>
          <p:cNvSpPr/>
          <p:nvPr/>
        </p:nvSpPr>
        <p:spPr>
          <a:xfrm>
            <a:off x="1066800" y="3142804"/>
            <a:ext cx="17769840" cy="276225"/>
          </a:xfrm>
          <a:prstGeom prst="rect">
            <a:avLst/>
          </a:prstGeom>
          <a:noFill/>
          <a:ln/>
        </p:spPr>
        <p:txBody>
          <a:bodyPr wrap="square" lIns="25400" tIns="25400" rIns="25400" bIns="25400" rtlCol="0" anchor="t">
            <a:normAutofit/>
          </a:bodyPr>
          <a:lstStyle/>
          <a:p>
            <a:pPr algn="l" indent="0" marL="0">
              <a:buNone/>
            </a:pPr>
            <a:r>
              <a:rPr lang="en-US" sz="1425" spc="342" kern="0" dirty="0">
                <a:solidFill>
                  <a:srgbClr val="C05F38"/>
                </a:solidFill>
                <a:latin typeface="Courier New" pitchFamily="34" charset="0"/>
                <a:ea typeface="Courier New" pitchFamily="34" charset="-122"/>
                <a:cs typeface="Courier New" pitchFamily="34" charset="-120"/>
              </a:rPr>
              <a:t>THE SOLUTION</a:t>
            </a:r>
            <a:endParaRPr lang="en-US" sz="1425" dirty="0"/>
          </a:p>
        </p:txBody>
      </p:sp>
      <p:sp>
        <p:nvSpPr>
          <p:cNvPr id="3" name="Text 1"/>
          <p:cNvSpPr/>
          <p:nvPr/>
        </p:nvSpPr>
        <p:spPr>
          <a:xfrm>
            <a:off x="1066800" y="3723829"/>
            <a:ext cx="8380833" cy="1305818"/>
          </a:xfrm>
          <a:prstGeom prst="rect">
            <a:avLst/>
          </a:prstGeom>
          <a:noFill/>
          <a:ln/>
        </p:spPr>
        <p:txBody>
          <a:bodyPr wrap="square" lIns="25400" tIns="25400" rIns="25400" bIns="25400" rtlCol="0" anchor="t">
            <a:normAutofit/>
          </a:bodyPr>
          <a:lstStyle/>
          <a:p>
            <a:pPr algn="l" indent="0" marL="0">
              <a:lnSpc>
                <a:spcPct val="104000"/>
              </a:lnSpc>
              <a:buNone/>
            </a:pPr>
            <a:r>
              <a:rPr lang="en-US" sz="4800" b="1" spc="-72" kern="0" dirty="0">
                <a:solidFill>
                  <a:srgbClr val="F2ECE0"/>
                </a:solidFill>
                <a:latin typeface="Arial" pitchFamily="34" charset="0"/>
                <a:ea typeface="Arial" pitchFamily="34" charset="-122"/>
                <a:cs typeface="Arial" pitchFamily="34" charset="-120"/>
              </a:rPr>
              <a:t>A development partner with memory and guardrails</a:t>
            </a:r>
            <a:endParaRPr lang="en-US" sz="4800" dirty="0"/>
          </a:p>
        </p:txBody>
      </p:sp>
      <p:sp>
        <p:nvSpPr>
          <p:cNvPr id="4" name="Text 2"/>
          <p:cNvSpPr/>
          <p:nvPr/>
        </p:nvSpPr>
        <p:spPr>
          <a:xfrm>
            <a:off x="1066800" y="5258246"/>
            <a:ext cx="12575389" cy="1028700"/>
          </a:xfrm>
          <a:prstGeom prst="rect">
            <a:avLst/>
          </a:prstGeom>
          <a:noFill/>
          <a:ln/>
        </p:spPr>
        <p:txBody>
          <a:bodyPr wrap="square" lIns="25400" tIns="25400" rIns="25400" bIns="25400" rtlCol="0" anchor="t">
            <a:normAutofit/>
          </a:bodyPr>
          <a:lstStyle/>
          <a:p>
            <a:pPr algn="l" indent="0" marL="0">
              <a:lnSpc>
                <a:spcPct val="130000"/>
              </a:lnSpc>
              <a:buNone/>
            </a:pPr>
            <a:r>
              <a:rPr lang="en-US" sz="3000" dirty="0">
                <a:solidFill>
                  <a:srgbClr val="9C9584"/>
                </a:solidFill>
                <a:latin typeface="Arial" pitchFamily="34" charset="0"/>
                <a:ea typeface="Arial" pitchFamily="34" charset="-122"/>
                <a:cs typeface="Arial" pitchFamily="34" charset="-120"/>
              </a:rPr>
              <a:t>Eight building blocks we configured. We'll walk each as a problem and its fix.</a:t>
            </a:r>
            <a:endParaRPr lang="en-US" sz="3000" dirty="0"/>
          </a:p>
        </p:txBody>
      </p:sp>
      <p:sp>
        <p:nvSpPr>
          <p:cNvPr id="5" name="Shape 3"/>
          <p:cNvSpPr/>
          <p:nvPr/>
        </p:nvSpPr>
        <p:spPr>
          <a:xfrm>
            <a:off x="1066800" y="6744146"/>
            <a:ext cx="1695450" cy="495300"/>
          </a:xfrm>
          <a:prstGeom prst="roundRect">
            <a:avLst>
              <a:gd name="adj" fmla="val 50000"/>
            </a:avLst>
          </a:prstGeom>
          <a:ln w="9525">
            <a:solidFill>
              <a:srgbClr val="C05F38"/>
            </a:solidFill>
            <a:prstDash val="solid"/>
          </a:ln>
        </p:spPr>
      </p:sp>
      <p:sp>
        <p:nvSpPr>
          <p:cNvPr id="6" name="Text 4"/>
          <p:cNvSpPr/>
          <p:nvPr/>
        </p:nvSpPr>
        <p:spPr>
          <a:xfrm>
            <a:off x="1285875" y="6867971"/>
            <a:ext cx="1333500" cy="285750"/>
          </a:xfrm>
          <a:prstGeom prst="rect">
            <a:avLst/>
          </a:prstGeom>
          <a:noFill/>
          <a:ln/>
        </p:spPr>
        <p:txBody>
          <a:bodyPr wrap="square" lIns="25400" tIns="25400" rIns="25400" bIns="25400" rtlCol="0" anchor="t">
            <a:normAutofit/>
          </a:bodyPr>
          <a:lstStyle/>
          <a:p>
            <a:pPr algn="l" indent="0" marL="0">
              <a:buNone/>
            </a:pPr>
            <a:r>
              <a:rPr lang="en-US" sz="1500" dirty="0">
                <a:solidFill>
                  <a:srgbClr val="C05F38"/>
                </a:solidFill>
                <a:latin typeface="Courier New" pitchFamily="34" charset="0"/>
                <a:ea typeface="Courier New" pitchFamily="34" charset="-122"/>
                <a:cs typeface="Courier New" pitchFamily="34" charset="-120"/>
              </a:rPr>
              <a:t>01 steering</a:t>
            </a:r>
            <a:endParaRPr lang="en-US" sz="1500" dirty="0"/>
          </a:p>
        </p:txBody>
      </p:sp>
      <p:sp>
        <p:nvSpPr>
          <p:cNvPr id="7" name="Shape 5"/>
          <p:cNvSpPr/>
          <p:nvPr/>
        </p:nvSpPr>
        <p:spPr>
          <a:xfrm>
            <a:off x="2895600" y="6744146"/>
            <a:ext cx="1466850" cy="495300"/>
          </a:xfrm>
          <a:prstGeom prst="roundRect">
            <a:avLst>
              <a:gd name="adj" fmla="val 50000"/>
            </a:avLst>
          </a:prstGeom>
          <a:ln w="9525">
            <a:solidFill>
              <a:srgbClr val="F2ECE0">
                <a:alpha val="15000"/>
              </a:srgbClr>
            </a:solidFill>
            <a:prstDash val="solid"/>
          </a:ln>
        </p:spPr>
      </p:sp>
      <p:sp>
        <p:nvSpPr>
          <p:cNvPr id="8" name="Text 6"/>
          <p:cNvSpPr/>
          <p:nvPr/>
        </p:nvSpPr>
        <p:spPr>
          <a:xfrm>
            <a:off x="3114675" y="6867971"/>
            <a:ext cx="1104900" cy="285750"/>
          </a:xfrm>
          <a:prstGeom prst="rect">
            <a:avLst/>
          </a:prstGeom>
          <a:noFill/>
          <a:ln/>
        </p:spPr>
        <p:txBody>
          <a:bodyPr wrap="square" lIns="25400" tIns="25400" rIns="25400" bIns="25400" rtlCol="0" anchor="t">
            <a:normAutofit/>
          </a:bodyPr>
          <a:lstStyle/>
          <a:p>
            <a:pPr algn="l" indent="0" marL="0">
              <a:buNone/>
            </a:pPr>
            <a:r>
              <a:rPr lang="en-US" sz="1500" dirty="0">
                <a:solidFill>
                  <a:srgbClr val="F2ECE0"/>
                </a:solidFill>
                <a:latin typeface="Courier New" pitchFamily="34" charset="0"/>
                <a:ea typeface="Courier New" pitchFamily="34" charset="-122"/>
                <a:cs typeface="Courier New" pitchFamily="34" charset="-120"/>
              </a:rPr>
              <a:t>02 skills</a:t>
            </a:r>
            <a:endParaRPr lang="en-US" sz="1500" dirty="0"/>
          </a:p>
        </p:txBody>
      </p:sp>
      <p:sp>
        <p:nvSpPr>
          <p:cNvPr id="9" name="Shape 7"/>
          <p:cNvSpPr/>
          <p:nvPr/>
        </p:nvSpPr>
        <p:spPr>
          <a:xfrm>
            <a:off x="4495800" y="6744146"/>
            <a:ext cx="1466850" cy="495300"/>
          </a:xfrm>
          <a:prstGeom prst="roundRect">
            <a:avLst>
              <a:gd name="adj" fmla="val 50000"/>
            </a:avLst>
          </a:prstGeom>
          <a:ln w="9525">
            <a:solidFill>
              <a:srgbClr val="F2ECE0">
                <a:alpha val="15000"/>
              </a:srgbClr>
            </a:solidFill>
            <a:prstDash val="solid"/>
          </a:ln>
        </p:spPr>
      </p:sp>
      <p:sp>
        <p:nvSpPr>
          <p:cNvPr id="10" name="Text 8"/>
          <p:cNvSpPr/>
          <p:nvPr/>
        </p:nvSpPr>
        <p:spPr>
          <a:xfrm>
            <a:off x="4714875" y="6867971"/>
            <a:ext cx="1104900" cy="285750"/>
          </a:xfrm>
          <a:prstGeom prst="rect">
            <a:avLst/>
          </a:prstGeom>
          <a:noFill/>
          <a:ln/>
        </p:spPr>
        <p:txBody>
          <a:bodyPr wrap="square" lIns="25400" tIns="25400" rIns="25400" bIns="25400" rtlCol="0" anchor="t">
            <a:normAutofit/>
          </a:bodyPr>
          <a:lstStyle/>
          <a:p>
            <a:pPr algn="l" indent="0" marL="0">
              <a:buNone/>
            </a:pPr>
            <a:r>
              <a:rPr lang="en-US" sz="1500" dirty="0">
                <a:solidFill>
                  <a:srgbClr val="F2ECE0"/>
                </a:solidFill>
                <a:latin typeface="Courier New" pitchFamily="34" charset="0"/>
                <a:ea typeface="Courier New" pitchFamily="34" charset="-122"/>
                <a:cs typeface="Courier New" pitchFamily="34" charset="-120"/>
              </a:rPr>
              <a:t>03 agents</a:t>
            </a:r>
            <a:endParaRPr lang="en-US" sz="1500" dirty="0"/>
          </a:p>
        </p:txBody>
      </p:sp>
      <p:sp>
        <p:nvSpPr>
          <p:cNvPr id="11" name="Shape 9"/>
          <p:cNvSpPr/>
          <p:nvPr/>
        </p:nvSpPr>
        <p:spPr>
          <a:xfrm>
            <a:off x="6096000" y="6744146"/>
            <a:ext cx="1352550" cy="495300"/>
          </a:xfrm>
          <a:prstGeom prst="roundRect">
            <a:avLst>
              <a:gd name="adj" fmla="val 50000"/>
            </a:avLst>
          </a:prstGeom>
          <a:ln w="9525">
            <a:solidFill>
              <a:srgbClr val="F2ECE0">
                <a:alpha val="15000"/>
              </a:srgbClr>
            </a:solidFill>
            <a:prstDash val="solid"/>
          </a:ln>
        </p:spPr>
      </p:sp>
      <p:sp>
        <p:nvSpPr>
          <p:cNvPr id="12" name="Text 10"/>
          <p:cNvSpPr/>
          <p:nvPr/>
        </p:nvSpPr>
        <p:spPr>
          <a:xfrm>
            <a:off x="6315075" y="6867971"/>
            <a:ext cx="990600" cy="285750"/>
          </a:xfrm>
          <a:prstGeom prst="rect">
            <a:avLst/>
          </a:prstGeom>
          <a:noFill/>
          <a:ln/>
        </p:spPr>
        <p:txBody>
          <a:bodyPr wrap="square" lIns="25400" tIns="25400" rIns="25400" bIns="25400" rtlCol="0" anchor="t">
            <a:normAutofit/>
          </a:bodyPr>
          <a:lstStyle/>
          <a:p>
            <a:pPr algn="l" indent="0" marL="0">
              <a:buNone/>
            </a:pPr>
            <a:r>
              <a:rPr lang="en-US" sz="1500" dirty="0">
                <a:solidFill>
                  <a:srgbClr val="F2ECE0"/>
                </a:solidFill>
                <a:latin typeface="Courier New" pitchFamily="34" charset="0"/>
                <a:ea typeface="Courier New" pitchFamily="34" charset="-122"/>
                <a:cs typeface="Courier New" pitchFamily="34" charset="-120"/>
              </a:rPr>
              <a:t>04 hooks</a:t>
            </a:r>
            <a:endParaRPr lang="en-US" sz="1500" dirty="0"/>
          </a:p>
        </p:txBody>
      </p:sp>
      <p:sp>
        <p:nvSpPr>
          <p:cNvPr id="13" name="Shape 11"/>
          <p:cNvSpPr/>
          <p:nvPr/>
        </p:nvSpPr>
        <p:spPr>
          <a:xfrm>
            <a:off x="7581900" y="6744146"/>
            <a:ext cx="2038350" cy="495300"/>
          </a:xfrm>
          <a:prstGeom prst="roundRect">
            <a:avLst>
              <a:gd name="adj" fmla="val 50000"/>
            </a:avLst>
          </a:prstGeom>
          <a:ln w="9525">
            <a:solidFill>
              <a:srgbClr val="F2ECE0">
                <a:alpha val="15000"/>
              </a:srgbClr>
            </a:solidFill>
            <a:prstDash val="solid"/>
          </a:ln>
        </p:spPr>
      </p:sp>
      <p:sp>
        <p:nvSpPr>
          <p:cNvPr id="14" name="Text 12"/>
          <p:cNvSpPr/>
          <p:nvPr/>
        </p:nvSpPr>
        <p:spPr>
          <a:xfrm>
            <a:off x="7800975" y="6867971"/>
            <a:ext cx="1676400" cy="285750"/>
          </a:xfrm>
          <a:prstGeom prst="rect">
            <a:avLst/>
          </a:prstGeom>
          <a:noFill/>
          <a:ln/>
        </p:spPr>
        <p:txBody>
          <a:bodyPr wrap="square" lIns="25400" tIns="25400" rIns="25400" bIns="25400" rtlCol="0" anchor="t">
            <a:normAutofit/>
          </a:bodyPr>
          <a:lstStyle/>
          <a:p>
            <a:pPr algn="l" indent="0" marL="0">
              <a:buNone/>
            </a:pPr>
            <a:r>
              <a:rPr lang="en-US" sz="1500" dirty="0">
                <a:solidFill>
                  <a:srgbClr val="F2ECE0"/>
                </a:solidFill>
                <a:latin typeface="Courier New" pitchFamily="34" charset="0"/>
                <a:ea typeface="Courier New" pitchFamily="34" charset="-122"/>
                <a:cs typeface="Courier New" pitchFamily="34" charset="-120"/>
              </a:rPr>
              <a:t>05 permissions</a:t>
            </a:r>
            <a:endParaRPr lang="en-US" sz="1500" dirty="0"/>
          </a:p>
        </p:txBody>
      </p:sp>
      <p:sp>
        <p:nvSpPr>
          <p:cNvPr id="15" name="Shape 13"/>
          <p:cNvSpPr/>
          <p:nvPr/>
        </p:nvSpPr>
        <p:spPr>
          <a:xfrm>
            <a:off x="9753600" y="6744146"/>
            <a:ext cx="1581150" cy="495300"/>
          </a:xfrm>
          <a:prstGeom prst="roundRect">
            <a:avLst>
              <a:gd name="adj" fmla="val 50000"/>
            </a:avLst>
          </a:prstGeom>
          <a:ln w="9525">
            <a:solidFill>
              <a:srgbClr val="F2ECE0">
                <a:alpha val="15000"/>
              </a:srgbClr>
            </a:solidFill>
            <a:prstDash val="solid"/>
          </a:ln>
        </p:spPr>
      </p:sp>
      <p:sp>
        <p:nvSpPr>
          <p:cNvPr id="16" name="Text 14"/>
          <p:cNvSpPr/>
          <p:nvPr/>
        </p:nvSpPr>
        <p:spPr>
          <a:xfrm>
            <a:off x="9972675" y="6867971"/>
            <a:ext cx="1219200" cy="285750"/>
          </a:xfrm>
          <a:prstGeom prst="rect">
            <a:avLst/>
          </a:prstGeom>
          <a:noFill/>
          <a:ln/>
        </p:spPr>
        <p:txBody>
          <a:bodyPr wrap="square" lIns="25400" tIns="25400" rIns="25400" bIns="25400" rtlCol="0" anchor="t">
            <a:normAutofit/>
          </a:bodyPr>
          <a:lstStyle/>
          <a:p>
            <a:pPr algn="l" indent="0" marL="0">
              <a:buNone/>
            </a:pPr>
            <a:r>
              <a:rPr lang="en-US" sz="1500" dirty="0">
                <a:solidFill>
                  <a:srgbClr val="F2ECE0"/>
                </a:solidFill>
                <a:latin typeface="Courier New" pitchFamily="34" charset="0"/>
                <a:ea typeface="Courier New" pitchFamily="34" charset="-122"/>
                <a:cs typeface="Courier New" pitchFamily="34" charset="-120"/>
              </a:rPr>
              <a:t>06 context</a:t>
            </a:r>
            <a:endParaRPr lang="en-US" sz="1500" dirty="0"/>
          </a:p>
        </p:txBody>
      </p:sp>
      <p:sp>
        <p:nvSpPr>
          <p:cNvPr id="17" name="Shape 15"/>
          <p:cNvSpPr/>
          <p:nvPr/>
        </p:nvSpPr>
        <p:spPr>
          <a:xfrm>
            <a:off x="11468100" y="6744146"/>
            <a:ext cx="1695450" cy="495300"/>
          </a:xfrm>
          <a:prstGeom prst="roundRect">
            <a:avLst>
              <a:gd name="adj" fmla="val 50000"/>
            </a:avLst>
          </a:prstGeom>
          <a:ln w="9525">
            <a:solidFill>
              <a:srgbClr val="F2ECE0">
                <a:alpha val="15000"/>
              </a:srgbClr>
            </a:solidFill>
            <a:prstDash val="solid"/>
          </a:ln>
        </p:spPr>
      </p:sp>
      <p:sp>
        <p:nvSpPr>
          <p:cNvPr id="18" name="Text 16"/>
          <p:cNvSpPr/>
          <p:nvPr/>
        </p:nvSpPr>
        <p:spPr>
          <a:xfrm>
            <a:off x="11687175" y="6867971"/>
            <a:ext cx="1333500" cy="285750"/>
          </a:xfrm>
          <a:prstGeom prst="rect">
            <a:avLst/>
          </a:prstGeom>
          <a:noFill/>
          <a:ln/>
        </p:spPr>
        <p:txBody>
          <a:bodyPr wrap="square" lIns="25400" tIns="25400" rIns="25400" bIns="25400" rtlCol="0" anchor="t">
            <a:normAutofit/>
          </a:bodyPr>
          <a:lstStyle/>
          <a:p>
            <a:pPr algn="l" indent="0" marL="0">
              <a:buNone/>
            </a:pPr>
            <a:r>
              <a:rPr lang="en-US" sz="1500" dirty="0">
                <a:solidFill>
                  <a:srgbClr val="F2ECE0"/>
                </a:solidFill>
                <a:latin typeface="Courier New" pitchFamily="34" charset="0"/>
                <a:ea typeface="Courier New" pitchFamily="34" charset="-122"/>
                <a:cs typeface="Courier New" pitchFamily="34" charset="-120"/>
              </a:rPr>
              <a:t>07 workflow</a:t>
            </a:r>
            <a:endParaRPr lang="en-US" sz="1500" dirty="0"/>
          </a:p>
        </p:txBody>
      </p:sp>
      <p:sp>
        <p:nvSpPr>
          <p:cNvPr id="19" name="Shape 17"/>
          <p:cNvSpPr/>
          <p:nvPr/>
        </p:nvSpPr>
        <p:spPr>
          <a:xfrm>
            <a:off x="13296900" y="6744146"/>
            <a:ext cx="1924050" cy="495300"/>
          </a:xfrm>
          <a:prstGeom prst="roundRect">
            <a:avLst>
              <a:gd name="adj" fmla="val 50000"/>
            </a:avLst>
          </a:prstGeom>
          <a:ln w="9525">
            <a:solidFill>
              <a:srgbClr val="F2ECE0">
                <a:alpha val="15000"/>
              </a:srgbClr>
            </a:solidFill>
            <a:prstDash val="solid"/>
          </a:ln>
        </p:spPr>
      </p:sp>
      <p:sp>
        <p:nvSpPr>
          <p:cNvPr id="20" name="Text 18"/>
          <p:cNvSpPr/>
          <p:nvPr/>
        </p:nvSpPr>
        <p:spPr>
          <a:xfrm>
            <a:off x="13515975" y="6867971"/>
            <a:ext cx="1562100" cy="285750"/>
          </a:xfrm>
          <a:prstGeom prst="rect">
            <a:avLst/>
          </a:prstGeom>
          <a:noFill/>
          <a:ln/>
        </p:spPr>
        <p:txBody>
          <a:bodyPr wrap="square" lIns="25400" tIns="25400" rIns="25400" bIns="25400" rtlCol="0" anchor="t">
            <a:normAutofit/>
          </a:bodyPr>
          <a:lstStyle/>
          <a:p>
            <a:pPr algn="l" indent="0" marL="0">
              <a:buNone/>
            </a:pPr>
            <a:r>
              <a:rPr lang="en-US" sz="1500" dirty="0">
                <a:solidFill>
                  <a:srgbClr val="F2ECE0"/>
                </a:solidFill>
                <a:latin typeface="Courier New" pitchFamily="34" charset="0"/>
                <a:ea typeface="Courier New" pitchFamily="34" charset="-122"/>
                <a:cs typeface="Courier New" pitchFamily="34" charset="-120"/>
              </a:rPr>
              <a:t>08 automation</a:t>
            </a:r>
            <a:endParaRPr lang="en-US" sz="1500" dirty="0"/>
          </a:p>
        </p:txBody>
      </p:sp>
      <p:sp>
        <p:nvSpPr>
          <p:cNvPr id="21" name="Text 19"/>
          <p:cNvSpPr/>
          <p:nvPr/>
        </p:nvSpPr>
        <p:spPr>
          <a:xfrm>
            <a:off x="16953309" y="9515475"/>
            <a:ext cx="344091" cy="276225"/>
          </a:xfrm>
          <a:prstGeom prst="rect">
            <a:avLst/>
          </a:prstGeom>
          <a:noFill/>
          <a:ln/>
        </p:spPr>
        <p:txBody>
          <a:bodyPr wrap="square" lIns="25400" tIns="25400" rIns="25400" bIns="25400" rtlCol="0" anchor="t">
            <a:normAutofit/>
          </a:bodyPr>
          <a:lstStyle/>
          <a:p>
            <a:pPr algn="l" indent="0" marL="0">
              <a:buNone/>
            </a:pPr>
            <a:r>
              <a:rPr lang="en-US" sz="1425" spc="200" kern="0" dirty="0">
                <a:solidFill>
                  <a:srgbClr val="9C9584"/>
                </a:solidFill>
                <a:latin typeface="Courier New" pitchFamily="34" charset="0"/>
                <a:ea typeface="Courier New" pitchFamily="34" charset="-122"/>
                <a:cs typeface="Courier New" pitchFamily="34" charset="-120"/>
              </a:rPr>
              <a:t>04</a:t>
            </a:r>
            <a:endParaRPr lang="en-US" sz="142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B1813"/>
        </a:solidFill>
      </p:bgPr>
    </p:bg>
    <p:spTree>
      <p:nvGrpSpPr>
        <p:cNvPr id="1" name=""/>
        <p:cNvGrpSpPr/>
        <p:nvPr/>
      </p:nvGrpSpPr>
      <p:grpSpPr>
        <a:xfrm>
          <a:off x="0" y="0"/>
          <a:ext cx="0" cy="0"/>
          <a:chOff x="0" y="0"/>
          <a:chExt cx="0" cy="0"/>
        </a:xfrm>
      </p:grpSpPr>
      <p:sp>
        <p:nvSpPr>
          <p:cNvPr id="2" name="Text 0"/>
          <p:cNvSpPr/>
          <p:nvPr/>
        </p:nvSpPr>
        <p:spPr>
          <a:xfrm>
            <a:off x="1066800" y="3074194"/>
            <a:ext cx="17769840" cy="276225"/>
          </a:xfrm>
          <a:prstGeom prst="rect">
            <a:avLst/>
          </a:prstGeom>
          <a:noFill/>
          <a:ln/>
        </p:spPr>
        <p:txBody>
          <a:bodyPr wrap="square" lIns="25400" tIns="25400" rIns="25400" bIns="25400" rtlCol="0" anchor="t">
            <a:normAutofit/>
          </a:bodyPr>
          <a:lstStyle/>
          <a:p>
            <a:pPr algn="l" indent="0" marL="0">
              <a:buNone/>
            </a:pPr>
            <a:r>
              <a:rPr lang="en-US" sz="1425" spc="342" kern="0" dirty="0">
                <a:solidFill>
                  <a:srgbClr val="C05F38"/>
                </a:solidFill>
                <a:latin typeface="Courier New" pitchFamily="34" charset="0"/>
                <a:ea typeface="Courier New" pitchFamily="34" charset="-122"/>
                <a:cs typeface="Courier New" pitchFamily="34" charset="-120"/>
              </a:rPr>
              <a:t>I · STEERING</a:t>
            </a:r>
            <a:endParaRPr lang="en-US" sz="1425" dirty="0"/>
          </a:p>
        </p:txBody>
      </p:sp>
      <p:sp>
        <p:nvSpPr>
          <p:cNvPr id="3" name="Text 1"/>
          <p:cNvSpPr/>
          <p:nvPr/>
        </p:nvSpPr>
        <p:spPr>
          <a:xfrm>
            <a:off x="1066800" y="3655219"/>
            <a:ext cx="9603038" cy="1747838"/>
          </a:xfrm>
          <a:prstGeom prst="rect">
            <a:avLst/>
          </a:prstGeom>
          <a:noFill/>
          <a:ln/>
        </p:spPr>
        <p:txBody>
          <a:bodyPr wrap="square" lIns="25400" tIns="25400" rIns="25400" bIns="25400" rtlCol="0" anchor="t">
            <a:normAutofit/>
          </a:bodyPr>
          <a:lstStyle/>
          <a:p>
            <a:pPr algn="l" indent="0" marL="0">
              <a:lnSpc>
                <a:spcPct val="102000"/>
              </a:lnSpc>
              <a:buNone/>
            </a:pPr>
            <a:r>
              <a:rPr lang="en-US" sz="6600" b="1" spc="-132" kern="0" dirty="0">
                <a:solidFill>
                  <a:srgbClr val="F2ECE0"/>
                </a:solidFill>
                <a:latin typeface="Arial" pitchFamily="34" charset="0"/>
                <a:ea typeface="Arial" pitchFamily="34" charset="-122"/>
                <a:cs typeface="Arial" pitchFamily="34" charset="-120"/>
              </a:rPr>
              <a:t>Inject project DNA into every session.</a:t>
            </a:r>
            <a:endParaRPr lang="en-US" sz="6600" dirty="0"/>
          </a:p>
        </p:txBody>
      </p:sp>
      <p:sp>
        <p:nvSpPr>
          <p:cNvPr id="4" name="Text 2"/>
          <p:cNvSpPr/>
          <p:nvPr/>
        </p:nvSpPr>
        <p:spPr>
          <a:xfrm>
            <a:off x="1066800" y="5822156"/>
            <a:ext cx="12072281" cy="1524000"/>
          </a:xfrm>
          <a:prstGeom prst="rect">
            <a:avLst/>
          </a:prstGeom>
          <a:noFill/>
          <a:ln/>
        </p:spPr>
        <p:txBody>
          <a:bodyPr wrap="square" lIns="25400" tIns="25400" rIns="25400" bIns="25400" rtlCol="0" anchor="t">
            <a:normAutofit/>
          </a:bodyPr>
          <a:lstStyle/>
          <a:p>
            <a:pPr algn="l" indent="0" marL="0">
              <a:lnSpc>
                <a:spcPct val="130000"/>
              </a:lnSpc>
              <a:buNone/>
            </a:pPr>
            <a:r>
              <a:rPr lang="en-US" sz="1875" dirty="0">
                <a:solidFill>
                  <a:srgbClr val="C05F38"/>
                </a:solidFill>
                <a:latin typeface="Courier New" pitchFamily="34" charset="0"/>
                <a:ea typeface="Courier New" pitchFamily="34" charset="-122"/>
                <a:cs typeface="Courier New" pitchFamily="34" charset="-120"/>
              </a:rPr>
              <a:t>PROBLEM →</a:t>
            </a:r>
            <a:pPr algn="l" indent="0" marL="0">
              <a:lnSpc>
                <a:spcPct val="130000"/>
              </a:lnSpc>
              <a:buNone/>
            </a:pPr>
            <a:r>
              <a:rPr lang="en-US" sz="3000" dirty="0">
                <a:solidFill>
                  <a:srgbClr val="9C9584"/>
                </a:solidFill>
                <a:latin typeface="Arial" pitchFamily="34" charset="0"/>
                <a:ea typeface="Arial" pitchFamily="34" charset="-122"/>
                <a:cs typeface="Arial" pitchFamily="34" charset="-120"/>
              </a:rPr>
              <a:t>Without our rules, the agent used </a:t>
            </a:r>
            <a:pPr algn="l" indent="0" marL="0">
              <a:lnSpc>
                <a:spcPct val="130000"/>
              </a:lnSpc>
              <a:buNone/>
            </a:pPr>
            <a:r>
              <a:rPr lang="en-US" sz="2250" dirty="0">
                <a:solidFill>
                  <a:srgbClr val="9C9584"/>
                </a:solidFill>
                <a:latin typeface="Courier New" pitchFamily="34" charset="0"/>
                <a:ea typeface="Courier New" pitchFamily="34" charset="-122"/>
                <a:cs typeface="Courier New" pitchFamily="34" charset="-120"/>
              </a:rPr>
              <a:t>git push origin main </a:t>
            </a:r>
            <a:pPr algn="l" indent="0" marL="0">
              <a:lnSpc>
                <a:spcPct val="130000"/>
              </a:lnSpc>
              <a:buNone/>
            </a:pPr>
            <a:r>
              <a:rPr lang="en-US" sz="3000" dirty="0">
                <a:solidFill>
                  <a:srgbClr val="9C9584"/>
                </a:solidFill>
                <a:latin typeface="Arial" pitchFamily="34" charset="0"/>
                <a:ea typeface="Arial" pitchFamily="34" charset="-122"/>
                <a:cs typeface="Arial" pitchFamily="34" charset="-120"/>
              </a:rPr>
              <a:t>, forgot security constraints, and generated manifests Kyverno rejects.</a:t>
            </a:r>
            <a:endParaRPr lang="en-US" sz="3000" dirty="0"/>
          </a:p>
        </p:txBody>
      </p:sp>
      <p:sp>
        <p:nvSpPr>
          <p:cNvPr id="5" name="Text 3"/>
          <p:cNvSpPr/>
          <p:nvPr/>
        </p:nvSpPr>
        <p:spPr>
          <a:xfrm>
            <a:off x="16953309" y="9515475"/>
            <a:ext cx="344091" cy="276225"/>
          </a:xfrm>
          <a:prstGeom prst="rect">
            <a:avLst/>
          </a:prstGeom>
          <a:noFill/>
          <a:ln/>
        </p:spPr>
        <p:txBody>
          <a:bodyPr wrap="square" lIns="25400" tIns="25400" rIns="25400" bIns="25400" rtlCol="0" anchor="t">
            <a:normAutofit/>
          </a:bodyPr>
          <a:lstStyle/>
          <a:p>
            <a:pPr algn="l" indent="0" marL="0">
              <a:buNone/>
            </a:pPr>
            <a:r>
              <a:rPr lang="en-US" sz="1425" spc="200" kern="0" dirty="0">
                <a:solidFill>
                  <a:srgbClr val="9C9584"/>
                </a:solidFill>
                <a:latin typeface="Courier New" pitchFamily="34" charset="0"/>
                <a:ea typeface="Courier New" pitchFamily="34" charset="-122"/>
                <a:cs typeface="Courier New" pitchFamily="34" charset="-120"/>
              </a:rPr>
              <a:t>05</a:t>
            </a:r>
            <a:endParaRPr lang="en-US" sz="142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ECE0"/>
        </a:solidFill>
      </p:bgPr>
    </p:bg>
    <p:spTree>
      <p:nvGrpSpPr>
        <p:cNvPr id="1" name=""/>
        <p:cNvGrpSpPr/>
        <p:nvPr/>
      </p:nvGrpSpPr>
      <p:grpSpPr>
        <a:xfrm>
          <a:off x="0" y="0"/>
          <a:ext cx="0" cy="0"/>
          <a:chOff x="0" y="0"/>
          <a:chExt cx="0" cy="0"/>
        </a:xfrm>
      </p:grpSpPr>
      <p:sp>
        <p:nvSpPr>
          <p:cNvPr id="2" name="Text 0"/>
          <p:cNvSpPr/>
          <p:nvPr/>
        </p:nvSpPr>
        <p:spPr>
          <a:xfrm>
            <a:off x="1066800" y="2744837"/>
            <a:ext cx="9429750" cy="276225"/>
          </a:xfrm>
          <a:prstGeom prst="rect">
            <a:avLst/>
          </a:prstGeom>
          <a:noFill/>
          <a:ln/>
        </p:spPr>
        <p:txBody>
          <a:bodyPr wrap="square" lIns="25400" tIns="25400" rIns="25400" bIns="25400" rtlCol="0" anchor="t">
            <a:normAutofit/>
          </a:bodyPr>
          <a:lstStyle/>
          <a:p>
            <a:pPr algn="l" indent="0" marL="0">
              <a:buNone/>
            </a:pPr>
            <a:r>
              <a:rPr lang="en-US" sz="1425" spc="342" kern="0" dirty="0">
                <a:solidFill>
                  <a:srgbClr val="C05F38"/>
                </a:solidFill>
                <a:latin typeface="Courier New" pitchFamily="34" charset="0"/>
                <a:ea typeface="Courier New" pitchFamily="34" charset="-122"/>
                <a:cs typeface="Courier New" pitchFamily="34" charset="-120"/>
              </a:rPr>
              <a:t>I · STEERING · THE FIX</a:t>
            </a:r>
            <a:endParaRPr lang="en-US" sz="1425" dirty="0"/>
          </a:p>
        </p:txBody>
      </p:sp>
      <p:sp>
        <p:nvSpPr>
          <p:cNvPr id="3" name="Text 1"/>
          <p:cNvSpPr/>
          <p:nvPr/>
        </p:nvSpPr>
        <p:spPr>
          <a:xfrm>
            <a:off x="1066800" y="3230612"/>
            <a:ext cx="5587222" cy="1305818"/>
          </a:xfrm>
          <a:prstGeom prst="rect">
            <a:avLst/>
          </a:prstGeom>
          <a:noFill/>
          <a:ln/>
        </p:spPr>
        <p:txBody>
          <a:bodyPr wrap="square" lIns="25400" tIns="25400" rIns="25400" bIns="25400" rtlCol="0" anchor="t">
            <a:normAutofit/>
          </a:bodyPr>
          <a:lstStyle/>
          <a:p>
            <a:pPr algn="l" indent="0" marL="0">
              <a:lnSpc>
                <a:spcPct val="104000"/>
              </a:lnSpc>
              <a:buNone/>
            </a:pPr>
            <a:r>
              <a:rPr lang="en-US" sz="4800" b="1" spc="-72" kern="0" dirty="0">
                <a:solidFill>
                  <a:srgbClr val="1B1813"/>
                </a:solidFill>
                <a:latin typeface="Arial" pitchFamily="34" charset="0"/>
                <a:ea typeface="Arial" pitchFamily="34" charset="-122"/>
                <a:cs typeface="Arial" pitchFamily="34" charset="-120"/>
              </a:rPr>
              <a:t>Rules that load themselves</a:t>
            </a:r>
            <a:endParaRPr lang="en-US" sz="4800" dirty="0"/>
          </a:p>
        </p:txBody>
      </p:sp>
      <p:sp>
        <p:nvSpPr>
          <p:cNvPr id="4" name="Text 2"/>
          <p:cNvSpPr/>
          <p:nvPr/>
        </p:nvSpPr>
        <p:spPr>
          <a:xfrm>
            <a:off x="1066800" y="4841230"/>
            <a:ext cx="356146" cy="830461"/>
          </a:xfrm>
          <a:prstGeom prst="rect">
            <a:avLst/>
          </a:prstGeom>
          <a:noFill/>
          <a:ln/>
        </p:spPr>
        <p:txBody>
          <a:bodyPr wrap="square" lIns="25400" tIns="25400" rIns="25400" bIns="25400" rtlCol="0" anchor="t">
            <a:normAutofit/>
          </a:bodyPr>
          <a:lstStyle/>
          <a:p>
            <a:pPr algn="l" indent="0" marL="0">
              <a:lnSpc>
                <a:spcPct val="130000"/>
              </a:lnSpc>
              <a:buNone/>
            </a:pPr>
            <a:r>
              <a:rPr lang="en-US" sz="2400" dirty="0">
                <a:solidFill>
                  <a:srgbClr val="C05F38"/>
                </a:solidFill>
                <a:latin typeface="Arial" pitchFamily="34" charset="0"/>
                <a:ea typeface="Arial" pitchFamily="34" charset="-122"/>
                <a:cs typeface="Arial" pitchFamily="34" charset="-120"/>
              </a:rPr>
              <a:t>→</a:t>
            </a:r>
            <a:endParaRPr lang="en-US" sz="2400" dirty="0"/>
          </a:p>
        </p:txBody>
      </p:sp>
      <p:sp>
        <p:nvSpPr>
          <p:cNvPr id="5" name="Text 3"/>
          <p:cNvSpPr/>
          <p:nvPr/>
        </p:nvSpPr>
        <p:spPr>
          <a:xfrm>
            <a:off x="1499146" y="4841230"/>
            <a:ext cx="5993295" cy="830461"/>
          </a:xfrm>
          <a:prstGeom prst="rect">
            <a:avLst/>
          </a:prstGeom>
          <a:noFill/>
          <a:ln/>
        </p:spPr>
        <p:txBody>
          <a:bodyPr wrap="square" lIns="25400" tIns="25400" rIns="25400" bIns="25400" rtlCol="0" anchor="t">
            <a:normAutofit/>
          </a:bodyPr>
          <a:lstStyle/>
          <a:p>
            <a:pPr algn="l" indent="0" marL="0">
              <a:lnSpc>
                <a:spcPct val="130000"/>
              </a:lnSpc>
              <a:buNone/>
            </a:pPr>
            <a:r>
              <a:rPr lang="en-US" sz="2400" dirty="0">
                <a:solidFill>
                  <a:srgbClr val="1B1813"/>
                </a:solidFill>
                <a:latin typeface="Arial" pitchFamily="34" charset="0"/>
                <a:ea typeface="Arial" pitchFamily="34" charset="-122"/>
                <a:cs typeface="Arial" pitchFamily="34" charset="-120"/>
              </a:rPr>
              <a:t>Markdown in </a:t>
            </a:r>
            <a:pPr algn="l" indent="0" marL="0">
              <a:lnSpc>
                <a:spcPct val="130000"/>
              </a:lnSpc>
              <a:buNone/>
            </a:pPr>
            <a:r>
              <a:rPr lang="en-US" sz="1800" dirty="0">
                <a:solidFill>
                  <a:srgbClr val="1B1813"/>
                </a:solidFill>
                <a:latin typeface="Courier New" pitchFamily="34" charset="0"/>
                <a:ea typeface="Courier New" pitchFamily="34" charset="-122"/>
                <a:cs typeface="Courier New" pitchFamily="34" charset="-120"/>
              </a:rPr>
              <a:t>.kiro/steering/ </a:t>
            </a:r>
            <a:pPr algn="l" indent="0" marL="0">
              <a:lnSpc>
                <a:spcPct val="130000"/>
              </a:lnSpc>
              <a:buNone/>
            </a:pPr>
            <a:r>
              <a:rPr lang="en-US" sz="2400" dirty="0">
                <a:solidFill>
                  <a:srgbClr val="1B1813"/>
                </a:solidFill>
                <a:latin typeface="Arial" pitchFamily="34" charset="0"/>
                <a:ea typeface="Arial" pitchFamily="34" charset="-122"/>
                <a:cs typeface="Arial" pitchFamily="34" charset="-120"/>
              </a:rPr>
              <a:t>, injected into </a:t>
            </a:r>
            <a:pPr algn="l" indent="0" marL="0">
              <a:lnSpc>
                <a:spcPct val="130000"/>
              </a:lnSpc>
              <a:buNone/>
            </a:pPr>
            <a:r>
              <a:rPr lang="en-US" sz="2400" b="1" dirty="0">
                <a:solidFill>
                  <a:srgbClr val="1B1813"/>
                </a:solidFill>
                <a:latin typeface="Arial" pitchFamily="34" charset="0"/>
                <a:ea typeface="Arial" pitchFamily="34" charset="-122"/>
                <a:cs typeface="Arial" pitchFamily="34" charset="-120"/>
              </a:rPr>
              <a:t>every </a:t>
            </a:r>
            <a:pPr algn="l" indent="0" marL="0">
              <a:lnSpc>
                <a:spcPct val="130000"/>
              </a:lnSpc>
              <a:buNone/>
            </a:pPr>
            <a:r>
              <a:rPr lang="en-US" sz="2400" dirty="0">
                <a:solidFill>
                  <a:srgbClr val="1B1813"/>
                </a:solidFill>
                <a:latin typeface="Arial" pitchFamily="34" charset="0"/>
                <a:ea typeface="Arial" pitchFamily="34" charset="-122"/>
                <a:cs typeface="Arial" pitchFamily="34" charset="-120"/>
              </a:rPr>
              <a:t>session.</a:t>
            </a:r>
            <a:endParaRPr lang="en-US" sz="2400" dirty="0"/>
          </a:p>
        </p:txBody>
      </p:sp>
      <p:sp>
        <p:nvSpPr>
          <p:cNvPr id="6" name="Text 4"/>
          <p:cNvSpPr/>
          <p:nvPr/>
        </p:nvSpPr>
        <p:spPr>
          <a:xfrm>
            <a:off x="1066800" y="5843141"/>
            <a:ext cx="356146" cy="830461"/>
          </a:xfrm>
          <a:prstGeom prst="rect">
            <a:avLst/>
          </a:prstGeom>
          <a:noFill/>
          <a:ln/>
        </p:spPr>
        <p:txBody>
          <a:bodyPr wrap="square" lIns="25400" tIns="25400" rIns="25400" bIns="25400" rtlCol="0" anchor="t">
            <a:normAutofit/>
          </a:bodyPr>
          <a:lstStyle/>
          <a:p>
            <a:pPr algn="l" indent="0" marL="0">
              <a:lnSpc>
                <a:spcPct val="130000"/>
              </a:lnSpc>
              <a:buNone/>
            </a:pPr>
            <a:r>
              <a:rPr lang="en-US" sz="2400" dirty="0">
                <a:solidFill>
                  <a:srgbClr val="C05F38"/>
                </a:solidFill>
                <a:latin typeface="Arial" pitchFamily="34" charset="0"/>
                <a:ea typeface="Arial" pitchFamily="34" charset="-122"/>
                <a:cs typeface="Arial" pitchFamily="34" charset="-120"/>
              </a:rPr>
              <a:t>→</a:t>
            </a:r>
            <a:endParaRPr lang="en-US" sz="2400" dirty="0"/>
          </a:p>
        </p:txBody>
      </p:sp>
      <p:sp>
        <p:nvSpPr>
          <p:cNvPr id="7" name="Text 5"/>
          <p:cNvSpPr/>
          <p:nvPr/>
        </p:nvSpPr>
        <p:spPr>
          <a:xfrm>
            <a:off x="1499146" y="5843141"/>
            <a:ext cx="5993295" cy="830461"/>
          </a:xfrm>
          <a:prstGeom prst="rect">
            <a:avLst/>
          </a:prstGeom>
          <a:noFill/>
          <a:ln/>
        </p:spPr>
        <p:txBody>
          <a:bodyPr wrap="square" lIns="25400" tIns="25400" rIns="25400" bIns="25400" rtlCol="0" anchor="t">
            <a:normAutofit/>
          </a:bodyPr>
          <a:lstStyle/>
          <a:p>
            <a:pPr algn="l" indent="0" marL="0">
              <a:lnSpc>
                <a:spcPct val="130000"/>
              </a:lnSpc>
              <a:buNone/>
            </a:pPr>
            <a:r>
              <a:rPr lang="en-US" sz="2400" dirty="0">
                <a:solidFill>
                  <a:srgbClr val="1B1813"/>
                </a:solidFill>
                <a:latin typeface="Arial" pitchFamily="34" charset="0"/>
                <a:ea typeface="Arial" pitchFamily="34" charset="-122"/>
                <a:cs typeface="Arial" pitchFamily="34" charset="-120"/>
              </a:rPr>
              <a:t>Followed without being reminded — no re-prompting.</a:t>
            </a:r>
            <a:endParaRPr lang="en-US" sz="2400" dirty="0"/>
          </a:p>
        </p:txBody>
      </p:sp>
      <p:sp>
        <p:nvSpPr>
          <p:cNvPr id="8" name="Text 6"/>
          <p:cNvSpPr/>
          <p:nvPr/>
        </p:nvSpPr>
        <p:spPr>
          <a:xfrm>
            <a:off x="1066800" y="6845052"/>
            <a:ext cx="356146" cy="830461"/>
          </a:xfrm>
          <a:prstGeom prst="rect">
            <a:avLst/>
          </a:prstGeom>
          <a:noFill/>
          <a:ln/>
        </p:spPr>
        <p:txBody>
          <a:bodyPr wrap="square" lIns="25400" tIns="25400" rIns="25400" bIns="25400" rtlCol="0" anchor="t">
            <a:normAutofit/>
          </a:bodyPr>
          <a:lstStyle/>
          <a:p>
            <a:pPr algn="l" indent="0" marL="0">
              <a:lnSpc>
                <a:spcPct val="130000"/>
              </a:lnSpc>
              <a:buNone/>
            </a:pPr>
            <a:r>
              <a:rPr lang="en-US" sz="2400" dirty="0">
                <a:solidFill>
                  <a:srgbClr val="C05F38"/>
                </a:solidFill>
                <a:latin typeface="Arial" pitchFamily="34" charset="0"/>
                <a:ea typeface="Arial" pitchFamily="34" charset="-122"/>
                <a:cs typeface="Arial" pitchFamily="34" charset="-120"/>
              </a:rPr>
              <a:t>→</a:t>
            </a:r>
            <a:endParaRPr lang="en-US" sz="2400" dirty="0"/>
          </a:p>
        </p:txBody>
      </p:sp>
      <p:sp>
        <p:nvSpPr>
          <p:cNvPr id="9" name="Text 7"/>
          <p:cNvSpPr/>
          <p:nvPr/>
        </p:nvSpPr>
        <p:spPr>
          <a:xfrm>
            <a:off x="1499146" y="6845052"/>
            <a:ext cx="5993295" cy="830461"/>
          </a:xfrm>
          <a:prstGeom prst="rect">
            <a:avLst/>
          </a:prstGeom>
          <a:noFill/>
          <a:ln/>
        </p:spPr>
        <p:txBody>
          <a:bodyPr wrap="square" lIns="25400" tIns="25400" rIns="25400" bIns="25400" rtlCol="0" anchor="t">
            <a:normAutofit/>
          </a:bodyPr>
          <a:lstStyle/>
          <a:p>
            <a:pPr algn="l" indent="0" marL="0">
              <a:lnSpc>
                <a:spcPct val="130000"/>
              </a:lnSpc>
              <a:buNone/>
            </a:pPr>
            <a:r>
              <a:rPr lang="en-US" sz="2400" dirty="0">
                <a:solidFill>
                  <a:srgbClr val="1B1813"/>
                </a:solidFill>
                <a:latin typeface="Arial" pitchFamily="34" charset="0"/>
                <a:ea typeface="Arial" pitchFamily="34" charset="-122"/>
                <a:cs typeface="Arial" pitchFamily="34" charset="-120"/>
              </a:rPr>
              <a:t>14 files covering architecture, IaC, CI, GitOps, secrets.</a:t>
            </a:r>
            <a:endParaRPr lang="en-US" sz="2400" dirty="0"/>
          </a:p>
        </p:txBody>
      </p:sp>
      <p:sp>
        <p:nvSpPr>
          <p:cNvPr id="10" name="Shape 8"/>
          <p:cNvSpPr/>
          <p:nvPr/>
        </p:nvSpPr>
        <p:spPr>
          <a:xfrm>
            <a:off x="10172700" y="3360837"/>
            <a:ext cx="7048500" cy="3660577"/>
          </a:xfrm>
          <a:prstGeom prst="roundRect">
            <a:avLst>
              <a:gd name="adj" fmla="val 2602"/>
            </a:avLst>
          </a:prstGeom>
          <a:solidFill>
            <a:srgbClr val="1B1813"/>
          </a:solidFill>
          <a:ln/>
          <a:effectLst>
            <a:outerShdw sx="100000" sy="100000" kx="0" ky="0" algn="bl" rotWithShape="0" blurRad="571500" dist="228600" dir="5400000">
              <a:srgbClr val="1B1813">
                <a:alpha val="22000"/>
              </a:srgbClr>
            </a:outerShdw>
          </a:effectLst>
        </p:spPr>
      </p:sp>
      <p:sp>
        <p:nvSpPr>
          <p:cNvPr id="11" name="Shape 9"/>
          <p:cNvSpPr/>
          <p:nvPr/>
        </p:nvSpPr>
        <p:spPr>
          <a:xfrm>
            <a:off x="10172700" y="3856137"/>
            <a:ext cx="7048500" cy="9525"/>
          </a:xfrm>
          <a:prstGeom prst="rect">
            <a:avLst/>
          </a:prstGeom>
          <a:solidFill>
            <a:srgbClr val="F2ECE0">
              <a:alpha val="15000"/>
            </a:srgbClr>
          </a:solidFill>
          <a:ln/>
        </p:spPr>
      </p:sp>
      <p:sp>
        <p:nvSpPr>
          <p:cNvPr id="12" name="Shape 10"/>
          <p:cNvSpPr/>
          <p:nvPr/>
        </p:nvSpPr>
        <p:spPr>
          <a:xfrm>
            <a:off x="10382250" y="3551337"/>
            <a:ext cx="114300" cy="114300"/>
          </a:xfrm>
          <a:prstGeom prst="ellipse">
            <a:avLst/>
          </a:prstGeom>
          <a:solidFill>
            <a:srgbClr val="E06C5A"/>
          </a:solidFill>
          <a:ln/>
        </p:spPr>
      </p:sp>
      <p:sp>
        <p:nvSpPr>
          <p:cNvPr id="13" name="Shape 11"/>
          <p:cNvSpPr/>
          <p:nvPr/>
        </p:nvSpPr>
        <p:spPr>
          <a:xfrm>
            <a:off x="10582275" y="3551337"/>
            <a:ext cx="114300" cy="114300"/>
          </a:xfrm>
          <a:prstGeom prst="ellipse">
            <a:avLst/>
          </a:prstGeom>
          <a:solidFill>
            <a:srgbClr val="E3B341"/>
          </a:solidFill>
          <a:ln/>
        </p:spPr>
      </p:sp>
      <p:sp>
        <p:nvSpPr>
          <p:cNvPr id="14" name="Shape 12"/>
          <p:cNvSpPr/>
          <p:nvPr/>
        </p:nvSpPr>
        <p:spPr>
          <a:xfrm>
            <a:off x="10782300" y="3551337"/>
            <a:ext cx="114300" cy="114300"/>
          </a:xfrm>
          <a:prstGeom prst="ellipse">
            <a:avLst/>
          </a:prstGeom>
          <a:solidFill>
            <a:srgbClr val="7E9A66"/>
          </a:solidFill>
          <a:ln/>
        </p:spPr>
      </p:sp>
      <p:sp>
        <p:nvSpPr>
          <p:cNvPr id="15" name="Text 13"/>
          <p:cNvSpPr/>
          <p:nvPr/>
        </p:nvSpPr>
        <p:spPr>
          <a:xfrm>
            <a:off x="11115675" y="3513237"/>
            <a:ext cx="1414463" cy="228600"/>
          </a:xfrm>
          <a:prstGeom prst="rect">
            <a:avLst/>
          </a:prstGeom>
          <a:noFill/>
          <a:ln/>
        </p:spPr>
        <p:txBody>
          <a:bodyPr wrap="square" lIns="25400" tIns="25400" rIns="25400" bIns="25400" rtlCol="0" anchor="t">
            <a:normAutofit/>
          </a:bodyPr>
          <a:lstStyle/>
          <a:p>
            <a:pPr algn="l" indent="0" marL="0">
              <a:buNone/>
            </a:pPr>
            <a:r>
              <a:rPr lang="en-US" sz="1125" dirty="0">
                <a:solidFill>
                  <a:srgbClr val="9C9584"/>
                </a:solidFill>
                <a:latin typeface="Courier New" pitchFamily="34" charset="0"/>
                <a:ea typeface="Courier New" pitchFamily="34" charset="-122"/>
                <a:cs typeface="Courier New" pitchFamily="34" charset="-120"/>
              </a:rPr>
              <a:t>.kiro/steering/</a:t>
            </a:r>
            <a:endParaRPr lang="en-US" sz="1125" dirty="0"/>
          </a:p>
        </p:txBody>
      </p:sp>
      <p:sp>
        <p:nvSpPr>
          <p:cNvPr id="16" name="Text 14"/>
          <p:cNvSpPr/>
          <p:nvPr/>
        </p:nvSpPr>
        <p:spPr>
          <a:xfrm>
            <a:off x="10496550" y="4132362"/>
            <a:ext cx="6612255" cy="2660452"/>
          </a:xfrm>
          <a:prstGeom prst="rect">
            <a:avLst/>
          </a:prstGeom>
          <a:noFill/>
          <a:ln/>
        </p:spPr>
        <p:txBody>
          <a:bodyPr wrap="square" lIns="25400" tIns="25400" rIns="25400" bIns="25400" rtlCol="0" anchor="t">
            <a:normAutofit/>
          </a:bodyPr>
          <a:lstStyle/>
          <a:p>
            <a:pPr algn="l" indent="0" marL="0">
              <a:lnSpc>
                <a:spcPct val="162000"/>
              </a:lnSpc>
              <a:buNone/>
            </a:pPr>
            <a:r>
              <a:rPr lang="en-US" sz="1275" dirty="0">
                <a:solidFill>
                  <a:srgbClr val="F2ECE0"/>
                </a:solidFill>
                <a:latin typeface="Courier New" pitchFamily="34" charset="0"/>
                <a:ea typeface="Courier New" pitchFamily="34" charset="-122"/>
                <a:cs typeface="Courier New" pitchFamily="34" charset="-120"/>
              </a:rPr>
              <a:t>project-structure.md      </a:t>
            </a:r>
            <a:pPr algn="l" indent="0" marL="0">
              <a:lnSpc>
                <a:spcPct val="162000"/>
              </a:lnSpc>
              <a:buNone/>
            </a:pPr>
            <a:r>
              <a:rPr lang="en-US" sz="1275" dirty="0">
                <a:solidFill>
                  <a:srgbClr val="9C9584"/>
                </a:solidFill>
                <a:latin typeface="Courier New" pitchFamily="34" charset="0"/>
                <a:ea typeface="Courier New" pitchFamily="34" charset="-122"/>
                <a:cs typeface="Courier New" pitchFamily="34" charset="-120"/>
              </a:rPr>
              <a:t># repos, data flow </a:t>
            </a:r>
            <a:pPr algn="l" indent="0" marL="0">
              <a:lnSpc>
                <a:spcPct val="162000"/>
              </a:lnSpc>
              <a:buNone/>
            </a:pPr>
            <a:r>
              <a:rPr lang="en-US" sz="1275" dirty="0">
                <a:solidFill>
                  <a:srgbClr val="F2ECE0"/>
                </a:solidFill>
                <a:latin typeface="Courier New" pitchFamily="34" charset="0"/>
                <a:ea typeface="Courier New" pitchFamily="34" charset="-122"/>
                <a:cs typeface="Courier New" pitchFamily="34" charset="-120"/>
              </a:rPr>
              <a:t>kyverno-policies.md       </a:t>
            </a:r>
            <a:pPr algn="l" indent="0" marL="0">
              <a:lnSpc>
                <a:spcPct val="162000"/>
              </a:lnSpc>
              <a:buNone/>
            </a:pPr>
            <a:r>
              <a:rPr lang="en-US" sz="1275" dirty="0">
                <a:solidFill>
                  <a:srgbClr val="9C9584"/>
                </a:solidFill>
                <a:latin typeface="Courier New" pitchFamily="34" charset="0"/>
                <a:ea typeface="Courier New" pitchFamily="34" charset="-122"/>
                <a:cs typeface="Courier New" pitchFamily="34" charset="-120"/>
              </a:rPr>
              <a:t># K8s admission rules </a:t>
            </a:r>
            <a:pPr algn="l" indent="0" marL="0">
              <a:lnSpc>
                <a:spcPct val="162000"/>
              </a:lnSpc>
              <a:buNone/>
            </a:pPr>
            <a:r>
              <a:rPr lang="en-US" sz="1275" dirty="0">
                <a:solidFill>
                  <a:srgbClr val="F2ECE0"/>
                </a:solidFill>
                <a:latin typeface="Courier New" pitchFamily="34" charset="0"/>
                <a:ea typeface="Courier New" pitchFamily="34" charset="-122"/>
                <a:cs typeface="Courier New" pitchFamily="34" charset="-120"/>
              </a:rPr>
              <a:t>terraform-conventions.md  </a:t>
            </a:r>
            <a:pPr algn="l" indent="0" marL="0">
              <a:lnSpc>
                <a:spcPct val="162000"/>
              </a:lnSpc>
              <a:buNone/>
            </a:pPr>
            <a:r>
              <a:rPr lang="en-US" sz="1275" dirty="0">
                <a:solidFill>
                  <a:srgbClr val="9C9584"/>
                </a:solidFill>
                <a:latin typeface="Courier New" pitchFamily="34" charset="0"/>
                <a:ea typeface="Courier New" pitchFamily="34" charset="-122"/>
                <a:cs typeface="Courier New" pitchFamily="34" charset="-120"/>
              </a:rPr>
              <a:t># naming, tagging </a:t>
            </a:r>
            <a:pPr algn="l" indent="0" marL="0">
              <a:lnSpc>
                <a:spcPct val="162000"/>
              </a:lnSpc>
              <a:buNone/>
            </a:pPr>
            <a:r>
              <a:rPr lang="en-US" sz="1275" dirty="0">
                <a:solidFill>
                  <a:srgbClr val="F2ECE0"/>
                </a:solidFill>
                <a:latin typeface="Courier New" pitchFamily="34" charset="0"/>
                <a:ea typeface="Courier New" pitchFamily="34" charset="-122"/>
                <a:cs typeface="Courier New" pitchFamily="34" charset="-120"/>
              </a:rPr>
              <a:t>terragrunt-conventions.md </a:t>
            </a:r>
            <a:pPr algn="l" indent="0" marL="0">
              <a:lnSpc>
                <a:spcPct val="162000"/>
              </a:lnSpc>
              <a:buNone/>
            </a:pPr>
            <a:r>
              <a:rPr lang="en-US" sz="1275" dirty="0">
                <a:solidFill>
                  <a:srgbClr val="9C9584"/>
                </a:solidFill>
                <a:latin typeface="Courier New" pitchFamily="34" charset="0"/>
                <a:ea typeface="Courier New" pitchFamily="34" charset="-122"/>
                <a:cs typeface="Courier New" pitchFamily="34" charset="-120"/>
              </a:rPr>
              <a:t># DRY IaC layout </a:t>
            </a:r>
            <a:pPr algn="l" indent="0" marL="0">
              <a:lnSpc>
                <a:spcPct val="162000"/>
              </a:lnSpc>
              <a:buNone/>
            </a:pPr>
            <a:r>
              <a:rPr lang="en-US" sz="1275" dirty="0">
                <a:solidFill>
                  <a:srgbClr val="F2ECE0"/>
                </a:solidFill>
                <a:latin typeface="Courier New" pitchFamily="34" charset="0"/>
                <a:ea typeface="Courier New" pitchFamily="34" charset="-122"/>
                <a:cs typeface="Courier New" pitchFamily="34" charset="-120"/>
              </a:rPr>
              <a:t>gitlab-ci-conventions.md  </a:t>
            </a:r>
            <a:pPr algn="l" indent="0" marL="0">
              <a:lnSpc>
                <a:spcPct val="162000"/>
              </a:lnSpc>
              <a:buNone/>
            </a:pPr>
            <a:r>
              <a:rPr lang="en-US" sz="1275" dirty="0">
                <a:solidFill>
                  <a:srgbClr val="9C9584"/>
                </a:solidFill>
                <a:latin typeface="Courier New" pitchFamily="34" charset="0"/>
                <a:ea typeface="Courier New" pitchFamily="34" charset="-122"/>
                <a:cs typeface="Courier New" pitchFamily="34" charset="-120"/>
              </a:rPr>
              <a:t># Vault auth, stages </a:t>
            </a:r>
            <a:pPr algn="l" indent="0" marL="0">
              <a:lnSpc>
                <a:spcPct val="162000"/>
              </a:lnSpc>
              <a:buNone/>
            </a:pPr>
            <a:r>
              <a:rPr lang="en-US" sz="1275" dirty="0">
                <a:solidFill>
                  <a:srgbClr val="F2ECE0"/>
                </a:solidFill>
                <a:latin typeface="Courier New" pitchFamily="34" charset="0"/>
                <a:ea typeface="Courier New" pitchFamily="34" charset="-122"/>
                <a:cs typeface="Courier New" pitchFamily="34" charset="-120"/>
              </a:rPr>
              <a:t>gitops-workflow.md        </a:t>
            </a:r>
            <a:pPr algn="l" indent="0" marL="0">
              <a:lnSpc>
                <a:spcPct val="162000"/>
              </a:lnSpc>
              <a:buNone/>
            </a:pPr>
            <a:r>
              <a:rPr lang="en-US" sz="1275" dirty="0">
                <a:solidFill>
                  <a:srgbClr val="9C9584"/>
                </a:solidFill>
                <a:latin typeface="Courier New" pitchFamily="34" charset="0"/>
                <a:ea typeface="Courier New" pitchFamily="34" charset="-122"/>
                <a:cs typeface="Courier New" pitchFamily="34" charset="-120"/>
              </a:rPr>
              <a:t># branch + MR flow </a:t>
            </a:r>
            <a:pPr algn="l" indent="0" marL="0">
              <a:lnSpc>
                <a:spcPct val="162000"/>
              </a:lnSpc>
              <a:buNone/>
            </a:pPr>
            <a:r>
              <a:rPr lang="en-US" sz="1275" dirty="0">
                <a:solidFill>
                  <a:srgbClr val="F2ECE0"/>
                </a:solidFill>
                <a:latin typeface="Courier New" pitchFamily="34" charset="0"/>
                <a:ea typeface="Courier New" pitchFamily="34" charset="-122"/>
                <a:cs typeface="Courier New" pitchFamily="34" charset="-120"/>
              </a:rPr>
              <a:t>secrets-handling.md       </a:t>
            </a:r>
            <a:pPr algn="l" indent="0" marL="0">
              <a:lnSpc>
                <a:spcPct val="162000"/>
              </a:lnSpc>
              <a:buNone/>
            </a:pPr>
            <a:r>
              <a:rPr lang="en-US" sz="1275" dirty="0">
                <a:solidFill>
                  <a:srgbClr val="9C9584"/>
                </a:solidFill>
                <a:latin typeface="Courier New" pitchFamily="34" charset="0"/>
                <a:ea typeface="Courier New" pitchFamily="34" charset="-122"/>
                <a:cs typeface="Courier New" pitchFamily="34" charset="-120"/>
              </a:rPr>
              <a:t># Vault-only, masked </a:t>
            </a:r>
            <a:pPr algn="l" indent="0" marL="0">
              <a:lnSpc>
                <a:spcPct val="162000"/>
              </a:lnSpc>
              <a:buNone/>
            </a:pPr>
            <a:r>
              <a:rPr lang="en-US" sz="1275" dirty="0">
                <a:solidFill>
                  <a:srgbClr val="F2ECE0"/>
                </a:solidFill>
                <a:latin typeface="Courier New" pitchFamily="34" charset="0"/>
                <a:ea typeface="Courier New" pitchFamily="34" charset="-122"/>
                <a:cs typeface="Courier New" pitchFamily="34" charset="-120"/>
              </a:rPr>
              <a:t>development-workflow.md    </a:t>
            </a:r>
            <a:pPr algn="l" indent="0" marL="0">
              <a:lnSpc>
                <a:spcPct val="162000"/>
              </a:lnSpc>
              <a:buNone/>
            </a:pPr>
            <a:r>
              <a:rPr lang="en-US" sz="1275" dirty="0">
                <a:solidFill>
                  <a:srgbClr val="9C9584"/>
                </a:solidFill>
                <a:latin typeface="Courier New" pitchFamily="34" charset="0"/>
                <a:ea typeface="Courier New" pitchFamily="34" charset="-122"/>
                <a:cs typeface="Courier New" pitchFamily="34" charset="-120"/>
              </a:rPr>
              <a:t># human gates </a:t>
            </a:r>
            <a:pPr algn="l" indent="0" marL="0">
              <a:lnSpc>
                <a:spcPct val="162000"/>
              </a:lnSpc>
              <a:buNone/>
            </a:pPr>
            <a:r>
              <a:rPr lang="en-US" sz="1275" dirty="0">
                <a:solidFill>
                  <a:srgbClr val="F2ECE0"/>
                </a:solidFill>
                <a:latin typeface="Courier New" pitchFamily="34" charset="0"/>
                <a:ea typeface="Courier New" pitchFamily="34" charset="-122"/>
                <a:cs typeface="Courier New" pitchFamily="34" charset="-120"/>
              </a:rPr>
              <a:t>powerpipe-verification.md </a:t>
            </a:r>
            <a:pPr algn="l" indent="0" marL="0">
              <a:lnSpc>
                <a:spcPct val="162000"/>
              </a:lnSpc>
              <a:buNone/>
            </a:pPr>
            <a:r>
              <a:rPr lang="en-US" sz="1275" dirty="0">
                <a:solidFill>
                  <a:srgbClr val="C05F38"/>
                </a:solidFill>
                <a:latin typeface="Courier New" pitchFamily="34" charset="0"/>
                <a:ea typeface="Courier New" pitchFamily="34" charset="-122"/>
                <a:cs typeface="Courier New" pitchFamily="34" charset="-120"/>
              </a:rPr>
              <a:t># run dashboard list </a:t>
            </a:r>
            <a:pPr algn="l" indent="0" marL="0">
              <a:lnSpc>
                <a:spcPct val="162000"/>
              </a:lnSpc>
              <a:buNone/>
            </a:pPr>
            <a:r>
              <a:rPr lang="en-US" sz="1275" dirty="0">
                <a:solidFill>
                  <a:srgbClr val="F2ECE0"/>
                </a:solidFill>
                <a:latin typeface="Courier New" pitchFamily="34" charset="0"/>
                <a:ea typeface="Courier New" pitchFamily="34" charset="-122"/>
                <a:cs typeface="Courier New" pitchFamily="34" charset="-120"/>
              </a:rPr>
              <a:t>pilot-deployment-lessons.md </a:t>
            </a:r>
            <a:pPr algn="l" indent="0" marL="0">
              <a:lnSpc>
                <a:spcPct val="162000"/>
              </a:lnSpc>
              <a:buNone/>
            </a:pPr>
            <a:r>
              <a:rPr lang="en-US" sz="1275" dirty="0">
                <a:solidFill>
                  <a:srgbClr val="9C9584"/>
                </a:solidFill>
                <a:latin typeface="Courier New" pitchFamily="34" charset="0"/>
                <a:ea typeface="Courier New" pitchFamily="34" charset="-122"/>
                <a:cs typeface="Courier New" pitchFamily="34" charset="-120"/>
              </a:rPr>
              <a:t># hard-won</a:t>
            </a:r>
            <a:endParaRPr lang="en-US" sz="1275" dirty="0"/>
          </a:p>
        </p:txBody>
      </p:sp>
      <p:sp>
        <p:nvSpPr>
          <p:cNvPr id="17" name="Text 15"/>
          <p:cNvSpPr/>
          <p:nvPr/>
        </p:nvSpPr>
        <p:spPr>
          <a:xfrm>
            <a:off x="16953309" y="9515475"/>
            <a:ext cx="344091" cy="276225"/>
          </a:xfrm>
          <a:prstGeom prst="rect">
            <a:avLst/>
          </a:prstGeom>
          <a:noFill/>
          <a:ln/>
        </p:spPr>
        <p:txBody>
          <a:bodyPr wrap="square" lIns="25400" tIns="25400" rIns="25400" bIns="25400" rtlCol="0" anchor="t">
            <a:normAutofit/>
          </a:bodyPr>
          <a:lstStyle/>
          <a:p>
            <a:pPr algn="l" indent="0" marL="0">
              <a:buNone/>
            </a:pPr>
            <a:r>
              <a:rPr lang="en-US" sz="1425" spc="200" kern="0" dirty="0">
                <a:solidFill>
                  <a:srgbClr val="6E6656"/>
                </a:solidFill>
                <a:latin typeface="Courier New" pitchFamily="34" charset="0"/>
                <a:ea typeface="Courier New" pitchFamily="34" charset="-122"/>
                <a:cs typeface="Courier New" pitchFamily="34" charset="-120"/>
              </a:rPr>
              <a:t>06</a:t>
            </a:r>
            <a:endParaRPr lang="en-US" sz="142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ECE0"/>
        </a:solidFill>
      </p:bgPr>
    </p:bg>
    <p:spTree>
      <p:nvGrpSpPr>
        <p:cNvPr id="1" name=""/>
        <p:cNvGrpSpPr/>
        <p:nvPr/>
      </p:nvGrpSpPr>
      <p:grpSpPr>
        <a:xfrm>
          <a:off x="0" y="0"/>
          <a:ext cx="0" cy="0"/>
          <a:chOff x="0" y="0"/>
          <a:chExt cx="0" cy="0"/>
        </a:xfrm>
      </p:grpSpPr>
      <p:sp>
        <p:nvSpPr>
          <p:cNvPr id="2" name="Text 0"/>
          <p:cNvSpPr/>
          <p:nvPr/>
        </p:nvSpPr>
        <p:spPr>
          <a:xfrm>
            <a:off x="1066800" y="2755404"/>
            <a:ext cx="17769840" cy="276225"/>
          </a:xfrm>
          <a:prstGeom prst="rect">
            <a:avLst/>
          </a:prstGeom>
          <a:noFill/>
          <a:ln/>
        </p:spPr>
        <p:txBody>
          <a:bodyPr wrap="square" lIns="25400" tIns="25400" rIns="25400" bIns="25400" rtlCol="0" anchor="t">
            <a:normAutofit/>
          </a:bodyPr>
          <a:lstStyle/>
          <a:p>
            <a:pPr algn="l" indent="0" marL="0">
              <a:buNone/>
            </a:pPr>
            <a:r>
              <a:rPr lang="en-US" sz="1425" spc="342" kern="0" dirty="0">
                <a:solidFill>
                  <a:srgbClr val="C05F38"/>
                </a:solidFill>
                <a:latin typeface="Courier New" pitchFamily="34" charset="0"/>
                <a:ea typeface="Courier New" pitchFamily="34" charset="-122"/>
                <a:cs typeface="Courier New" pitchFamily="34" charset="-120"/>
              </a:rPr>
              <a:t>I · STEERING · IN PRACTICE</a:t>
            </a:r>
            <a:endParaRPr lang="en-US" sz="1425" dirty="0"/>
          </a:p>
        </p:txBody>
      </p:sp>
      <p:sp>
        <p:nvSpPr>
          <p:cNvPr id="3" name="Text 1"/>
          <p:cNvSpPr/>
          <p:nvPr/>
        </p:nvSpPr>
        <p:spPr>
          <a:xfrm>
            <a:off x="1066800" y="3241179"/>
            <a:ext cx="8380833" cy="1305818"/>
          </a:xfrm>
          <a:prstGeom prst="rect">
            <a:avLst/>
          </a:prstGeom>
          <a:noFill/>
          <a:ln/>
        </p:spPr>
        <p:txBody>
          <a:bodyPr wrap="square" lIns="25400" tIns="25400" rIns="25400" bIns="25400" rtlCol="0" anchor="t">
            <a:normAutofit/>
          </a:bodyPr>
          <a:lstStyle/>
          <a:p>
            <a:pPr algn="l" indent="0" marL="0">
              <a:lnSpc>
                <a:spcPct val="104000"/>
              </a:lnSpc>
              <a:buNone/>
            </a:pPr>
            <a:r>
              <a:rPr lang="en-US" sz="4800" b="1" spc="-72" kern="0" dirty="0">
                <a:solidFill>
                  <a:srgbClr val="1B1813"/>
                </a:solidFill>
                <a:latin typeface="Arial" pitchFamily="34" charset="0"/>
                <a:ea typeface="Arial" pitchFamily="34" charset="-122"/>
                <a:cs typeface="Arial" pitchFamily="34" charset="-120"/>
              </a:rPr>
              <a:t>Kyverno policies, enforced silently</a:t>
            </a:r>
            <a:endParaRPr lang="en-US" sz="4800" dirty="0"/>
          </a:p>
        </p:txBody>
      </p:sp>
      <p:sp>
        <p:nvSpPr>
          <p:cNvPr id="4" name="Shape 2"/>
          <p:cNvSpPr/>
          <p:nvPr/>
        </p:nvSpPr>
        <p:spPr>
          <a:xfrm>
            <a:off x="1066800" y="4966097"/>
            <a:ext cx="7210425" cy="1965424"/>
          </a:xfrm>
          <a:prstGeom prst="roundRect">
            <a:avLst>
              <a:gd name="adj" fmla="val 2908"/>
            </a:avLst>
          </a:prstGeom>
          <a:solidFill>
            <a:srgbClr val="E9E0CE"/>
          </a:solidFill>
          <a:ln w="9525">
            <a:solidFill>
              <a:srgbClr val="1B1813">
                <a:alpha val="13000"/>
              </a:srgbClr>
            </a:solidFill>
            <a:prstDash val="solid"/>
          </a:ln>
        </p:spPr>
      </p:sp>
      <p:sp>
        <p:nvSpPr>
          <p:cNvPr id="5" name="Text 3"/>
          <p:cNvSpPr/>
          <p:nvPr/>
        </p:nvSpPr>
        <p:spPr>
          <a:xfrm>
            <a:off x="1476375" y="5337572"/>
            <a:ext cx="7030403" cy="361950"/>
          </a:xfrm>
          <a:prstGeom prst="rect">
            <a:avLst/>
          </a:prstGeom>
          <a:noFill/>
          <a:ln/>
        </p:spPr>
        <p:txBody>
          <a:bodyPr wrap="square" lIns="25400" tIns="25400" rIns="25400" bIns="25400" rtlCol="0" anchor="t">
            <a:normAutofit/>
          </a:bodyPr>
          <a:lstStyle/>
          <a:p>
            <a:pPr algn="l" indent="0" marL="0">
              <a:buNone/>
            </a:pPr>
            <a:r>
              <a:rPr lang="en-US" sz="1875" spc="225" kern="0" dirty="0">
                <a:solidFill>
                  <a:srgbClr val="6E6656"/>
                </a:solidFill>
                <a:latin typeface="Courier New" pitchFamily="34" charset="0"/>
                <a:ea typeface="Courier New" pitchFamily="34" charset="-122"/>
                <a:cs typeface="Courier New" pitchFamily="34" charset="-120"/>
              </a:rPr>
              <a:t>WITHOUT STEERING</a:t>
            </a:r>
            <a:endParaRPr lang="en-US" sz="1875" dirty="0"/>
          </a:p>
        </p:txBody>
      </p:sp>
      <p:sp>
        <p:nvSpPr>
          <p:cNvPr id="6" name="Text 4"/>
          <p:cNvSpPr/>
          <p:nvPr/>
        </p:nvSpPr>
        <p:spPr>
          <a:xfrm>
            <a:off x="1476375" y="5870972"/>
            <a:ext cx="6583013" cy="727174"/>
          </a:xfrm>
          <a:prstGeom prst="rect">
            <a:avLst/>
          </a:prstGeom>
          <a:noFill/>
          <a:ln/>
        </p:spPr>
        <p:txBody>
          <a:bodyPr wrap="square" lIns="25400" tIns="25400" rIns="25400" bIns="25400" rtlCol="0" anchor="t">
            <a:normAutofit/>
          </a:bodyPr>
          <a:lstStyle/>
          <a:p>
            <a:pPr algn="l" indent="0" marL="0">
              <a:lnSpc>
                <a:spcPct val="134000"/>
              </a:lnSpc>
              <a:buNone/>
            </a:pPr>
            <a:r>
              <a:rPr lang="en-US" sz="2025" dirty="0">
                <a:solidFill>
                  <a:srgbClr val="1B1813"/>
                </a:solidFill>
                <a:latin typeface="Arial" pitchFamily="34" charset="0"/>
                <a:ea typeface="Arial" pitchFamily="34" charset="-122"/>
                <a:cs typeface="Arial" pitchFamily="34" charset="-120"/>
              </a:rPr>
              <a:t>Deployment ships without labels → Kyverno rejects it → we debug for </a:t>
            </a:r>
            <a:pPr algn="l" indent="0" marL="0">
              <a:lnSpc>
                <a:spcPct val="134000"/>
              </a:lnSpc>
              <a:buNone/>
            </a:pPr>
            <a:r>
              <a:rPr lang="en-US" sz="2025" b="1" dirty="0">
                <a:solidFill>
                  <a:srgbClr val="1B1813"/>
                </a:solidFill>
                <a:latin typeface="Arial" pitchFamily="34" charset="0"/>
                <a:ea typeface="Arial" pitchFamily="34" charset="-122"/>
                <a:cs typeface="Arial" pitchFamily="34" charset="-120"/>
              </a:rPr>
              <a:t>20 minutes</a:t>
            </a:r>
            <a:pPr algn="l" indent="0" marL="0">
              <a:lnSpc>
                <a:spcPct val="134000"/>
              </a:lnSpc>
              <a:buNone/>
            </a:pPr>
            <a:r>
              <a:rPr lang="en-US" sz="2025" dirty="0">
                <a:solidFill>
                  <a:srgbClr val="1B1813"/>
                </a:solidFill>
                <a:latin typeface="Arial" pitchFamily="34" charset="0"/>
                <a:ea typeface="Arial" pitchFamily="34" charset="-122"/>
                <a:cs typeface="Arial" pitchFamily="34" charset="-120"/>
              </a:rPr>
              <a:t>.</a:t>
            </a:r>
            <a:endParaRPr lang="en-US" sz="2025" dirty="0"/>
          </a:p>
        </p:txBody>
      </p:sp>
      <p:sp>
        <p:nvSpPr>
          <p:cNvPr id="7" name="Shape 5"/>
          <p:cNvSpPr/>
          <p:nvPr/>
        </p:nvSpPr>
        <p:spPr>
          <a:xfrm>
            <a:off x="8715375" y="4966097"/>
            <a:ext cx="7210425" cy="1965424"/>
          </a:xfrm>
          <a:prstGeom prst="roundRect">
            <a:avLst>
              <a:gd name="adj" fmla="val 2908"/>
            </a:avLst>
          </a:prstGeom>
          <a:solidFill>
            <a:srgbClr val="FFFFFF"/>
          </a:solidFill>
          <a:ln w="9525">
            <a:solidFill>
              <a:srgbClr val="7E9A66"/>
            </a:solidFill>
            <a:prstDash val="solid"/>
          </a:ln>
        </p:spPr>
      </p:sp>
      <p:sp>
        <p:nvSpPr>
          <p:cNvPr id="8" name="Text 6"/>
          <p:cNvSpPr/>
          <p:nvPr/>
        </p:nvSpPr>
        <p:spPr>
          <a:xfrm>
            <a:off x="9124950" y="5337572"/>
            <a:ext cx="7030403" cy="361950"/>
          </a:xfrm>
          <a:prstGeom prst="rect">
            <a:avLst/>
          </a:prstGeom>
          <a:noFill/>
          <a:ln/>
        </p:spPr>
        <p:txBody>
          <a:bodyPr wrap="square" lIns="25400" tIns="25400" rIns="25400" bIns="25400" rtlCol="0" anchor="t">
            <a:normAutofit/>
          </a:bodyPr>
          <a:lstStyle/>
          <a:p>
            <a:pPr algn="l" indent="0" marL="0">
              <a:buNone/>
            </a:pPr>
            <a:r>
              <a:rPr lang="en-US" sz="1875" spc="225" kern="0" dirty="0">
                <a:solidFill>
                  <a:srgbClr val="7E9A66"/>
                </a:solidFill>
                <a:latin typeface="Courier New" pitchFamily="34" charset="0"/>
                <a:ea typeface="Courier New" pitchFamily="34" charset="-122"/>
                <a:cs typeface="Courier New" pitchFamily="34" charset="-120"/>
              </a:rPr>
              <a:t>WITH STEERING</a:t>
            </a:r>
            <a:endParaRPr lang="en-US" sz="1875" dirty="0"/>
          </a:p>
        </p:txBody>
      </p:sp>
      <p:sp>
        <p:nvSpPr>
          <p:cNvPr id="9" name="Text 7"/>
          <p:cNvSpPr/>
          <p:nvPr/>
        </p:nvSpPr>
        <p:spPr>
          <a:xfrm>
            <a:off x="9124950" y="5870972"/>
            <a:ext cx="6583013" cy="727174"/>
          </a:xfrm>
          <a:prstGeom prst="rect">
            <a:avLst/>
          </a:prstGeom>
          <a:noFill/>
          <a:ln/>
        </p:spPr>
        <p:txBody>
          <a:bodyPr wrap="square" lIns="25400" tIns="25400" rIns="25400" bIns="25400" rtlCol="0" anchor="t">
            <a:normAutofit/>
          </a:bodyPr>
          <a:lstStyle/>
          <a:p>
            <a:pPr algn="l" indent="0" marL="0">
              <a:lnSpc>
                <a:spcPct val="134000"/>
              </a:lnSpc>
              <a:buNone/>
            </a:pPr>
            <a:r>
              <a:rPr lang="en-US" sz="2025" dirty="0">
                <a:solidFill>
                  <a:srgbClr val="1B1813"/>
                </a:solidFill>
                <a:latin typeface="Arial" pitchFamily="34" charset="0"/>
                <a:ea typeface="Arial" pitchFamily="34" charset="-122"/>
                <a:cs typeface="Arial" pitchFamily="34" charset="-120"/>
              </a:rPr>
              <a:t>Mandatory labels and </a:t>
            </a:r>
            <a:pPr algn="l" indent="0" marL="0">
              <a:lnSpc>
                <a:spcPct val="134000"/>
              </a:lnSpc>
              <a:buNone/>
            </a:pPr>
            <a:r>
              <a:rPr lang="en-US" sz="1650" dirty="0">
                <a:solidFill>
                  <a:srgbClr val="1B1813"/>
                </a:solidFill>
                <a:latin typeface="Courier New" pitchFamily="34" charset="0"/>
                <a:ea typeface="Courier New" pitchFamily="34" charset="-122"/>
                <a:cs typeface="Courier New" pitchFamily="34" charset="-120"/>
              </a:rPr>
              <a:t>runAsUser: 1000 </a:t>
            </a:r>
            <a:pPr algn="l" indent="0" marL="0">
              <a:lnSpc>
                <a:spcPct val="134000"/>
              </a:lnSpc>
              <a:buNone/>
            </a:pPr>
            <a:r>
              <a:rPr lang="en-US" sz="2025" dirty="0">
                <a:solidFill>
                  <a:srgbClr val="1B1813"/>
                </a:solidFill>
                <a:latin typeface="Arial" pitchFamily="34" charset="0"/>
                <a:ea typeface="Arial" pitchFamily="34" charset="-122"/>
                <a:cs typeface="Arial" pitchFamily="34" charset="-120"/>
              </a:rPr>
              <a:t>included automatically — every time.</a:t>
            </a:r>
            <a:endParaRPr lang="en-US" sz="2025" dirty="0"/>
          </a:p>
        </p:txBody>
      </p:sp>
      <p:sp>
        <p:nvSpPr>
          <p:cNvPr id="10" name="Text 8"/>
          <p:cNvSpPr/>
          <p:nvPr/>
        </p:nvSpPr>
        <p:spPr>
          <a:xfrm>
            <a:off x="1066800" y="7350621"/>
            <a:ext cx="202406" cy="314325"/>
          </a:xfrm>
          <a:prstGeom prst="rect">
            <a:avLst/>
          </a:prstGeom>
          <a:noFill/>
          <a:ln/>
        </p:spPr>
        <p:txBody>
          <a:bodyPr wrap="square" lIns="25400" tIns="25400" rIns="25400" bIns="25400" rtlCol="0" anchor="t">
            <a:normAutofit/>
          </a:bodyPr>
          <a:lstStyle/>
          <a:p>
            <a:pPr algn="l" indent="0" marL="0">
              <a:buNone/>
            </a:pPr>
            <a:r>
              <a:rPr lang="en-US" sz="1650" dirty="0">
                <a:solidFill>
                  <a:srgbClr val="7E9A66"/>
                </a:solidFill>
                <a:latin typeface="Courier New" pitchFamily="34" charset="0"/>
                <a:ea typeface="Courier New" pitchFamily="34" charset="-122"/>
                <a:cs typeface="Courier New" pitchFamily="34" charset="-120"/>
              </a:rPr>
              <a:t>✓</a:t>
            </a:r>
            <a:endParaRPr lang="en-US" sz="1650" dirty="0"/>
          </a:p>
        </p:txBody>
      </p:sp>
      <p:sp>
        <p:nvSpPr>
          <p:cNvPr id="11" name="Text 9"/>
          <p:cNvSpPr/>
          <p:nvPr/>
        </p:nvSpPr>
        <p:spPr>
          <a:xfrm>
            <a:off x="1326356" y="7350621"/>
            <a:ext cx="3755678" cy="314325"/>
          </a:xfrm>
          <a:prstGeom prst="rect">
            <a:avLst/>
          </a:prstGeom>
          <a:noFill/>
          <a:ln/>
        </p:spPr>
        <p:txBody>
          <a:bodyPr wrap="square" lIns="0" tIns="0" rIns="0" bIns="0" rtlCol="0" anchor="t">
            <a:normAutofit/>
          </a:bodyPr>
          <a:lstStyle/>
          <a:p>
            <a:pPr algn="l" indent="0" marL="0">
              <a:buNone/>
            </a:pPr>
            <a:r>
              <a:rPr lang="en-US" sz="1650" dirty="0">
                <a:solidFill>
                  <a:srgbClr val="1B1813"/>
                </a:solidFill>
                <a:latin typeface="Courier New" pitchFamily="34" charset="0"/>
                <a:ea typeface="Courier New" pitchFamily="34" charset="-122"/>
                <a:cs typeface="Courier New" pitchFamily="34" charset="-120"/>
              </a:rPr>
              <a:t>Zero Kyverno rejections since</a:t>
            </a:r>
            <a:endParaRPr lang="en-US" sz="1650" dirty="0"/>
          </a:p>
        </p:txBody>
      </p:sp>
      <p:sp>
        <p:nvSpPr>
          <p:cNvPr id="12" name="Text 10"/>
          <p:cNvSpPr/>
          <p:nvPr/>
        </p:nvSpPr>
        <p:spPr>
          <a:xfrm>
            <a:off x="5506045" y="7350621"/>
            <a:ext cx="202406" cy="314325"/>
          </a:xfrm>
          <a:prstGeom prst="rect">
            <a:avLst/>
          </a:prstGeom>
          <a:noFill/>
          <a:ln/>
        </p:spPr>
        <p:txBody>
          <a:bodyPr wrap="square" lIns="25400" tIns="25400" rIns="25400" bIns="25400" rtlCol="0" anchor="t">
            <a:normAutofit/>
          </a:bodyPr>
          <a:lstStyle/>
          <a:p>
            <a:pPr algn="l" indent="0" marL="0">
              <a:buNone/>
            </a:pPr>
            <a:r>
              <a:rPr lang="en-US" sz="1650" dirty="0">
                <a:solidFill>
                  <a:srgbClr val="7E9A66"/>
                </a:solidFill>
                <a:latin typeface="Courier New" pitchFamily="34" charset="0"/>
                <a:ea typeface="Courier New" pitchFamily="34" charset="-122"/>
                <a:cs typeface="Courier New" pitchFamily="34" charset="-120"/>
              </a:rPr>
              <a:t>✓</a:t>
            </a:r>
            <a:endParaRPr lang="en-US" sz="1650" dirty="0"/>
          </a:p>
        </p:txBody>
      </p:sp>
      <p:sp>
        <p:nvSpPr>
          <p:cNvPr id="13" name="Text 11"/>
          <p:cNvSpPr/>
          <p:nvPr/>
        </p:nvSpPr>
        <p:spPr>
          <a:xfrm>
            <a:off x="5765602" y="7350621"/>
            <a:ext cx="3108168" cy="314325"/>
          </a:xfrm>
          <a:prstGeom prst="rect">
            <a:avLst/>
          </a:prstGeom>
          <a:noFill/>
          <a:ln/>
        </p:spPr>
        <p:txBody>
          <a:bodyPr wrap="square" lIns="0" tIns="0" rIns="0" bIns="0" rtlCol="0" anchor="t">
            <a:normAutofit/>
          </a:bodyPr>
          <a:lstStyle/>
          <a:p>
            <a:pPr algn="l" indent="0" marL="0">
              <a:buNone/>
            </a:pPr>
            <a:r>
              <a:rPr lang="en-US" sz="1650" dirty="0">
                <a:solidFill>
                  <a:srgbClr val="1B1813"/>
                </a:solidFill>
                <a:latin typeface="Courier New" pitchFamily="34" charset="0"/>
                <a:ea typeface="Courier New" pitchFamily="34" charset="-122"/>
                <a:cs typeface="Courier New" pitchFamily="34" charset="-120"/>
              </a:rPr>
              <a:t>Consistent branch naming</a:t>
            </a:r>
            <a:endParaRPr lang="en-US" sz="1650" dirty="0"/>
          </a:p>
        </p:txBody>
      </p:sp>
      <p:sp>
        <p:nvSpPr>
          <p:cNvPr id="14" name="Text 12"/>
          <p:cNvSpPr/>
          <p:nvPr/>
        </p:nvSpPr>
        <p:spPr>
          <a:xfrm>
            <a:off x="9316641" y="7350621"/>
            <a:ext cx="202406" cy="314325"/>
          </a:xfrm>
          <a:prstGeom prst="rect">
            <a:avLst/>
          </a:prstGeom>
          <a:noFill/>
          <a:ln/>
        </p:spPr>
        <p:txBody>
          <a:bodyPr wrap="square" lIns="25400" tIns="25400" rIns="25400" bIns="25400" rtlCol="0" anchor="t">
            <a:normAutofit/>
          </a:bodyPr>
          <a:lstStyle/>
          <a:p>
            <a:pPr algn="l" indent="0" marL="0">
              <a:buNone/>
            </a:pPr>
            <a:r>
              <a:rPr lang="en-US" sz="1650" dirty="0">
                <a:solidFill>
                  <a:srgbClr val="7E9A66"/>
                </a:solidFill>
                <a:latin typeface="Courier New" pitchFamily="34" charset="0"/>
                <a:ea typeface="Courier New" pitchFamily="34" charset="-122"/>
                <a:cs typeface="Courier New" pitchFamily="34" charset="-120"/>
              </a:rPr>
              <a:t>✓</a:t>
            </a:r>
            <a:endParaRPr lang="en-US" sz="1650" dirty="0"/>
          </a:p>
        </p:txBody>
      </p:sp>
      <p:sp>
        <p:nvSpPr>
          <p:cNvPr id="15" name="Text 13"/>
          <p:cNvSpPr/>
          <p:nvPr/>
        </p:nvSpPr>
        <p:spPr>
          <a:xfrm>
            <a:off x="9576197" y="7350621"/>
            <a:ext cx="3626145" cy="314325"/>
          </a:xfrm>
          <a:prstGeom prst="rect">
            <a:avLst/>
          </a:prstGeom>
          <a:noFill/>
          <a:ln/>
        </p:spPr>
        <p:txBody>
          <a:bodyPr wrap="square" lIns="0" tIns="0" rIns="0" bIns="0" rtlCol="0" anchor="t">
            <a:normAutofit/>
          </a:bodyPr>
          <a:lstStyle/>
          <a:p>
            <a:pPr algn="l" indent="0" marL="0">
              <a:buNone/>
            </a:pPr>
            <a:r>
              <a:rPr lang="en-US" sz="1650" dirty="0">
                <a:solidFill>
                  <a:srgbClr val="1B1813"/>
                </a:solidFill>
                <a:latin typeface="Courier New" pitchFamily="34" charset="0"/>
                <a:ea typeface="Courier New" pitchFamily="34" charset="-122"/>
                <a:cs typeface="Courier New" pitchFamily="34" charset="-120"/>
              </a:rPr>
              <a:t>No accidental pushes to main</a:t>
            </a:r>
            <a:endParaRPr lang="en-US" sz="1650" dirty="0"/>
          </a:p>
        </p:txBody>
      </p:sp>
      <p:sp>
        <p:nvSpPr>
          <p:cNvPr id="16" name="Text 14"/>
          <p:cNvSpPr/>
          <p:nvPr/>
        </p:nvSpPr>
        <p:spPr>
          <a:xfrm>
            <a:off x="16953309" y="9515475"/>
            <a:ext cx="344091" cy="276225"/>
          </a:xfrm>
          <a:prstGeom prst="rect">
            <a:avLst/>
          </a:prstGeom>
          <a:noFill/>
          <a:ln/>
        </p:spPr>
        <p:txBody>
          <a:bodyPr wrap="square" lIns="25400" tIns="25400" rIns="25400" bIns="25400" rtlCol="0" anchor="t">
            <a:normAutofit/>
          </a:bodyPr>
          <a:lstStyle/>
          <a:p>
            <a:pPr algn="l" indent="0" marL="0">
              <a:buNone/>
            </a:pPr>
            <a:r>
              <a:rPr lang="en-US" sz="1425" spc="200" kern="0" dirty="0">
                <a:solidFill>
                  <a:srgbClr val="6E6656"/>
                </a:solidFill>
                <a:latin typeface="Courier New" pitchFamily="34" charset="0"/>
                <a:ea typeface="Courier New" pitchFamily="34" charset="-122"/>
                <a:cs typeface="Courier New" pitchFamily="34" charset="-120"/>
              </a:rPr>
              <a:t>07</a:t>
            </a:r>
            <a:endParaRPr lang="en-US" sz="142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B1813"/>
        </a:solidFill>
      </p:bgPr>
    </p:bg>
    <p:spTree>
      <p:nvGrpSpPr>
        <p:cNvPr id="1" name=""/>
        <p:cNvGrpSpPr/>
        <p:nvPr/>
      </p:nvGrpSpPr>
      <p:grpSpPr>
        <a:xfrm>
          <a:off x="0" y="0"/>
          <a:ext cx="0" cy="0"/>
          <a:chOff x="0" y="0"/>
          <a:chExt cx="0" cy="0"/>
        </a:xfrm>
      </p:grpSpPr>
      <p:sp>
        <p:nvSpPr>
          <p:cNvPr id="2" name="Text 0"/>
          <p:cNvSpPr/>
          <p:nvPr/>
        </p:nvSpPr>
        <p:spPr>
          <a:xfrm>
            <a:off x="1066800" y="3074194"/>
            <a:ext cx="17769840" cy="276225"/>
          </a:xfrm>
          <a:prstGeom prst="rect">
            <a:avLst/>
          </a:prstGeom>
          <a:noFill/>
          <a:ln/>
        </p:spPr>
        <p:txBody>
          <a:bodyPr wrap="square" lIns="25400" tIns="25400" rIns="25400" bIns="25400" rtlCol="0" anchor="t">
            <a:normAutofit/>
          </a:bodyPr>
          <a:lstStyle/>
          <a:p>
            <a:pPr algn="l" indent="0" marL="0">
              <a:buNone/>
            </a:pPr>
            <a:r>
              <a:rPr lang="en-US" sz="1425" spc="342" kern="0" dirty="0">
                <a:solidFill>
                  <a:srgbClr val="C05F38"/>
                </a:solidFill>
                <a:latin typeface="Courier New" pitchFamily="34" charset="0"/>
                <a:ea typeface="Courier New" pitchFamily="34" charset="-122"/>
                <a:cs typeface="Courier New" pitchFamily="34" charset="-120"/>
              </a:rPr>
              <a:t>II · SKILLS</a:t>
            </a:r>
            <a:endParaRPr lang="en-US" sz="1425" dirty="0"/>
          </a:p>
        </p:txBody>
      </p:sp>
      <p:sp>
        <p:nvSpPr>
          <p:cNvPr id="3" name="Text 1"/>
          <p:cNvSpPr/>
          <p:nvPr/>
        </p:nvSpPr>
        <p:spPr>
          <a:xfrm>
            <a:off x="1066800" y="3655219"/>
            <a:ext cx="9603038" cy="1747838"/>
          </a:xfrm>
          <a:prstGeom prst="rect">
            <a:avLst/>
          </a:prstGeom>
          <a:noFill/>
          <a:ln/>
        </p:spPr>
        <p:txBody>
          <a:bodyPr wrap="square" lIns="25400" tIns="25400" rIns="25400" bIns="25400" rtlCol="0" anchor="t">
            <a:normAutofit/>
          </a:bodyPr>
          <a:lstStyle/>
          <a:p>
            <a:pPr algn="l" indent="0" marL="0">
              <a:lnSpc>
                <a:spcPct val="102000"/>
              </a:lnSpc>
              <a:buNone/>
            </a:pPr>
            <a:r>
              <a:rPr lang="en-US" sz="6600" b="1" spc="-132" kern="0" dirty="0">
                <a:solidFill>
                  <a:srgbClr val="F2ECE0"/>
                </a:solidFill>
                <a:latin typeface="Arial" pitchFamily="34" charset="0"/>
                <a:ea typeface="Arial" pitchFamily="34" charset="-122"/>
                <a:cs typeface="Arial" pitchFamily="34" charset="-120"/>
              </a:rPr>
              <a:t>Teach kiro what it doesn't know.</a:t>
            </a:r>
            <a:endParaRPr lang="en-US" sz="6600" dirty="0"/>
          </a:p>
        </p:txBody>
      </p:sp>
      <p:sp>
        <p:nvSpPr>
          <p:cNvPr id="4" name="Text 2"/>
          <p:cNvSpPr/>
          <p:nvPr/>
        </p:nvSpPr>
        <p:spPr>
          <a:xfrm>
            <a:off x="1066800" y="5822156"/>
            <a:ext cx="12575389" cy="1524000"/>
          </a:xfrm>
          <a:prstGeom prst="rect">
            <a:avLst/>
          </a:prstGeom>
          <a:noFill/>
          <a:ln/>
        </p:spPr>
        <p:txBody>
          <a:bodyPr wrap="square" lIns="25400" tIns="25400" rIns="25400" bIns="25400" rtlCol="0" anchor="t">
            <a:normAutofit/>
          </a:bodyPr>
          <a:lstStyle/>
          <a:p>
            <a:pPr algn="l" indent="0" marL="0">
              <a:lnSpc>
                <a:spcPct val="130000"/>
              </a:lnSpc>
              <a:buNone/>
            </a:pPr>
            <a:r>
              <a:rPr lang="en-US" sz="1875" dirty="0">
                <a:solidFill>
                  <a:srgbClr val="C05F38"/>
                </a:solidFill>
                <a:latin typeface="Courier New" pitchFamily="34" charset="0"/>
                <a:ea typeface="Courier New" pitchFamily="34" charset="-122"/>
                <a:cs typeface="Courier New" pitchFamily="34" charset="-120"/>
              </a:rPr>
              <a:t>PROBLEM → </a:t>
            </a:r>
            <a:pPr algn="l" indent="0" marL="0">
              <a:lnSpc>
                <a:spcPct val="130000"/>
              </a:lnSpc>
              <a:buNone/>
            </a:pPr>
            <a:r>
              <a:rPr lang="en-US" sz="3000" dirty="0">
                <a:solidFill>
                  <a:srgbClr val="9C9584"/>
                </a:solidFill>
                <a:latin typeface="Arial" pitchFamily="34" charset="0"/>
                <a:ea typeface="Arial" pitchFamily="34" charset="-122"/>
                <a:cs typeface="Arial" pitchFamily="34" charset="-120"/>
              </a:rPr>
              <a:t>Powerpipe HCL, Steampipe's Postgres mode, our CI architecture, FinOps formulas — all niche. Left alone, the model hallucinated them.</a:t>
            </a:r>
            <a:endParaRPr lang="en-US" sz="3000" dirty="0"/>
          </a:p>
        </p:txBody>
      </p:sp>
      <p:sp>
        <p:nvSpPr>
          <p:cNvPr id="5" name="Text 3"/>
          <p:cNvSpPr/>
          <p:nvPr/>
        </p:nvSpPr>
        <p:spPr>
          <a:xfrm>
            <a:off x="16953309" y="9515475"/>
            <a:ext cx="344091" cy="276225"/>
          </a:xfrm>
          <a:prstGeom prst="rect">
            <a:avLst/>
          </a:prstGeom>
          <a:noFill/>
          <a:ln/>
        </p:spPr>
        <p:txBody>
          <a:bodyPr wrap="square" lIns="25400" tIns="25400" rIns="25400" bIns="25400" rtlCol="0" anchor="t">
            <a:normAutofit/>
          </a:bodyPr>
          <a:lstStyle/>
          <a:p>
            <a:pPr algn="l" indent="0" marL="0">
              <a:buNone/>
            </a:pPr>
            <a:r>
              <a:rPr lang="en-US" sz="1425" spc="200" kern="0" dirty="0">
                <a:solidFill>
                  <a:srgbClr val="9C9584"/>
                </a:solidFill>
                <a:latin typeface="Courier New" pitchFamily="34" charset="0"/>
                <a:ea typeface="Courier New" pitchFamily="34" charset="-122"/>
                <a:cs typeface="Courier New" pitchFamily="34" charset="-120"/>
              </a:rPr>
              <a:t>08</a:t>
            </a:r>
            <a:endParaRPr lang="en-US" sz="142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ECE0"/>
        </a:solidFill>
      </p:bgPr>
    </p:bg>
    <p:spTree>
      <p:nvGrpSpPr>
        <p:cNvPr id="1" name=""/>
        <p:cNvGrpSpPr/>
        <p:nvPr/>
      </p:nvGrpSpPr>
      <p:grpSpPr>
        <a:xfrm>
          <a:off x="0" y="0"/>
          <a:ext cx="0" cy="0"/>
          <a:chOff x="0" y="0"/>
          <a:chExt cx="0" cy="0"/>
        </a:xfrm>
      </p:grpSpPr>
      <p:sp>
        <p:nvSpPr>
          <p:cNvPr id="2" name="Text 0"/>
          <p:cNvSpPr/>
          <p:nvPr/>
        </p:nvSpPr>
        <p:spPr>
          <a:xfrm>
            <a:off x="1066800" y="2939802"/>
            <a:ext cx="9639300" cy="276225"/>
          </a:xfrm>
          <a:prstGeom prst="rect">
            <a:avLst/>
          </a:prstGeom>
          <a:noFill/>
          <a:ln/>
        </p:spPr>
        <p:txBody>
          <a:bodyPr wrap="square" lIns="25400" tIns="25400" rIns="25400" bIns="25400" rtlCol="0" anchor="t">
            <a:normAutofit/>
          </a:bodyPr>
          <a:lstStyle/>
          <a:p>
            <a:pPr algn="l" indent="0" marL="0">
              <a:buNone/>
            </a:pPr>
            <a:r>
              <a:rPr lang="en-US" sz="1425" spc="342" kern="0" dirty="0">
                <a:solidFill>
                  <a:srgbClr val="C05F38"/>
                </a:solidFill>
                <a:latin typeface="Courier New" pitchFamily="34" charset="0"/>
                <a:ea typeface="Courier New" pitchFamily="34" charset="-122"/>
                <a:cs typeface="Courier New" pitchFamily="34" charset="-120"/>
              </a:rPr>
              <a:t>II · SKILLS · THE FIX</a:t>
            </a:r>
            <a:endParaRPr lang="en-US" sz="1425" dirty="0"/>
          </a:p>
        </p:txBody>
      </p:sp>
      <p:sp>
        <p:nvSpPr>
          <p:cNvPr id="3" name="Text 1"/>
          <p:cNvSpPr/>
          <p:nvPr/>
        </p:nvSpPr>
        <p:spPr>
          <a:xfrm>
            <a:off x="1066800" y="3425577"/>
            <a:ext cx="5238021" cy="1305818"/>
          </a:xfrm>
          <a:prstGeom prst="rect">
            <a:avLst/>
          </a:prstGeom>
          <a:noFill/>
          <a:ln/>
        </p:spPr>
        <p:txBody>
          <a:bodyPr wrap="square" lIns="25400" tIns="25400" rIns="25400" bIns="25400" rtlCol="0" anchor="t">
            <a:normAutofit/>
          </a:bodyPr>
          <a:lstStyle/>
          <a:p>
            <a:pPr algn="l" indent="0" marL="0">
              <a:lnSpc>
                <a:spcPct val="104000"/>
              </a:lnSpc>
              <a:buNone/>
            </a:pPr>
            <a:r>
              <a:rPr lang="en-US" sz="4800" b="1" spc="-72" kern="0" dirty="0">
                <a:solidFill>
                  <a:srgbClr val="1B1813"/>
                </a:solidFill>
                <a:latin typeface="Arial" pitchFamily="34" charset="0"/>
                <a:ea typeface="Arial" pitchFamily="34" charset="-122"/>
                <a:cs typeface="Arial" pitchFamily="34" charset="-120"/>
              </a:rPr>
              <a:t>Knowledge loaded on demand</a:t>
            </a:r>
            <a:endParaRPr lang="en-US" sz="4800" dirty="0"/>
          </a:p>
        </p:txBody>
      </p:sp>
      <p:sp>
        <p:nvSpPr>
          <p:cNvPr id="4" name="Text 2"/>
          <p:cNvSpPr/>
          <p:nvPr/>
        </p:nvSpPr>
        <p:spPr>
          <a:xfrm>
            <a:off x="1066800" y="5017145"/>
            <a:ext cx="6036064" cy="1263253"/>
          </a:xfrm>
          <a:prstGeom prst="rect">
            <a:avLst/>
          </a:prstGeom>
          <a:noFill/>
          <a:ln/>
        </p:spPr>
        <p:txBody>
          <a:bodyPr wrap="square" lIns="25400" tIns="25400" rIns="25400" bIns="25400" rtlCol="0" anchor="t">
            <a:normAutofit/>
          </a:bodyPr>
          <a:lstStyle/>
          <a:p>
            <a:pPr algn="l" indent="0" marL="0">
              <a:lnSpc>
                <a:spcPct val="134000"/>
              </a:lnSpc>
              <a:buNone/>
            </a:pPr>
            <a:r>
              <a:rPr lang="en-US" sz="2400" dirty="0">
                <a:solidFill>
                  <a:srgbClr val="1B1813"/>
                </a:solidFill>
                <a:latin typeface="Arial" pitchFamily="34" charset="0"/>
                <a:ea typeface="Arial" pitchFamily="34" charset="-122"/>
                <a:cs typeface="Arial" pitchFamily="34" charset="-120"/>
              </a:rPr>
              <a:t>YAML frontmatter tells kiro </a:t>
            </a:r>
            <a:pPr algn="l" indent="0" marL="0">
              <a:lnSpc>
                <a:spcPct val="134000"/>
              </a:lnSpc>
              <a:buNone/>
            </a:pPr>
            <a:r>
              <a:rPr lang="en-US" sz="2400" i="1" dirty="0">
                <a:solidFill>
                  <a:srgbClr val="1B1813"/>
                </a:solidFill>
                <a:latin typeface="Arial" pitchFamily="34" charset="0"/>
                <a:ea typeface="Arial" pitchFamily="34" charset="-122"/>
                <a:cs typeface="Arial" pitchFamily="34" charset="-120"/>
              </a:rPr>
              <a:t>when </a:t>
            </a:r>
            <a:pPr algn="l" indent="0" marL="0">
              <a:lnSpc>
                <a:spcPct val="134000"/>
              </a:lnSpc>
              <a:buNone/>
            </a:pPr>
            <a:r>
              <a:rPr lang="en-US" sz="2400" dirty="0">
                <a:solidFill>
                  <a:srgbClr val="1B1813"/>
                </a:solidFill>
                <a:latin typeface="Arial" pitchFamily="34" charset="0"/>
                <a:ea typeface="Arial" pitchFamily="34" charset="-122"/>
                <a:cs typeface="Arial" pitchFamily="34" charset="-120"/>
              </a:rPr>
              <a:t>to load each skill — not always, only when relevant.</a:t>
            </a:r>
            <a:endParaRPr lang="en-US" sz="2400" dirty="0"/>
          </a:p>
        </p:txBody>
      </p:sp>
      <p:sp>
        <p:nvSpPr>
          <p:cNvPr id="5" name="Text 3"/>
          <p:cNvSpPr/>
          <p:nvPr/>
        </p:nvSpPr>
        <p:spPr>
          <a:xfrm>
            <a:off x="1066800" y="6470898"/>
            <a:ext cx="5030155" cy="1009650"/>
          </a:xfrm>
          <a:prstGeom prst="rect">
            <a:avLst/>
          </a:prstGeom>
          <a:noFill/>
          <a:ln/>
        </p:spPr>
        <p:txBody>
          <a:bodyPr wrap="square" lIns="25400" tIns="25400" rIns="25400" bIns="25400" rtlCol="0" anchor="t">
            <a:normAutofit/>
          </a:bodyPr>
          <a:lstStyle/>
          <a:p>
            <a:pPr algn="l" indent="0" marL="0">
              <a:lnSpc>
                <a:spcPct val="136000"/>
              </a:lnSpc>
              <a:buNone/>
            </a:pPr>
            <a:r>
              <a:rPr lang="en-US" sz="1875" dirty="0">
                <a:solidFill>
                  <a:srgbClr val="6E6656"/>
                </a:solidFill>
                <a:latin typeface="Arial" pitchFamily="34" charset="0"/>
                <a:ea typeface="Arial" pitchFamily="34" charset="-122"/>
                <a:cs typeface="Arial" pitchFamily="34" charset="-120"/>
              </a:rPr>
              <a:t>Each carries reference docs, starter assets, and scripts. A mention of </a:t>
            </a:r>
            <a:pPr algn="l" indent="0" marL="0">
              <a:lnSpc>
                <a:spcPct val="136000"/>
              </a:lnSpc>
              <a:buNone/>
            </a:pPr>
            <a:r>
              <a:rPr lang="en-US" sz="1500" dirty="0">
                <a:solidFill>
                  <a:srgbClr val="6E6656"/>
                </a:solidFill>
                <a:latin typeface="Courier New" pitchFamily="34" charset="0"/>
                <a:ea typeface="Courier New" pitchFamily="34" charset="-122"/>
                <a:cs typeface="Courier New" pitchFamily="34" charset="-120"/>
              </a:rPr>
              <a:t>.pp </a:t>
            </a:r>
            <a:pPr algn="l" indent="0" marL="0">
              <a:lnSpc>
                <a:spcPct val="136000"/>
              </a:lnSpc>
              <a:buNone/>
            </a:pPr>
            <a:r>
              <a:rPr lang="en-US" sz="1875" dirty="0">
                <a:solidFill>
                  <a:srgbClr val="6E6656"/>
                </a:solidFill>
                <a:latin typeface="Arial" pitchFamily="34" charset="0"/>
                <a:ea typeface="Arial" pitchFamily="34" charset="-122"/>
                <a:cs typeface="Arial" pitchFamily="34" charset="-120"/>
              </a:rPr>
              <a:t>files pulls in the powerpipe skill.</a:t>
            </a:r>
            <a:endParaRPr lang="en-US" sz="1875" dirty="0"/>
          </a:p>
        </p:txBody>
      </p:sp>
      <p:sp>
        <p:nvSpPr>
          <p:cNvPr id="6" name="Shape 4"/>
          <p:cNvSpPr/>
          <p:nvPr/>
        </p:nvSpPr>
        <p:spPr>
          <a:xfrm>
            <a:off x="10363200" y="3687961"/>
            <a:ext cx="6858000" cy="3006179"/>
          </a:xfrm>
          <a:prstGeom prst="roundRect">
            <a:avLst>
              <a:gd name="adj" fmla="val 3168"/>
            </a:avLst>
          </a:prstGeom>
          <a:solidFill>
            <a:srgbClr val="1B1813"/>
          </a:solidFill>
          <a:ln/>
          <a:effectLst>
            <a:outerShdw sx="100000" sy="100000" kx="0" ky="0" algn="bl" rotWithShape="0" blurRad="571500" dist="228600" dir="5400000">
              <a:srgbClr val="1B1813">
                <a:alpha val="22000"/>
              </a:srgbClr>
            </a:outerShdw>
          </a:effectLst>
        </p:spPr>
      </p:sp>
      <p:sp>
        <p:nvSpPr>
          <p:cNvPr id="7" name="Shape 5"/>
          <p:cNvSpPr/>
          <p:nvPr/>
        </p:nvSpPr>
        <p:spPr>
          <a:xfrm>
            <a:off x="10363200" y="4183261"/>
            <a:ext cx="6858000" cy="9525"/>
          </a:xfrm>
          <a:prstGeom prst="rect">
            <a:avLst/>
          </a:prstGeom>
          <a:solidFill>
            <a:srgbClr val="F2ECE0">
              <a:alpha val="15000"/>
            </a:srgbClr>
          </a:solidFill>
          <a:ln/>
        </p:spPr>
      </p:sp>
      <p:sp>
        <p:nvSpPr>
          <p:cNvPr id="8" name="Shape 6"/>
          <p:cNvSpPr/>
          <p:nvPr/>
        </p:nvSpPr>
        <p:spPr>
          <a:xfrm>
            <a:off x="10572750" y="3878461"/>
            <a:ext cx="114300" cy="114300"/>
          </a:xfrm>
          <a:prstGeom prst="ellipse">
            <a:avLst/>
          </a:prstGeom>
          <a:solidFill>
            <a:srgbClr val="E06C5A"/>
          </a:solidFill>
          <a:ln/>
        </p:spPr>
      </p:sp>
      <p:sp>
        <p:nvSpPr>
          <p:cNvPr id="9" name="Shape 7"/>
          <p:cNvSpPr/>
          <p:nvPr/>
        </p:nvSpPr>
        <p:spPr>
          <a:xfrm>
            <a:off x="10772775" y="3878461"/>
            <a:ext cx="114300" cy="114300"/>
          </a:xfrm>
          <a:prstGeom prst="ellipse">
            <a:avLst/>
          </a:prstGeom>
          <a:solidFill>
            <a:srgbClr val="E3B341"/>
          </a:solidFill>
          <a:ln/>
        </p:spPr>
      </p:sp>
      <p:sp>
        <p:nvSpPr>
          <p:cNvPr id="10" name="Shape 8"/>
          <p:cNvSpPr/>
          <p:nvPr/>
        </p:nvSpPr>
        <p:spPr>
          <a:xfrm>
            <a:off x="10972800" y="3878461"/>
            <a:ext cx="114300" cy="114300"/>
          </a:xfrm>
          <a:prstGeom prst="ellipse">
            <a:avLst/>
          </a:prstGeom>
          <a:solidFill>
            <a:srgbClr val="7E9A66"/>
          </a:solidFill>
          <a:ln/>
        </p:spPr>
      </p:sp>
      <p:sp>
        <p:nvSpPr>
          <p:cNvPr id="11" name="Text 9"/>
          <p:cNvSpPr/>
          <p:nvPr/>
        </p:nvSpPr>
        <p:spPr>
          <a:xfrm>
            <a:off x="11306175" y="3840361"/>
            <a:ext cx="1190625" cy="228600"/>
          </a:xfrm>
          <a:prstGeom prst="rect">
            <a:avLst/>
          </a:prstGeom>
          <a:noFill/>
          <a:ln/>
        </p:spPr>
        <p:txBody>
          <a:bodyPr wrap="square" lIns="25400" tIns="25400" rIns="25400" bIns="25400" rtlCol="0" anchor="t">
            <a:normAutofit/>
          </a:bodyPr>
          <a:lstStyle/>
          <a:p>
            <a:pPr algn="l" indent="0" marL="0">
              <a:buNone/>
            </a:pPr>
            <a:r>
              <a:rPr lang="en-US" sz="1125" dirty="0">
                <a:solidFill>
                  <a:srgbClr val="9C9584"/>
                </a:solidFill>
                <a:latin typeface="Courier New" pitchFamily="34" charset="0"/>
                <a:ea typeface="Courier New" pitchFamily="34" charset="-122"/>
                <a:cs typeface="Courier New" pitchFamily="34" charset="-120"/>
              </a:rPr>
              <a:t>.kiro/skills/</a:t>
            </a:r>
            <a:endParaRPr lang="en-US" sz="1125" dirty="0"/>
          </a:p>
        </p:txBody>
      </p:sp>
      <p:sp>
        <p:nvSpPr>
          <p:cNvPr id="12" name="Text 10"/>
          <p:cNvSpPr/>
          <p:nvPr/>
        </p:nvSpPr>
        <p:spPr>
          <a:xfrm>
            <a:off x="10687050" y="4459486"/>
            <a:ext cx="6416040" cy="2006054"/>
          </a:xfrm>
          <a:prstGeom prst="rect">
            <a:avLst/>
          </a:prstGeom>
          <a:noFill/>
          <a:ln/>
        </p:spPr>
        <p:txBody>
          <a:bodyPr wrap="square" lIns="25400" tIns="25400" rIns="25400" bIns="25400" rtlCol="0" anchor="t">
            <a:normAutofit/>
          </a:bodyPr>
          <a:lstStyle/>
          <a:p>
            <a:pPr algn="l" indent="0" marL="0">
              <a:lnSpc>
                <a:spcPct val="164000"/>
              </a:lnSpc>
              <a:buNone/>
            </a:pPr>
            <a:r>
              <a:rPr lang="en-US" sz="1350" dirty="0">
                <a:solidFill>
                  <a:srgbClr val="C05F38"/>
                </a:solidFill>
                <a:latin typeface="Courier New" pitchFamily="34" charset="0"/>
                <a:ea typeface="Courier New" pitchFamily="34" charset="-122"/>
                <a:cs typeface="Courier New" pitchFamily="34" charset="-120"/>
              </a:rPr>
              <a:t>powerpipe/</a:t>
            </a:r>
            <a:pPr algn="l" indent="0" marL="0">
              <a:lnSpc>
                <a:spcPct val="164000"/>
              </a:lnSpc>
              <a:buNone/>
            </a:pPr>
            <a:r>
              <a:rPr lang="en-US" sz="1350" dirty="0">
                <a:solidFill>
                  <a:srgbClr val="F2ECE0"/>
                </a:solidFill>
                <a:latin typeface="Courier New" pitchFamily="34" charset="0"/>
                <a:ea typeface="Courier New" pitchFamily="34" charset="-122"/>
                <a:cs typeface="Courier New" pitchFamily="34" charset="-120"/>
              </a:rPr>
              <a:t>        HCL, SQL, graphs, troubleshoot </a:t>
            </a:r>
            <a:pPr algn="l" indent="0" marL="0">
              <a:lnSpc>
                <a:spcPct val="164000"/>
              </a:lnSpc>
              <a:buNone/>
            </a:pPr>
            <a:r>
              <a:rPr lang="en-US" sz="1350" dirty="0">
                <a:solidFill>
                  <a:srgbClr val="C05F38"/>
                </a:solidFill>
                <a:latin typeface="Courier New" pitchFamily="34" charset="0"/>
                <a:ea typeface="Courier New" pitchFamily="34" charset="-122"/>
                <a:cs typeface="Courier New" pitchFamily="34" charset="-120"/>
              </a:rPr>
              <a:t>steampipe/ </a:t>
            </a:r>
            <a:pPr algn="l" indent="0" marL="0">
              <a:lnSpc>
                <a:spcPct val="164000"/>
              </a:lnSpc>
              <a:buNone/>
            </a:pPr>
            <a:r>
              <a:rPr lang="en-US" sz="1350" dirty="0">
                <a:solidFill>
                  <a:srgbClr val="F2ECE0"/>
                </a:solidFill>
                <a:latin typeface="Courier New" pitchFamily="34" charset="0"/>
                <a:ea typeface="Courier New" pitchFamily="34" charset="-122"/>
                <a:cs typeface="Courier New" pitchFamily="34" charset="-120"/>
              </a:rPr>
              <a:t>        scans, DB lifecycle, queries</a:t>
            </a:r>
            <a:endParaRPr lang="en-US" sz="1350" dirty="0"/>
          </a:p>
          <a:p>
            <a:pPr algn="l" indent="0" marL="0">
              <a:lnSpc>
                <a:spcPct val="164000"/>
              </a:lnSpc>
              <a:buNone/>
            </a:pPr>
            <a:r>
              <a:rPr lang="en-US" sz="1350" dirty="0">
                <a:solidFill>
                  <a:srgbClr val="F2ECE0"/>
                </a:solidFill>
                <a:latin typeface="Courier New" pitchFamily="34" charset="0"/>
                <a:ea typeface="Courier New" pitchFamily="34" charset="-122"/>
                <a:cs typeface="Courier New" pitchFamily="34" charset="-120"/>
              </a:rPr>
              <a:t>finops-cost-scan/  cost scan automation</a:t>
            </a:r>
            <a:endParaRPr lang="en-US" sz="1350" dirty="0"/>
          </a:p>
          <a:p>
            <a:pPr algn="l" indent="0" marL="0">
              <a:lnSpc>
                <a:spcPct val="164000"/>
              </a:lnSpc>
              <a:buNone/>
            </a:pPr>
            <a:r>
              <a:rPr lang="en-US" sz="1350" dirty="0">
                <a:solidFill>
                  <a:srgbClr val="F2ECE0"/>
                </a:solidFill>
                <a:latin typeface="Courier New" pitchFamily="34" charset="0"/>
                <a:ea typeface="Courier New" pitchFamily="34" charset="-122"/>
                <a:cs typeface="Courier New" pitchFamily="34" charset="-120"/>
              </a:rPr>
              <a:t>terraform-aws/     modules, references, scripts</a:t>
            </a:r>
            <a:endParaRPr lang="en-US" sz="1350" dirty="0"/>
          </a:p>
          <a:p>
            <a:pPr algn="l" indent="0" marL="0">
              <a:lnSpc>
                <a:spcPct val="164000"/>
              </a:lnSpc>
              <a:buNone/>
            </a:pPr>
            <a:r>
              <a:rPr lang="en-US" sz="1350" dirty="0">
                <a:solidFill>
                  <a:srgbClr val="F2ECE0"/>
                </a:solidFill>
                <a:latin typeface="Courier New" pitchFamily="34" charset="0"/>
                <a:ea typeface="Courier New" pitchFamily="34" charset="-122"/>
                <a:cs typeface="Courier New" pitchFamily="34" charset="-120"/>
              </a:rPr>
              <a:t>aws-solution-arch/ architecture references</a:t>
            </a:r>
            <a:endParaRPr lang="en-US" sz="1350" dirty="0"/>
          </a:p>
          <a:p>
            <a:pPr algn="l" indent="0" marL="0">
              <a:lnSpc>
                <a:spcPct val="164000"/>
              </a:lnSpc>
              <a:buNone/>
            </a:pPr>
            <a:r>
              <a:rPr lang="en-US" sz="1350" dirty="0">
                <a:solidFill>
                  <a:srgbClr val="F2ECE0"/>
                </a:solidFill>
                <a:latin typeface="Courier New" pitchFamily="34" charset="0"/>
                <a:ea typeface="Courier New" pitchFamily="34" charset="-122"/>
                <a:cs typeface="Courier New" pitchFamily="34" charset="-120"/>
              </a:rPr>
              <a:t>security-reviewer/ review checklist</a:t>
            </a:r>
            <a:endParaRPr lang="en-US" sz="1350" dirty="0"/>
          </a:p>
          <a:p>
            <a:pPr algn="l" indent="0" marL="0">
              <a:lnSpc>
                <a:spcPct val="164000"/>
              </a:lnSpc>
              <a:buNone/>
            </a:pPr>
            <a:r>
              <a:rPr lang="en-US" sz="1350" dirty="0">
                <a:solidFill>
                  <a:srgbClr val="F2ECE0"/>
                </a:solidFill>
                <a:latin typeface="Courier New" pitchFamily="34" charset="0"/>
                <a:ea typeface="Courier New" pitchFamily="34" charset="-122"/>
                <a:cs typeface="Courier New" pitchFamily="34" charset="-120"/>
              </a:rPr>
              <a:t>gitlab-pipeline/   CI architecture</a:t>
            </a:r>
            <a:endParaRPr lang="en-US" sz="1350" dirty="0"/>
          </a:p>
        </p:txBody>
      </p:sp>
      <p:sp>
        <p:nvSpPr>
          <p:cNvPr id="13" name="Text 11"/>
          <p:cNvSpPr/>
          <p:nvPr/>
        </p:nvSpPr>
        <p:spPr>
          <a:xfrm>
            <a:off x="16953309" y="9515475"/>
            <a:ext cx="344091" cy="276225"/>
          </a:xfrm>
          <a:prstGeom prst="rect">
            <a:avLst/>
          </a:prstGeom>
          <a:noFill/>
          <a:ln/>
        </p:spPr>
        <p:txBody>
          <a:bodyPr wrap="square" lIns="25400" tIns="25400" rIns="25400" bIns="25400" rtlCol="0" anchor="t">
            <a:normAutofit/>
          </a:bodyPr>
          <a:lstStyle/>
          <a:p>
            <a:pPr algn="l" indent="0" marL="0">
              <a:buNone/>
            </a:pPr>
            <a:r>
              <a:rPr lang="en-US" sz="1425" spc="200" kern="0" dirty="0">
                <a:solidFill>
                  <a:srgbClr val="6E6656"/>
                </a:solidFill>
                <a:latin typeface="Courier New" pitchFamily="34" charset="0"/>
                <a:ea typeface="Courier New" pitchFamily="34" charset="-122"/>
                <a:cs typeface="Courier New" pitchFamily="34" charset="-120"/>
              </a:rPr>
              <a:t>09</a:t>
            </a:r>
            <a:endParaRPr lang="en-US" sz="142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2ECE0"/>
        </a:solidFill>
      </p:bgPr>
    </p:bg>
    <p:spTree>
      <p:nvGrpSpPr>
        <p:cNvPr id="1" name=""/>
        <p:cNvGrpSpPr/>
        <p:nvPr/>
      </p:nvGrpSpPr>
      <p:grpSpPr>
        <a:xfrm>
          <a:off x="0" y="0"/>
          <a:ext cx="0" cy="0"/>
          <a:chOff x="0" y="0"/>
          <a:chExt cx="0" cy="0"/>
        </a:xfrm>
      </p:grpSpPr>
      <p:sp>
        <p:nvSpPr>
          <p:cNvPr id="2" name="Text 0"/>
          <p:cNvSpPr/>
          <p:nvPr/>
        </p:nvSpPr>
        <p:spPr>
          <a:xfrm>
            <a:off x="1066800" y="2372469"/>
            <a:ext cx="17769840" cy="276225"/>
          </a:xfrm>
          <a:prstGeom prst="rect">
            <a:avLst/>
          </a:prstGeom>
          <a:noFill/>
          <a:ln/>
        </p:spPr>
        <p:txBody>
          <a:bodyPr wrap="square" lIns="25400" tIns="25400" rIns="25400" bIns="25400" rtlCol="0" anchor="t">
            <a:normAutofit/>
          </a:bodyPr>
          <a:lstStyle/>
          <a:p>
            <a:pPr algn="l" indent="0" marL="0">
              <a:buNone/>
            </a:pPr>
            <a:r>
              <a:rPr lang="en-US" sz="1425" spc="342" kern="0" dirty="0">
                <a:solidFill>
                  <a:srgbClr val="C05F38"/>
                </a:solidFill>
                <a:latin typeface="Courier New" pitchFamily="34" charset="0"/>
                <a:ea typeface="Courier New" pitchFamily="34" charset="-122"/>
                <a:cs typeface="Courier New" pitchFamily="34" charset="-120"/>
              </a:rPr>
              <a:t>II · SKILLS · IN PRACTICE</a:t>
            </a:r>
            <a:endParaRPr lang="en-US" sz="1425" dirty="0"/>
          </a:p>
        </p:txBody>
      </p:sp>
      <p:sp>
        <p:nvSpPr>
          <p:cNvPr id="3" name="Text 1"/>
          <p:cNvSpPr/>
          <p:nvPr/>
        </p:nvSpPr>
        <p:spPr>
          <a:xfrm>
            <a:off x="1066800" y="2839194"/>
            <a:ext cx="9646573" cy="1068288"/>
          </a:xfrm>
          <a:prstGeom prst="rect">
            <a:avLst/>
          </a:prstGeom>
          <a:noFill/>
          <a:ln/>
        </p:spPr>
        <p:txBody>
          <a:bodyPr wrap="square" lIns="25400" tIns="25400" rIns="25400" bIns="25400" rtlCol="0" anchor="t">
            <a:normAutofit/>
          </a:bodyPr>
          <a:lstStyle/>
          <a:p>
            <a:pPr algn="l" indent="0" marL="0">
              <a:lnSpc>
                <a:spcPct val="104000"/>
              </a:lnSpc>
              <a:buNone/>
            </a:pPr>
            <a:r>
              <a:rPr lang="en-US" sz="3900" b="1" spc="-58" kern="0" dirty="0">
                <a:solidFill>
                  <a:srgbClr val="1B1813"/>
                </a:solidFill>
                <a:latin typeface="Arial" pitchFamily="34" charset="0"/>
                <a:ea typeface="Arial" pitchFamily="34" charset="-122"/>
                <a:cs typeface="Arial" pitchFamily="34" charset="-120"/>
              </a:rPr>
              <a:t>“Create a card showing total EC2 instances”</a:t>
            </a:r>
            <a:endParaRPr lang="en-US" sz="3900" dirty="0"/>
          </a:p>
        </p:txBody>
      </p:sp>
      <p:sp>
        <p:nvSpPr>
          <p:cNvPr id="4" name="Text 2"/>
          <p:cNvSpPr/>
          <p:nvPr/>
        </p:nvSpPr>
        <p:spPr>
          <a:xfrm>
            <a:off x="1066800" y="4002732"/>
            <a:ext cx="17769840" cy="342900"/>
          </a:xfrm>
          <a:prstGeom prst="rect">
            <a:avLst/>
          </a:prstGeom>
          <a:noFill/>
          <a:ln/>
        </p:spPr>
        <p:txBody>
          <a:bodyPr wrap="square" lIns="25400" tIns="25400" rIns="25400" bIns="25400" rtlCol="0" anchor="t">
            <a:normAutofit/>
          </a:bodyPr>
          <a:lstStyle/>
          <a:p>
            <a:pPr algn="l" indent="0" marL="0">
              <a:buNone/>
            </a:pPr>
            <a:r>
              <a:rPr lang="en-US" sz="1875" dirty="0">
                <a:solidFill>
                  <a:srgbClr val="6E6656"/>
                </a:solidFill>
                <a:latin typeface="Arial" pitchFamily="34" charset="0"/>
                <a:ea typeface="Arial" pitchFamily="34" charset="-122"/>
                <a:cs typeface="Arial" pitchFamily="34" charset="-120"/>
              </a:rPr>
              <a:t>Same prompt, before and after the powerpipe skill.</a:t>
            </a:r>
            <a:endParaRPr lang="en-US" sz="1875" dirty="0"/>
          </a:p>
        </p:txBody>
      </p:sp>
      <p:sp>
        <p:nvSpPr>
          <p:cNvPr id="5" name="Shape 3"/>
          <p:cNvSpPr/>
          <p:nvPr/>
        </p:nvSpPr>
        <p:spPr>
          <a:xfrm>
            <a:off x="1066800" y="4688532"/>
            <a:ext cx="7648575" cy="3321248"/>
          </a:xfrm>
          <a:prstGeom prst="roundRect">
            <a:avLst>
              <a:gd name="adj" fmla="val 2294"/>
            </a:avLst>
          </a:prstGeom>
          <a:ln w="9525">
            <a:solidFill>
              <a:srgbClr val="1B1813">
                <a:alpha val="13000"/>
              </a:srgbClr>
            </a:solidFill>
            <a:prstDash val="solid"/>
          </a:ln>
        </p:spPr>
      </p:sp>
      <p:sp>
        <p:nvSpPr>
          <p:cNvPr id="6" name="Shape 4"/>
          <p:cNvSpPr/>
          <p:nvPr/>
        </p:nvSpPr>
        <p:spPr>
          <a:xfrm>
            <a:off x="1076325" y="4698057"/>
            <a:ext cx="7629525" cy="476250"/>
          </a:xfrm>
          <a:prstGeom prst="rect">
            <a:avLst/>
          </a:prstGeom>
          <a:solidFill>
            <a:srgbClr val="E9E0CE"/>
          </a:solidFill>
          <a:ln/>
        </p:spPr>
      </p:sp>
      <p:sp>
        <p:nvSpPr>
          <p:cNvPr id="7" name="Shape 5"/>
          <p:cNvSpPr/>
          <p:nvPr/>
        </p:nvSpPr>
        <p:spPr>
          <a:xfrm>
            <a:off x="1076325" y="5164782"/>
            <a:ext cx="7629525" cy="9525"/>
          </a:xfrm>
          <a:prstGeom prst="rect">
            <a:avLst/>
          </a:prstGeom>
          <a:solidFill>
            <a:srgbClr val="1B1813">
              <a:alpha val="13000"/>
            </a:srgbClr>
          </a:solidFill>
          <a:ln/>
        </p:spPr>
      </p:sp>
      <p:sp>
        <p:nvSpPr>
          <p:cNvPr id="8" name="Text 6"/>
          <p:cNvSpPr/>
          <p:nvPr/>
        </p:nvSpPr>
        <p:spPr>
          <a:xfrm>
            <a:off x="1304925" y="4831407"/>
            <a:ext cx="7401211" cy="238125"/>
          </a:xfrm>
          <a:prstGeom prst="rect">
            <a:avLst/>
          </a:prstGeom>
          <a:noFill/>
          <a:ln/>
        </p:spPr>
        <p:txBody>
          <a:bodyPr wrap="square" lIns="25400" tIns="25400" rIns="25400" bIns="25400" rtlCol="0" anchor="t">
            <a:normAutofit/>
          </a:bodyPr>
          <a:lstStyle/>
          <a:p>
            <a:pPr algn="l" indent="0" marL="0">
              <a:buNone/>
            </a:pPr>
            <a:r>
              <a:rPr lang="en-US" sz="1200" spc="120" kern="0" dirty="0">
                <a:solidFill>
                  <a:srgbClr val="6E6656"/>
                </a:solidFill>
                <a:latin typeface="Courier New" pitchFamily="34" charset="0"/>
                <a:ea typeface="Courier New" pitchFamily="34" charset="-122"/>
                <a:cs typeface="Courier New" pitchFamily="34" charset="-120"/>
              </a:rPr>
              <a:t>BEFORE — hallucinated</a:t>
            </a:r>
            <a:endParaRPr lang="en-US" sz="1200" dirty="0"/>
          </a:p>
        </p:txBody>
      </p:sp>
      <p:sp>
        <p:nvSpPr>
          <p:cNvPr id="9" name="Shape 7"/>
          <p:cNvSpPr/>
          <p:nvPr/>
        </p:nvSpPr>
        <p:spPr>
          <a:xfrm>
            <a:off x="1076325" y="5174307"/>
            <a:ext cx="7629525" cy="1790105"/>
          </a:xfrm>
          <a:prstGeom prst="rect">
            <a:avLst/>
          </a:prstGeom>
          <a:solidFill>
            <a:srgbClr val="FFFFFF"/>
          </a:solidFill>
          <a:ln/>
        </p:spPr>
      </p:sp>
      <p:sp>
        <p:nvSpPr>
          <p:cNvPr id="10" name="Text 8"/>
          <p:cNvSpPr/>
          <p:nvPr/>
        </p:nvSpPr>
        <p:spPr>
          <a:xfrm>
            <a:off x="1343025" y="5421957"/>
            <a:ext cx="7325011" cy="1332905"/>
          </a:xfrm>
          <a:prstGeom prst="rect">
            <a:avLst/>
          </a:prstGeom>
          <a:noFill/>
          <a:ln/>
        </p:spPr>
        <p:txBody>
          <a:bodyPr wrap="square" lIns="25400" tIns="25400" rIns="25400" bIns="25400" rtlCol="0" anchor="t">
            <a:normAutofit/>
          </a:bodyPr>
          <a:lstStyle/>
          <a:p>
            <a:pPr algn="l" indent="0" marL="0">
              <a:lnSpc>
                <a:spcPct val="160000"/>
              </a:lnSpc>
              <a:buNone/>
            </a:pPr>
            <a:r>
              <a:rPr lang="en-US" sz="1275" dirty="0">
                <a:solidFill>
                  <a:srgbClr val="1B1813"/>
                </a:solidFill>
                <a:highlight>
                  <a:srgbClr val="FFFFFF"/>
                </a:highlight>
                <a:latin typeface="Courier New" pitchFamily="34" charset="0"/>
                <a:ea typeface="Courier New" pitchFamily="34" charset="-122"/>
                <a:cs typeface="Courier New" pitchFamily="34" charset="-120"/>
              </a:rPr>
              <a:t>card {</a:t>
            </a:r>
            <a:endParaRPr lang="en-US" sz="1275" dirty="0"/>
          </a:p>
          <a:p>
            <a:pPr algn="l" indent="0" marL="0">
              <a:lnSpc>
                <a:spcPct val="160000"/>
              </a:lnSpc>
              <a:buNone/>
            </a:pPr>
            <a:r>
              <a:rPr lang="en-US" sz="1275" dirty="0">
                <a:solidFill>
                  <a:srgbClr val="1B1813"/>
                </a:solidFill>
                <a:highlight>
                  <a:srgbClr val="FFFFFF"/>
                </a:highlight>
                <a:latin typeface="Courier New" pitchFamily="34" charset="0"/>
                <a:ea typeface="Courier New" pitchFamily="34" charset="-122"/>
                <a:cs typeface="Courier New" pitchFamily="34" charset="-120"/>
              </a:rPr>
              <a:t>  sql = "SELECT count(*)</a:t>
            </a:r>
            <a:endParaRPr lang="en-US" sz="1275" dirty="0"/>
          </a:p>
          <a:p>
            <a:pPr algn="l" indent="0" marL="0">
              <a:lnSpc>
                <a:spcPct val="160000"/>
              </a:lnSpc>
              <a:buNone/>
            </a:pPr>
            <a:r>
              <a:rPr lang="en-US" sz="1275" dirty="0">
                <a:solidFill>
                  <a:srgbClr val="1B1813"/>
                </a:solidFill>
                <a:highlight>
                  <a:srgbClr val="FFFFFF"/>
                </a:highlight>
                <a:latin typeface="Courier New" pitchFamily="34" charset="0"/>
                <a:ea typeface="Courier New" pitchFamily="34" charset="-122"/>
                <a:cs typeface="Courier New" pitchFamily="34" charset="-120"/>
              </a:rPr>
              <a:t>    FROM aws_ec2_instance"</a:t>
            </a:r>
            <a:endParaRPr lang="en-US" sz="1275" dirty="0"/>
          </a:p>
          <a:p>
            <a:pPr algn="l" indent="0" marL="0">
              <a:lnSpc>
                <a:spcPct val="160000"/>
              </a:lnSpc>
              <a:buNone/>
            </a:pPr>
            <a:r>
              <a:rPr lang="en-US" sz="1275" dirty="0">
                <a:solidFill>
                  <a:srgbClr val="1B1813"/>
                </a:solidFill>
                <a:highlight>
                  <a:srgbClr val="FFFFFF"/>
                </a:highlight>
                <a:latin typeface="Courier New" pitchFamily="34" charset="0"/>
                <a:ea typeface="Courier New" pitchFamily="34" charset="-122"/>
                <a:cs typeface="Courier New" pitchFamily="34" charset="-120"/>
              </a:rPr>
              <a:t>} </a:t>
            </a:r>
            <a:endParaRPr lang="en-US" sz="1275" dirty="0"/>
          </a:p>
          <a:p>
            <a:pPr algn="l" indent="0" marL="0">
              <a:lnSpc>
                <a:spcPct val="160000"/>
              </a:lnSpc>
              <a:buNone/>
            </a:pPr>
            <a:r>
              <a:rPr lang="en-US" sz="1275" dirty="0">
                <a:solidFill>
                  <a:srgbClr val="C05F38"/>
                </a:solidFill>
                <a:latin typeface="Courier New" pitchFamily="34" charset="0"/>
                <a:ea typeface="Courier New" pitchFamily="34" charset="-122"/>
                <a:cs typeface="Courier New" pitchFamily="34" charset="-120"/>
              </a:rPr>
              <a:t>✗ live table, not pre-computed</a:t>
            </a:r>
            <a:endParaRPr lang="en-US" sz="1275" dirty="0"/>
          </a:p>
        </p:txBody>
      </p:sp>
      <p:sp>
        <p:nvSpPr>
          <p:cNvPr id="11" name="Shape 9"/>
          <p:cNvSpPr/>
          <p:nvPr/>
        </p:nvSpPr>
        <p:spPr>
          <a:xfrm>
            <a:off x="9039225" y="4688532"/>
            <a:ext cx="7648575" cy="3321248"/>
          </a:xfrm>
          <a:prstGeom prst="roundRect">
            <a:avLst>
              <a:gd name="adj" fmla="val 2294"/>
            </a:avLst>
          </a:prstGeom>
          <a:ln w="9525">
            <a:solidFill>
              <a:srgbClr val="7E9A66"/>
            </a:solidFill>
            <a:prstDash val="solid"/>
          </a:ln>
        </p:spPr>
      </p:sp>
      <p:sp>
        <p:nvSpPr>
          <p:cNvPr id="12" name="Shape 10"/>
          <p:cNvSpPr/>
          <p:nvPr/>
        </p:nvSpPr>
        <p:spPr>
          <a:xfrm>
            <a:off x="9048750" y="4698057"/>
            <a:ext cx="7629525" cy="476250"/>
          </a:xfrm>
          <a:prstGeom prst="rect">
            <a:avLst/>
          </a:prstGeom>
          <a:solidFill>
            <a:srgbClr val="FFFFFF"/>
          </a:solidFill>
          <a:ln/>
        </p:spPr>
      </p:sp>
      <p:sp>
        <p:nvSpPr>
          <p:cNvPr id="13" name="Shape 11"/>
          <p:cNvSpPr/>
          <p:nvPr/>
        </p:nvSpPr>
        <p:spPr>
          <a:xfrm>
            <a:off x="9048750" y="5164782"/>
            <a:ext cx="7629525" cy="9525"/>
          </a:xfrm>
          <a:prstGeom prst="rect">
            <a:avLst/>
          </a:prstGeom>
          <a:solidFill>
            <a:srgbClr val="7E9A66"/>
          </a:solidFill>
          <a:ln/>
        </p:spPr>
      </p:sp>
      <p:sp>
        <p:nvSpPr>
          <p:cNvPr id="14" name="Text 12"/>
          <p:cNvSpPr/>
          <p:nvPr/>
        </p:nvSpPr>
        <p:spPr>
          <a:xfrm>
            <a:off x="9277350" y="4831407"/>
            <a:ext cx="7401211" cy="238125"/>
          </a:xfrm>
          <a:prstGeom prst="rect">
            <a:avLst/>
          </a:prstGeom>
          <a:noFill/>
          <a:ln/>
        </p:spPr>
        <p:txBody>
          <a:bodyPr wrap="square" lIns="25400" tIns="25400" rIns="25400" bIns="25400" rtlCol="0" anchor="t">
            <a:normAutofit/>
          </a:bodyPr>
          <a:lstStyle/>
          <a:p>
            <a:pPr algn="l" indent="0" marL="0">
              <a:buNone/>
            </a:pPr>
            <a:r>
              <a:rPr lang="en-US" sz="1200" spc="120" kern="0" dirty="0">
                <a:solidFill>
                  <a:srgbClr val="7E9A66"/>
                </a:solidFill>
                <a:latin typeface="Courier New" pitchFamily="34" charset="0"/>
                <a:ea typeface="Courier New" pitchFamily="34" charset="-122"/>
                <a:cs typeface="Courier New" pitchFamily="34" charset="-120"/>
              </a:rPr>
              <a:t>AFTER — correct pattern</a:t>
            </a:r>
            <a:endParaRPr lang="en-US" sz="1200" dirty="0"/>
          </a:p>
        </p:txBody>
      </p:sp>
      <p:sp>
        <p:nvSpPr>
          <p:cNvPr id="15" name="Shape 13"/>
          <p:cNvSpPr/>
          <p:nvPr/>
        </p:nvSpPr>
        <p:spPr>
          <a:xfrm>
            <a:off x="9048750" y="5174307"/>
            <a:ext cx="7629525" cy="2825948"/>
          </a:xfrm>
          <a:prstGeom prst="rect">
            <a:avLst/>
          </a:prstGeom>
          <a:solidFill>
            <a:srgbClr val="FFFFFF"/>
          </a:solidFill>
          <a:ln/>
        </p:spPr>
      </p:sp>
      <p:sp>
        <p:nvSpPr>
          <p:cNvPr id="16" name="Text 14"/>
          <p:cNvSpPr/>
          <p:nvPr/>
        </p:nvSpPr>
        <p:spPr>
          <a:xfrm>
            <a:off x="9315450" y="5421957"/>
            <a:ext cx="7325011" cy="2368748"/>
          </a:xfrm>
          <a:prstGeom prst="rect">
            <a:avLst/>
          </a:prstGeom>
          <a:noFill/>
          <a:ln/>
        </p:spPr>
        <p:txBody>
          <a:bodyPr wrap="square" lIns="25400" tIns="25400" rIns="25400" bIns="25400" rtlCol="0" anchor="t">
            <a:normAutofit/>
          </a:bodyPr>
          <a:lstStyle/>
          <a:p>
            <a:pPr algn="l" indent="0" marL="0">
              <a:lnSpc>
                <a:spcPct val="160000"/>
              </a:lnSpc>
              <a:buNone/>
            </a:pPr>
            <a:r>
              <a:rPr lang="en-US" sz="1275" dirty="0">
                <a:solidFill>
                  <a:srgbClr val="1B1813"/>
                </a:solidFill>
                <a:highlight>
                  <a:srgbClr val="FFFFFF"/>
                </a:highlight>
                <a:latin typeface="Courier New" pitchFamily="34" charset="0"/>
                <a:ea typeface="Courier New" pitchFamily="34" charset="-122"/>
                <a:cs typeface="Courier New" pitchFamily="34" charset="-120"/>
              </a:rPr>
              <a:t>query "card_total_ec2" {</a:t>
            </a:r>
            <a:endParaRPr lang="en-US" sz="1275" dirty="0"/>
          </a:p>
          <a:p>
            <a:pPr algn="l" indent="0" marL="0">
              <a:lnSpc>
                <a:spcPct val="160000"/>
              </a:lnSpc>
              <a:buNone/>
            </a:pPr>
            <a:r>
              <a:rPr lang="en-US" sz="1275" dirty="0">
                <a:solidFill>
                  <a:srgbClr val="1B1813"/>
                </a:solidFill>
                <a:highlight>
                  <a:srgbClr val="FFFFFF"/>
                </a:highlight>
                <a:latin typeface="Courier New" pitchFamily="34" charset="0"/>
                <a:ea typeface="Courier New" pitchFamily="34" charset="-122"/>
                <a:cs typeface="Courier New" pitchFamily="34" charset="-120"/>
              </a:rPr>
              <a:t>  sql = &lt;&lt;-EOQ</a:t>
            </a:r>
            <a:endParaRPr lang="en-US" sz="1275" dirty="0"/>
          </a:p>
          <a:p>
            <a:pPr algn="l" indent="0" marL="0">
              <a:lnSpc>
                <a:spcPct val="160000"/>
              </a:lnSpc>
              <a:buNone/>
            </a:pPr>
            <a:r>
              <a:rPr lang="en-US" sz="1275" dirty="0">
                <a:solidFill>
                  <a:srgbClr val="1B1813"/>
                </a:solidFill>
                <a:highlight>
                  <a:srgbClr val="FFFFFF"/>
                </a:highlight>
                <a:latin typeface="Courier New" pitchFamily="34" charset="0"/>
                <a:ea typeface="Courier New" pitchFamily="34" charset="-122"/>
                <a:cs typeface="Courier New" pitchFamily="34" charset="-120"/>
              </a:rPr>
              <a:t>    ${local.all_resources_cte}</a:t>
            </a:r>
            <a:endParaRPr lang="en-US" sz="1275" dirty="0"/>
          </a:p>
          <a:p>
            <a:pPr algn="l" indent="0" marL="0">
              <a:lnSpc>
                <a:spcPct val="160000"/>
              </a:lnSpc>
              <a:buNone/>
            </a:pPr>
            <a:r>
              <a:rPr lang="en-US" sz="1275" dirty="0">
                <a:solidFill>
                  <a:srgbClr val="1B1813"/>
                </a:solidFill>
                <a:highlight>
                  <a:srgbClr val="FFFFFF"/>
                </a:highlight>
                <a:latin typeface="Courier New" pitchFamily="34" charset="0"/>
                <a:ea typeface="Courier New" pitchFamily="34" charset="-122"/>
                <a:cs typeface="Courier New" pitchFamily="34" charset="-120"/>
              </a:rPr>
              <a:t>    select count(*) as value</a:t>
            </a:r>
            <a:endParaRPr lang="en-US" sz="1275" dirty="0"/>
          </a:p>
          <a:p>
            <a:pPr algn="l" indent="0" marL="0">
              <a:lnSpc>
                <a:spcPct val="160000"/>
              </a:lnSpc>
              <a:buNone/>
            </a:pPr>
            <a:r>
              <a:rPr lang="en-US" sz="1275" dirty="0">
                <a:solidFill>
                  <a:srgbClr val="1B1813"/>
                </a:solidFill>
                <a:highlight>
                  <a:srgbClr val="FFFFFF"/>
                </a:highlight>
                <a:latin typeface="Courier New" pitchFamily="34" charset="0"/>
                <a:ea typeface="Courier New" pitchFamily="34" charset="-122"/>
                <a:cs typeface="Courier New" pitchFamily="34" charset="-120"/>
              </a:rPr>
              <a:t>    from all_resources</a:t>
            </a:r>
            <a:endParaRPr lang="en-US" sz="1275" dirty="0"/>
          </a:p>
          <a:p>
            <a:pPr algn="l" indent="0" marL="0">
              <a:lnSpc>
                <a:spcPct val="160000"/>
              </a:lnSpc>
              <a:buNone/>
            </a:pPr>
            <a:r>
              <a:rPr lang="en-US" sz="1275" dirty="0">
                <a:solidFill>
                  <a:srgbClr val="1B1813"/>
                </a:solidFill>
                <a:highlight>
                  <a:srgbClr val="FFFFFF"/>
                </a:highlight>
                <a:latin typeface="Courier New" pitchFamily="34" charset="0"/>
                <a:ea typeface="Courier New" pitchFamily="34" charset="-122"/>
                <a:cs typeface="Courier New" pitchFamily="34" charset="-120"/>
              </a:rPr>
              <a:t>    where service = 'EC2'</a:t>
            </a:r>
            <a:endParaRPr lang="en-US" sz="1275" dirty="0"/>
          </a:p>
          <a:p>
            <a:pPr algn="l" indent="0" marL="0">
              <a:lnSpc>
                <a:spcPct val="160000"/>
              </a:lnSpc>
              <a:buNone/>
            </a:pPr>
            <a:r>
              <a:rPr lang="en-US" sz="1275" dirty="0">
                <a:solidFill>
                  <a:srgbClr val="1B1813"/>
                </a:solidFill>
                <a:highlight>
                  <a:srgbClr val="FFFFFF"/>
                </a:highlight>
                <a:latin typeface="Courier New" pitchFamily="34" charset="0"/>
                <a:ea typeface="Courier New" pitchFamily="34" charset="-122"/>
                <a:cs typeface="Courier New" pitchFamily="34" charset="-120"/>
              </a:rPr>
              <a:t>  EOQ</a:t>
            </a:r>
            <a:endParaRPr lang="en-US" sz="1275" dirty="0"/>
          </a:p>
          <a:p>
            <a:pPr algn="l" indent="0" marL="0">
              <a:lnSpc>
                <a:spcPct val="160000"/>
              </a:lnSpc>
              <a:buNone/>
            </a:pPr>
            <a:r>
              <a:rPr lang="en-US" sz="1275" dirty="0">
                <a:solidFill>
                  <a:srgbClr val="1B1813"/>
                </a:solidFill>
                <a:highlight>
                  <a:srgbClr val="FFFFFF"/>
                </a:highlight>
                <a:latin typeface="Courier New" pitchFamily="34" charset="0"/>
                <a:ea typeface="Courier New" pitchFamily="34" charset="-122"/>
                <a:cs typeface="Courier New" pitchFamily="34" charset="-120"/>
              </a:rPr>
              <a:t>} </a:t>
            </a:r>
            <a:endParaRPr lang="en-US" sz="1275" dirty="0"/>
          </a:p>
          <a:p>
            <a:pPr algn="l" indent="0" marL="0">
              <a:lnSpc>
                <a:spcPct val="160000"/>
              </a:lnSpc>
              <a:buNone/>
            </a:pPr>
            <a:r>
              <a:rPr lang="en-US" sz="1275" dirty="0">
                <a:solidFill>
                  <a:srgbClr val="7E9A66"/>
                </a:solidFill>
                <a:latin typeface="Courier New" pitchFamily="34" charset="0"/>
                <a:ea typeface="Courier New" pitchFamily="34" charset="-122"/>
                <a:cs typeface="Courier New" pitchFamily="34" charset="-120"/>
              </a:rPr>
              <a:t>✓ pre-computed CTE, named query</a:t>
            </a:r>
            <a:endParaRPr lang="en-US" sz="1275" dirty="0"/>
          </a:p>
        </p:txBody>
      </p:sp>
      <p:sp>
        <p:nvSpPr>
          <p:cNvPr id="17" name="Text 15"/>
          <p:cNvSpPr/>
          <p:nvPr/>
        </p:nvSpPr>
        <p:spPr>
          <a:xfrm>
            <a:off x="16953309" y="9515475"/>
            <a:ext cx="344091" cy="276225"/>
          </a:xfrm>
          <a:prstGeom prst="rect">
            <a:avLst/>
          </a:prstGeom>
          <a:noFill/>
          <a:ln/>
        </p:spPr>
        <p:txBody>
          <a:bodyPr wrap="square" lIns="25400" tIns="25400" rIns="25400" bIns="25400" rtlCol="0" anchor="t">
            <a:normAutofit/>
          </a:bodyPr>
          <a:lstStyle/>
          <a:p>
            <a:pPr algn="l" indent="0" marL="0">
              <a:buNone/>
            </a:pPr>
            <a:r>
              <a:rPr lang="en-US" sz="1425" spc="200" kern="0" dirty="0">
                <a:solidFill>
                  <a:srgbClr val="6E6656"/>
                </a:solidFill>
                <a:latin typeface="Courier New" pitchFamily="34" charset="0"/>
                <a:ea typeface="Courier New" pitchFamily="34" charset="-122"/>
                <a:cs typeface="Courier New" pitchFamily="34" charset="-120"/>
              </a:rPr>
              <a:t>10</a:t>
            </a:r>
            <a:endParaRPr lang="en-US" sz="142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B1813"/>
        </a:solidFill>
      </p:bgPr>
    </p:bg>
    <p:spTree>
      <p:nvGrpSpPr>
        <p:cNvPr id="1" name=""/>
        <p:cNvGrpSpPr/>
        <p:nvPr/>
      </p:nvGrpSpPr>
      <p:grpSpPr>
        <a:xfrm>
          <a:off x="0" y="0"/>
          <a:ext cx="0" cy="0"/>
          <a:chOff x="0" y="0"/>
          <a:chExt cx="0" cy="0"/>
        </a:xfrm>
      </p:grpSpPr>
      <p:sp>
        <p:nvSpPr>
          <p:cNvPr id="2" name="Text 0"/>
          <p:cNvSpPr/>
          <p:nvPr/>
        </p:nvSpPr>
        <p:spPr>
          <a:xfrm>
            <a:off x="1066800" y="3321844"/>
            <a:ext cx="17769840" cy="276225"/>
          </a:xfrm>
          <a:prstGeom prst="rect">
            <a:avLst/>
          </a:prstGeom>
          <a:noFill/>
          <a:ln/>
        </p:spPr>
        <p:txBody>
          <a:bodyPr wrap="square" lIns="25400" tIns="25400" rIns="25400" bIns="25400" rtlCol="0" anchor="t">
            <a:normAutofit/>
          </a:bodyPr>
          <a:lstStyle/>
          <a:p>
            <a:pPr algn="l" indent="0" marL="0">
              <a:buNone/>
            </a:pPr>
            <a:r>
              <a:rPr lang="en-US" sz="1425" spc="342" kern="0" dirty="0">
                <a:solidFill>
                  <a:srgbClr val="C05F38"/>
                </a:solidFill>
                <a:latin typeface="Courier New" pitchFamily="34" charset="0"/>
                <a:ea typeface="Courier New" pitchFamily="34" charset="-122"/>
                <a:cs typeface="Courier New" pitchFamily="34" charset="-120"/>
              </a:rPr>
              <a:t>III · AGENTS</a:t>
            </a:r>
            <a:endParaRPr lang="en-US" sz="1425" dirty="0"/>
          </a:p>
        </p:txBody>
      </p:sp>
      <p:sp>
        <p:nvSpPr>
          <p:cNvPr id="3" name="Text 1"/>
          <p:cNvSpPr/>
          <p:nvPr/>
        </p:nvSpPr>
        <p:spPr>
          <a:xfrm>
            <a:off x="1066800" y="3902869"/>
            <a:ext cx="8642658" cy="1747838"/>
          </a:xfrm>
          <a:prstGeom prst="rect">
            <a:avLst/>
          </a:prstGeom>
          <a:noFill/>
          <a:ln/>
        </p:spPr>
        <p:txBody>
          <a:bodyPr wrap="square" lIns="25400" tIns="25400" rIns="25400" bIns="25400" rtlCol="0" anchor="t">
            <a:normAutofit/>
          </a:bodyPr>
          <a:lstStyle/>
          <a:p>
            <a:pPr algn="l" indent="0" marL="0">
              <a:lnSpc>
                <a:spcPct val="102000"/>
              </a:lnSpc>
              <a:buNone/>
            </a:pPr>
            <a:r>
              <a:rPr lang="en-US" sz="6600" b="1" spc="-132" kern="0" dirty="0">
                <a:solidFill>
                  <a:srgbClr val="F2ECE0"/>
                </a:solidFill>
                <a:latin typeface="Arial" pitchFamily="34" charset="0"/>
                <a:ea typeface="Arial" pitchFamily="34" charset="-122"/>
                <a:cs typeface="Arial" pitchFamily="34" charset="-120"/>
              </a:rPr>
              <a:t>Right tool for the right job.</a:t>
            </a:r>
            <a:endParaRPr lang="en-US" sz="6600" dirty="0"/>
          </a:p>
        </p:txBody>
      </p:sp>
      <p:sp>
        <p:nvSpPr>
          <p:cNvPr id="4" name="Text 2"/>
          <p:cNvSpPr/>
          <p:nvPr/>
        </p:nvSpPr>
        <p:spPr>
          <a:xfrm>
            <a:off x="1066800" y="6069806"/>
            <a:ext cx="13078343" cy="1028700"/>
          </a:xfrm>
          <a:prstGeom prst="rect">
            <a:avLst/>
          </a:prstGeom>
          <a:noFill/>
          <a:ln/>
        </p:spPr>
        <p:txBody>
          <a:bodyPr wrap="square" lIns="25400" tIns="25400" rIns="25400" bIns="25400" rtlCol="0" anchor="t">
            <a:normAutofit/>
          </a:bodyPr>
          <a:lstStyle/>
          <a:p>
            <a:pPr algn="l" indent="0" marL="0">
              <a:lnSpc>
                <a:spcPct val="130000"/>
              </a:lnSpc>
              <a:buNone/>
            </a:pPr>
            <a:r>
              <a:rPr lang="en-US" sz="1875" dirty="0">
                <a:solidFill>
                  <a:srgbClr val="C05F38"/>
                </a:solidFill>
                <a:latin typeface="Courier New" pitchFamily="34" charset="0"/>
                <a:ea typeface="Courier New" pitchFamily="34" charset="-122"/>
                <a:cs typeface="Courier New" pitchFamily="34" charset="-120"/>
              </a:rPr>
              <a:t>PROBLEM → </a:t>
            </a:r>
            <a:pPr algn="l" indent="0" marL="0">
              <a:lnSpc>
                <a:spcPct val="130000"/>
              </a:lnSpc>
              <a:buNone/>
            </a:pPr>
            <a:r>
              <a:rPr lang="en-US" sz="3000" dirty="0">
                <a:solidFill>
                  <a:srgbClr val="9C9584"/>
                </a:solidFill>
                <a:latin typeface="Arial" pitchFamily="34" charset="0"/>
                <a:ea typeface="Arial" pitchFamily="34" charset="-122"/>
                <a:cs typeface="Arial" pitchFamily="34" charset="-120"/>
              </a:rPr>
              <a:t>One do-everything agent means context pollution, wrong tools available, and every agent able to modify any file.</a:t>
            </a:r>
            <a:endParaRPr lang="en-US" sz="3000" dirty="0"/>
          </a:p>
        </p:txBody>
      </p:sp>
      <p:sp>
        <p:nvSpPr>
          <p:cNvPr id="5" name="Text 3"/>
          <p:cNvSpPr/>
          <p:nvPr/>
        </p:nvSpPr>
        <p:spPr>
          <a:xfrm>
            <a:off x="16953309" y="9515475"/>
            <a:ext cx="344091" cy="276225"/>
          </a:xfrm>
          <a:prstGeom prst="rect">
            <a:avLst/>
          </a:prstGeom>
          <a:noFill/>
          <a:ln/>
        </p:spPr>
        <p:txBody>
          <a:bodyPr wrap="square" lIns="25400" tIns="25400" rIns="25400" bIns="25400" rtlCol="0" anchor="t">
            <a:normAutofit/>
          </a:bodyPr>
          <a:lstStyle/>
          <a:p>
            <a:pPr algn="l" indent="0" marL="0">
              <a:buNone/>
            </a:pPr>
            <a:r>
              <a:rPr lang="en-US" sz="1425" spc="200" kern="0" dirty="0">
                <a:solidFill>
                  <a:srgbClr val="9C9584"/>
                </a:solidFill>
                <a:latin typeface="Courier New" pitchFamily="34" charset="0"/>
                <a:ea typeface="Courier New" pitchFamily="34" charset="-122"/>
                <a:cs typeface="Courier New" pitchFamily="34" charset="-120"/>
              </a:rPr>
              <a:t>11</a:t>
            </a:r>
            <a:endParaRPr lang="en-US" sz="142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2ECE0"/>
        </a:solidFill>
      </p:bgPr>
    </p:bg>
    <p:spTree>
      <p:nvGrpSpPr>
        <p:cNvPr id="1" name=""/>
        <p:cNvGrpSpPr/>
        <p:nvPr/>
      </p:nvGrpSpPr>
      <p:grpSpPr>
        <a:xfrm>
          <a:off x="0" y="0"/>
          <a:ext cx="0" cy="0"/>
          <a:chOff x="0" y="0"/>
          <a:chExt cx="0" cy="0"/>
        </a:xfrm>
      </p:grpSpPr>
      <p:sp>
        <p:nvSpPr>
          <p:cNvPr id="2" name="Text 0"/>
          <p:cNvSpPr/>
          <p:nvPr/>
        </p:nvSpPr>
        <p:spPr>
          <a:xfrm>
            <a:off x="1066800" y="2018854"/>
            <a:ext cx="17769840" cy="276225"/>
          </a:xfrm>
          <a:prstGeom prst="rect">
            <a:avLst/>
          </a:prstGeom>
          <a:noFill/>
          <a:ln/>
        </p:spPr>
        <p:txBody>
          <a:bodyPr wrap="square" lIns="25400" tIns="25400" rIns="25400" bIns="25400" rtlCol="0" anchor="t">
            <a:normAutofit/>
          </a:bodyPr>
          <a:lstStyle/>
          <a:p>
            <a:pPr algn="l" indent="0" marL="0">
              <a:buNone/>
            </a:pPr>
            <a:r>
              <a:rPr lang="en-US" sz="1425" spc="342" kern="0" dirty="0">
                <a:solidFill>
                  <a:srgbClr val="C05F38"/>
                </a:solidFill>
                <a:latin typeface="Courier New" pitchFamily="34" charset="0"/>
                <a:ea typeface="Courier New" pitchFamily="34" charset="-122"/>
                <a:cs typeface="Courier New" pitchFamily="34" charset="-120"/>
              </a:rPr>
              <a:t>III · AGENTS · THE FIX</a:t>
            </a:r>
            <a:endParaRPr lang="en-US" sz="1425" dirty="0"/>
          </a:p>
        </p:txBody>
      </p:sp>
      <p:sp>
        <p:nvSpPr>
          <p:cNvPr id="3" name="Text 1"/>
          <p:cNvSpPr/>
          <p:nvPr/>
        </p:nvSpPr>
        <p:spPr>
          <a:xfrm>
            <a:off x="1066800" y="2504629"/>
            <a:ext cx="9079236" cy="1305818"/>
          </a:xfrm>
          <a:prstGeom prst="rect">
            <a:avLst/>
          </a:prstGeom>
          <a:noFill/>
          <a:ln/>
        </p:spPr>
        <p:txBody>
          <a:bodyPr wrap="square" lIns="25400" tIns="25400" rIns="25400" bIns="25400" rtlCol="0" anchor="t">
            <a:normAutofit/>
          </a:bodyPr>
          <a:lstStyle/>
          <a:p>
            <a:pPr algn="l" indent="0" marL="0">
              <a:lnSpc>
                <a:spcPct val="104000"/>
              </a:lnSpc>
              <a:buNone/>
            </a:pPr>
            <a:r>
              <a:rPr lang="en-US" sz="4800" b="1" spc="-72" kern="0" dirty="0">
                <a:solidFill>
                  <a:srgbClr val="1B1813"/>
                </a:solidFill>
                <a:latin typeface="Arial" pitchFamily="34" charset="0"/>
                <a:ea typeface="Arial" pitchFamily="34" charset="-122"/>
                <a:cs typeface="Arial" pitchFamily="34" charset="-120"/>
              </a:rPr>
              <a:t>Scoped tools, scoped writes, focused prompts</a:t>
            </a:r>
            <a:endParaRPr lang="en-US" sz="4800" dirty="0"/>
          </a:p>
        </p:txBody>
      </p:sp>
      <p:sp>
        <p:nvSpPr>
          <p:cNvPr id="4" name="Shape 2"/>
          <p:cNvSpPr/>
          <p:nvPr/>
        </p:nvSpPr>
        <p:spPr>
          <a:xfrm>
            <a:off x="1066800" y="4648646"/>
            <a:ext cx="16002000" cy="9525"/>
          </a:xfrm>
          <a:prstGeom prst="rect">
            <a:avLst/>
          </a:prstGeom>
          <a:solidFill>
            <a:srgbClr val="1B1813">
              <a:alpha val="13000"/>
            </a:srgbClr>
          </a:solidFill>
          <a:ln/>
        </p:spPr>
      </p:sp>
      <p:sp>
        <p:nvSpPr>
          <p:cNvPr id="5" name="Text 3"/>
          <p:cNvSpPr/>
          <p:nvPr/>
        </p:nvSpPr>
        <p:spPr>
          <a:xfrm>
            <a:off x="1066800" y="4324796"/>
            <a:ext cx="3143250" cy="228600"/>
          </a:xfrm>
          <a:prstGeom prst="rect">
            <a:avLst/>
          </a:prstGeom>
          <a:noFill/>
          <a:ln/>
        </p:spPr>
        <p:txBody>
          <a:bodyPr wrap="square" lIns="25400" tIns="25400" rIns="25400" bIns="25400" rtlCol="0" anchor="t">
            <a:normAutofit/>
          </a:bodyPr>
          <a:lstStyle/>
          <a:p>
            <a:pPr algn="l" indent="0" marL="0">
              <a:buNone/>
            </a:pPr>
            <a:r>
              <a:rPr lang="en-US" sz="1125" spc="113" kern="0" dirty="0">
                <a:solidFill>
                  <a:srgbClr val="6E6656"/>
                </a:solidFill>
                <a:latin typeface="Courier New" pitchFamily="34" charset="0"/>
                <a:ea typeface="Courier New" pitchFamily="34" charset="-122"/>
                <a:cs typeface="Courier New" pitchFamily="34" charset="-120"/>
              </a:rPr>
              <a:t>AGENT</a:t>
            </a:r>
            <a:endParaRPr lang="en-US" sz="1125" dirty="0"/>
          </a:p>
        </p:txBody>
      </p:sp>
      <p:sp>
        <p:nvSpPr>
          <p:cNvPr id="6" name="Text 4"/>
          <p:cNvSpPr/>
          <p:nvPr/>
        </p:nvSpPr>
        <p:spPr>
          <a:xfrm>
            <a:off x="4267200" y="4324796"/>
            <a:ext cx="10561320" cy="228600"/>
          </a:xfrm>
          <a:prstGeom prst="rect">
            <a:avLst/>
          </a:prstGeom>
          <a:noFill/>
          <a:ln/>
        </p:spPr>
        <p:txBody>
          <a:bodyPr wrap="square" lIns="25400" tIns="25400" rIns="25400" bIns="25400" rtlCol="0" anchor="t">
            <a:normAutofit/>
          </a:bodyPr>
          <a:lstStyle/>
          <a:p>
            <a:pPr algn="l" indent="0" marL="0">
              <a:buNone/>
            </a:pPr>
            <a:r>
              <a:rPr lang="en-US" sz="1125" spc="113" kern="0" dirty="0">
                <a:solidFill>
                  <a:srgbClr val="6E6656"/>
                </a:solidFill>
                <a:latin typeface="Courier New" pitchFamily="34" charset="0"/>
                <a:ea typeface="Courier New" pitchFamily="34" charset="-122"/>
                <a:cs typeface="Courier New" pitchFamily="34" charset="-120"/>
              </a:rPr>
              <a:t>PURPOSE</a:t>
            </a:r>
            <a:endParaRPr lang="en-US" sz="1125" dirty="0"/>
          </a:p>
        </p:txBody>
      </p:sp>
      <p:sp>
        <p:nvSpPr>
          <p:cNvPr id="7" name="Text 5"/>
          <p:cNvSpPr/>
          <p:nvPr/>
        </p:nvSpPr>
        <p:spPr>
          <a:xfrm>
            <a:off x="14211300" y="4324796"/>
            <a:ext cx="3143250" cy="228600"/>
          </a:xfrm>
          <a:prstGeom prst="rect">
            <a:avLst/>
          </a:prstGeom>
          <a:noFill/>
          <a:ln/>
        </p:spPr>
        <p:txBody>
          <a:bodyPr wrap="square" lIns="25400" tIns="25400" rIns="25400" bIns="25400" rtlCol="0" anchor="t">
            <a:normAutofit/>
          </a:bodyPr>
          <a:lstStyle/>
          <a:p>
            <a:pPr algn="l" indent="0" marL="0">
              <a:buNone/>
            </a:pPr>
            <a:r>
              <a:rPr lang="en-US" sz="1125" spc="113" kern="0" dirty="0">
                <a:solidFill>
                  <a:srgbClr val="6E6656"/>
                </a:solidFill>
                <a:latin typeface="Courier New" pitchFamily="34" charset="0"/>
                <a:ea typeface="Courier New" pitchFamily="34" charset="-122"/>
                <a:cs typeface="Courier New" pitchFamily="34" charset="-120"/>
              </a:rPr>
              <a:t>KEY CONSTRAINT</a:t>
            </a:r>
            <a:endParaRPr lang="en-US" sz="1125" dirty="0"/>
          </a:p>
        </p:txBody>
      </p:sp>
      <p:sp>
        <p:nvSpPr>
          <p:cNvPr id="8" name="Shape 6"/>
          <p:cNvSpPr/>
          <p:nvPr/>
        </p:nvSpPr>
        <p:spPr>
          <a:xfrm>
            <a:off x="1066800" y="5267771"/>
            <a:ext cx="16002000" cy="9525"/>
          </a:xfrm>
          <a:prstGeom prst="rect">
            <a:avLst/>
          </a:prstGeom>
          <a:solidFill>
            <a:srgbClr val="1B1813">
              <a:alpha val="13000"/>
            </a:srgbClr>
          </a:solidFill>
          <a:ln/>
        </p:spPr>
      </p:sp>
      <p:sp>
        <p:nvSpPr>
          <p:cNvPr id="9" name="Text 7"/>
          <p:cNvSpPr/>
          <p:nvPr/>
        </p:nvSpPr>
        <p:spPr>
          <a:xfrm>
            <a:off x="1066800" y="4839146"/>
            <a:ext cx="3143250" cy="295275"/>
          </a:xfrm>
          <a:prstGeom prst="rect">
            <a:avLst/>
          </a:prstGeom>
          <a:noFill/>
          <a:ln/>
        </p:spPr>
        <p:txBody>
          <a:bodyPr wrap="square" lIns="25400" tIns="25400" rIns="25400" bIns="25400" rtlCol="0" anchor="t">
            <a:normAutofit/>
          </a:bodyPr>
          <a:lstStyle/>
          <a:p>
            <a:pPr algn="l" indent="0" marL="0">
              <a:buNone/>
            </a:pPr>
            <a:r>
              <a:rPr lang="en-US" sz="1575" dirty="0">
                <a:solidFill>
                  <a:srgbClr val="C05F38"/>
                </a:solidFill>
                <a:latin typeface="Courier New" pitchFamily="34" charset="0"/>
                <a:ea typeface="Courier New" pitchFamily="34" charset="-122"/>
                <a:cs typeface="Courier New" pitchFamily="34" charset="-120"/>
              </a:rPr>
              <a:t>feature-developer</a:t>
            </a:r>
            <a:endParaRPr lang="en-US" sz="1575" dirty="0"/>
          </a:p>
        </p:txBody>
      </p:sp>
      <p:sp>
        <p:nvSpPr>
          <p:cNvPr id="10" name="Text 8"/>
          <p:cNvSpPr/>
          <p:nvPr/>
        </p:nvSpPr>
        <p:spPr>
          <a:xfrm>
            <a:off x="4267200" y="4820096"/>
            <a:ext cx="10561320" cy="323850"/>
          </a:xfrm>
          <a:prstGeom prst="rect">
            <a:avLst/>
          </a:prstGeom>
          <a:noFill/>
          <a:ln/>
        </p:spPr>
        <p:txBody>
          <a:bodyPr wrap="square" lIns="25400" tIns="25400" rIns="25400" bIns="25400" rtlCol="0" anchor="t">
            <a:normAutofit/>
          </a:bodyPr>
          <a:lstStyle/>
          <a:p>
            <a:pPr algn="l" indent="0" marL="0">
              <a:buNone/>
            </a:pPr>
            <a:r>
              <a:rPr lang="en-US" sz="1725" dirty="0">
                <a:solidFill>
                  <a:srgbClr val="1B1813"/>
                </a:solidFill>
                <a:latin typeface="Arial" pitchFamily="34" charset="0"/>
                <a:ea typeface="Arial" pitchFamily="34" charset="-122"/>
                <a:cs typeface="Arial" pitchFamily="34" charset="-120"/>
              </a:rPr>
              <a:t>Build features with workflow gates</a:t>
            </a:r>
            <a:endParaRPr lang="en-US" sz="1725" dirty="0"/>
          </a:p>
        </p:txBody>
      </p:sp>
      <p:sp>
        <p:nvSpPr>
          <p:cNvPr id="11" name="Text 9"/>
          <p:cNvSpPr/>
          <p:nvPr/>
        </p:nvSpPr>
        <p:spPr>
          <a:xfrm>
            <a:off x="14211300" y="4848671"/>
            <a:ext cx="3143250" cy="285750"/>
          </a:xfrm>
          <a:prstGeom prst="rect">
            <a:avLst/>
          </a:prstGeom>
          <a:noFill/>
          <a:ln/>
        </p:spPr>
        <p:txBody>
          <a:bodyPr wrap="square" lIns="25400" tIns="25400" rIns="25400" bIns="25400" rtlCol="0" anchor="t">
            <a:normAutofit/>
          </a:bodyPr>
          <a:lstStyle/>
          <a:p>
            <a:pPr algn="l" indent="0" marL="0">
              <a:buNone/>
            </a:pPr>
            <a:r>
              <a:rPr lang="en-US" sz="1500" dirty="0">
                <a:solidFill>
                  <a:srgbClr val="6E6656"/>
                </a:solidFill>
                <a:latin typeface="Arial" pitchFamily="34" charset="0"/>
                <a:ea typeface="Arial" pitchFamily="34" charset="-122"/>
                <a:cs typeface="Arial" pitchFamily="34" charset="-120"/>
              </a:rPr>
              <a:t>Write scoped to powerpipe/**</a:t>
            </a:r>
            <a:endParaRPr lang="en-US" sz="1500" dirty="0"/>
          </a:p>
        </p:txBody>
      </p:sp>
      <p:sp>
        <p:nvSpPr>
          <p:cNvPr id="12" name="Shape 10"/>
          <p:cNvSpPr/>
          <p:nvPr/>
        </p:nvSpPr>
        <p:spPr>
          <a:xfrm>
            <a:off x="1066800" y="5886896"/>
            <a:ext cx="16002000" cy="9525"/>
          </a:xfrm>
          <a:prstGeom prst="rect">
            <a:avLst/>
          </a:prstGeom>
          <a:solidFill>
            <a:srgbClr val="1B1813">
              <a:alpha val="13000"/>
            </a:srgbClr>
          </a:solidFill>
          <a:ln/>
        </p:spPr>
      </p:sp>
      <p:sp>
        <p:nvSpPr>
          <p:cNvPr id="13" name="Text 11"/>
          <p:cNvSpPr/>
          <p:nvPr/>
        </p:nvSpPr>
        <p:spPr>
          <a:xfrm>
            <a:off x="1066800" y="5458271"/>
            <a:ext cx="3143250" cy="295275"/>
          </a:xfrm>
          <a:prstGeom prst="rect">
            <a:avLst/>
          </a:prstGeom>
          <a:noFill/>
          <a:ln/>
        </p:spPr>
        <p:txBody>
          <a:bodyPr wrap="square" lIns="25400" tIns="25400" rIns="25400" bIns="25400" rtlCol="0" anchor="t">
            <a:normAutofit/>
          </a:bodyPr>
          <a:lstStyle/>
          <a:p>
            <a:pPr algn="l" indent="0" marL="0">
              <a:buNone/>
            </a:pPr>
            <a:r>
              <a:rPr lang="en-US" sz="1575" dirty="0">
                <a:solidFill>
                  <a:srgbClr val="C05F38"/>
                </a:solidFill>
                <a:latin typeface="Courier New" pitchFamily="34" charset="0"/>
                <a:ea typeface="Courier New" pitchFamily="34" charset="-122"/>
                <a:cs typeface="Courier New" pitchFamily="34" charset="-120"/>
              </a:rPr>
              <a:t>code-reviewer</a:t>
            </a:r>
            <a:endParaRPr lang="en-US" sz="1575" dirty="0"/>
          </a:p>
        </p:txBody>
      </p:sp>
      <p:sp>
        <p:nvSpPr>
          <p:cNvPr id="14" name="Text 12"/>
          <p:cNvSpPr/>
          <p:nvPr/>
        </p:nvSpPr>
        <p:spPr>
          <a:xfrm>
            <a:off x="4267200" y="5439221"/>
            <a:ext cx="10561320" cy="323850"/>
          </a:xfrm>
          <a:prstGeom prst="rect">
            <a:avLst/>
          </a:prstGeom>
          <a:noFill/>
          <a:ln/>
        </p:spPr>
        <p:txBody>
          <a:bodyPr wrap="square" lIns="25400" tIns="25400" rIns="25400" bIns="25400" rtlCol="0" anchor="t">
            <a:normAutofit/>
          </a:bodyPr>
          <a:lstStyle/>
          <a:p>
            <a:pPr algn="l" indent="0" marL="0">
              <a:buNone/>
            </a:pPr>
            <a:r>
              <a:rPr lang="en-US" sz="1725" dirty="0">
                <a:solidFill>
                  <a:srgbClr val="1B1813"/>
                </a:solidFill>
                <a:latin typeface="Arial" pitchFamily="34" charset="0"/>
                <a:ea typeface="Arial" pitchFamily="34" charset="-122"/>
                <a:cs typeface="Arial" pitchFamily="34" charset="-120"/>
              </a:rPr>
              <a:t>Pre-MR code review</a:t>
            </a:r>
            <a:endParaRPr lang="en-US" sz="1725" dirty="0"/>
          </a:p>
        </p:txBody>
      </p:sp>
      <p:sp>
        <p:nvSpPr>
          <p:cNvPr id="15" name="Text 13"/>
          <p:cNvSpPr/>
          <p:nvPr/>
        </p:nvSpPr>
        <p:spPr>
          <a:xfrm>
            <a:off x="14211300" y="5467796"/>
            <a:ext cx="3143250" cy="285750"/>
          </a:xfrm>
          <a:prstGeom prst="rect">
            <a:avLst/>
          </a:prstGeom>
          <a:noFill/>
          <a:ln/>
        </p:spPr>
        <p:txBody>
          <a:bodyPr wrap="square" lIns="25400" tIns="25400" rIns="25400" bIns="25400" rtlCol="0" anchor="t">
            <a:normAutofit/>
          </a:bodyPr>
          <a:lstStyle/>
          <a:p>
            <a:pPr algn="l" indent="0" marL="0">
              <a:buNone/>
            </a:pPr>
            <a:r>
              <a:rPr lang="en-US" sz="1500" dirty="0">
                <a:solidFill>
                  <a:srgbClr val="6E6656"/>
                </a:solidFill>
                <a:latin typeface="Arial" pitchFamily="34" charset="0"/>
                <a:ea typeface="Arial" pitchFamily="34" charset="-122"/>
                <a:cs typeface="Arial" pitchFamily="34" charset="-120"/>
              </a:rPr>
              <a:t>denyByDefault — diff/log only</a:t>
            </a:r>
            <a:endParaRPr lang="en-US" sz="1500" dirty="0"/>
          </a:p>
        </p:txBody>
      </p:sp>
      <p:sp>
        <p:nvSpPr>
          <p:cNvPr id="16" name="Shape 14"/>
          <p:cNvSpPr/>
          <p:nvPr/>
        </p:nvSpPr>
        <p:spPr>
          <a:xfrm>
            <a:off x="1066800" y="6506021"/>
            <a:ext cx="16002000" cy="9525"/>
          </a:xfrm>
          <a:prstGeom prst="rect">
            <a:avLst/>
          </a:prstGeom>
          <a:solidFill>
            <a:srgbClr val="1B1813">
              <a:alpha val="13000"/>
            </a:srgbClr>
          </a:solidFill>
          <a:ln/>
        </p:spPr>
      </p:sp>
      <p:sp>
        <p:nvSpPr>
          <p:cNvPr id="17" name="Text 15"/>
          <p:cNvSpPr/>
          <p:nvPr/>
        </p:nvSpPr>
        <p:spPr>
          <a:xfrm>
            <a:off x="1066800" y="6077396"/>
            <a:ext cx="3143250" cy="295275"/>
          </a:xfrm>
          <a:prstGeom prst="rect">
            <a:avLst/>
          </a:prstGeom>
          <a:noFill/>
          <a:ln/>
        </p:spPr>
        <p:txBody>
          <a:bodyPr wrap="square" lIns="25400" tIns="25400" rIns="25400" bIns="25400" rtlCol="0" anchor="t">
            <a:normAutofit/>
          </a:bodyPr>
          <a:lstStyle/>
          <a:p>
            <a:pPr algn="l" indent="0" marL="0">
              <a:buNone/>
            </a:pPr>
            <a:r>
              <a:rPr lang="en-US" sz="1575" dirty="0">
                <a:solidFill>
                  <a:srgbClr val="C05F38"/>
                </a:solidFill>
                <a:latin typeface="Courier New" pitchFamily="34" charset="0"/>
                <a:ea typeface="Courier New" pitchFamily="34" charset="-122"/>
                <a:cs typeface="Courier New" pitchFamily="34" charset="-120"/>
              </a:rPr>
              <a:t>security-auditor</a:t>
            </a:r>
            <a:endParaRPr lang="en-US" sz="1575" dirty="0"/>
          </a:p>
        </p:txBody>
      </p:sp>
      <p:sp>
        <p:nvSpPr>
          <p:cNvPr id="18" name="Text 16"/>
          <p:cNvSpPr/>
          <p:nvPr/>
        </p:nvSpPr>
        <p:spPr>
          <a:xfrm>
            <a:off x="4267200" y="6058346"/>
            <a:ext cx="10561320" cy="323850"/>
          </a:xfrm>
          <a:prstGeom prst="rect">
            <a:avLst/>
          </a:prstGeom>
          <a:noFill/>
          <a:ln/>
        </p:spPr>
        <p:txBody>
          <a:bodyPr wrap="square" lIns="25400" tIns="25400" rIns="25400" bIns="25400" rtlCol="0" anchor="t">
            <a:normAutofit/>
          </a:bodyPr>
          <a:lstStyle/>
          <a:p>
            <a:pPr algn="l" indent="0" marL="0">
              <a:buNone/>
            </a:pPr>
            <a:r>
              <a:rPr lang="en-US" sz="1725" dirty="0">
                <a:solidFill>
                  <a:srgbClr val="1B1813"/>
                </a:solidFill>
                <a:latin typeface="Arial" pitchFamily="34" charset="0"/>
                <a:ea typeface="Arial" pitchFamily="34" charset="-122"/>
                <a:cs typeface="Arial" pitchFamily="34" charset="-120"/>
              </a:rPr>
              <a:t>Security review of changes</a:t>
            </a:r>
            <a:endParaRPr lang="en-US" sz="1725" dirty="0"/>
          </a:p>
        </p:txBody>
      </p:sp>
      <p:sp>
        <p:nvSpPr>
          <p:cNvPr id="19" name="Text 17"/>
          <p:cNvSpPr/>
          <p:nvPr/>
        </p:nvSpPr>
        <p:spPr>
          <a:xfrm>
            <a:off x="14211300" y="6086921"/>
            <a:ext cx="3143250" cy="285750"/>
          </a:xfrm>
          <a:prstGeom prst="rect">
            <a:avLst/>
          </a:prstGeom>
          <a:noFill/>
          <a:ln/>
        </p:spPr>
        <p:txBody>
          <a:bodyPr wrap="square" lIns="25400" tIns="25400" rIns="25400" bIns="25400" rtlCol="0" anchor="t">
            <a:normAutofit/>
          </a:bodyPr>
          <a:lstStyle/>
          <a:p>
            <a:pPr algn="l" indent="0" marL="0">
              <a:buNone/>
            </a:pPr>
            <a:r>
              <a:rPr lang="en-US" sz="1500" dirty="0">
                <a:solidFill>
                  <a:srgbClr val="6E6656"/>
                </a:solidFill>
                <a:latin typeface="Arial" pitchFamily="34" charset="0"/>
                <a:ea typeface="Arial" pitchFamily="34" charset="-122"/>
                <a:cs typeface="Arial" pitchFamily="34" charset="-120"/>
              </a:rPr>
              <a:t>No write. Hands off fixes.</a:t>
            </a:r>
            <a:endParaRPr lang="en-US" sz="1500" dirty="0"/>
          </a:p>
        </p:txBody>
      </p:sp>
      <p:sp>
        <p:nvSpPr>
          <p:cNvPr id="20" name="Shape 18"/>
          <p:cNvSpPr/>
          <p:nvPr/>
        </p:nvSpPr>
        <p:spPr>
          <a:xfrm>
            <a:off x="1066800" y="7125146"/>
            <a:ext cx="16002000" cy="9525"/>
          </a:xfrm>
          <a:prstGeom prst="rect">
            <a:avLst/>
          </a:prstGeom>
          <a:solidFill>
            <a:srgbClr val="1B1813">
              <a:alpha val="13000"/>
            </a:srgbClr>
          </a:solidFill>
          <a:ln/>
        </p:spPr>
      </p:sp>
      <p:sp>
        <p:nvSpPr>
          <p:cNvPr id="21" name="Text 19"/>
          <p:cNvSpPr/>
          <p:nvPr/>
        </p:nvSpPr>
        <p:spPr>
          <a:xfrm>
            <a:off x="1066800" y="6696521"/>
            <a:ext cx="3143250" cy="295275"/>
          </a:xfrm>
          <a:prstGeom prst="rect">
            <a:avLst/>
          </a:prstGeom>
          <a:noFill/>
          <a:ln/>
        </p:spPr>
        <p:txBody>
          <a:bodyPr wrap="square" lIns="25400" tIns="25400" rIns="25400" bIns="25400" rtlCol="0" anchor="t">
            <a:normAutofit/>
          </a:bodyPr>
          <a:lstStyle/>
          <a:p>
            <a:pPr algn="l" indent="0" marL="0">
              <a:buNone/>
            </a:pPr>
            <a:r>
              <a:rPr lang="en-US" sz="1575" dirty="0">
                <a:solidFill>
                  <a:srgbClr val="C05F38"/>
                </a:solidFill>
                <a:latin typeface="Courier New" pitchFamily="34" charset="0"/>
                <a:ea typeface="Courier New" pitchFamily="34" charset="-122"/>
                <a:cs typeface="Courier New" pitchFamily="34" charset="-120"/>
              </a:rPr>
              <a:t>gitlab-ci-engineer</a:t>
            </a:r>
            <a:endParaRPr lang="en-US" sz="1575" dirty="0"/>
          </a:p>
        </p:txBody>
      </p:sp>
      <p:sp>
        <p:nvSpPr>
          <p:cNvPr id="22" name="Text 20"/>
          <p:cNvSpPr/>
          <p:nvPr/>
        </p:nvSpPr>
        <p:spPr>
          <a:xfrm>
            <a:off x="4267200" y="6677471"/>
            <a:ext cx="10561320" cy="323850"/>
          </a:xfrm>
          <a:prstGeom prst="rect">
            <a:avLst/>
          </a:prstGeom>
          <a:noFill/>
          <a:ln/>
        </p:spPr>
        <p:txBody>
          <a:bodyPr wrap="square" lIns="25400" tIns="25400" rIns="25400" bIns="25400" rtlCol="0" anchor="t">
            <a:normAutofit/>
          </a:bodyPr>
          <a:lstStyle/>
          <a:p>
            <a:pPr algn="l" indent="0" marL="0">
              <a:buNone/>
            </a:pPr>
            <a:r>
              <a:rPr lang="en-US" sz="1725" dirty="0">
                <a:solidFill>
                  <a:srgbClr val="1B1813"/>
                </a:solidFill>
                <a:latin typeface="Arial" pitchFamily="34" charset="0"/>
                <a:ea typeface="Arial" pitchFamily="34" charset="-122"/>
                <a:cs typeface="Arial" pitchFamily="34" charset="-120"/>
              </a:rPr>
              <a:t>CI/CD pipeline work</a:t>
            </a:r>
            <a:endParaRPr lang="en-US" sz="1725" dirty="0"/>
          </a:p>
        </p:txBody>
      </p:sp>
      <p:sp>
        <p:nvSpPr>
          <p:cNvPr id="23" name="Text 21"/>
          <p:cNvSpPr/>
          <p:nvPr/>
        </p:nvSpPr>
        <p:spPr>
          <a:xfrm>
            <a:off x="14211300" y="6706046"/>
            <a:ext cx="3143250" cy="285750"/>
          </a:xfrm>
          <a:prstGeom prst="rect">
            <a:avLst/>
          </a:prstGeom>
          <a:noFill/>
          <a:ln/>
        </p:spPr>
        <p:txBody>
          <a:bodyPr wrap="square" lIns="25400" tIns="25400" rIns="25400" bIns="25400" rtlCol="0" anchor="t">
            <a:normAutofit/>
          </a:bodyPr>
          <a:lstStyle/>
          <a:p>
            <a:pPr algn="l" indent="0" marL="0">
              <a:buNone/>
            </a:pPr>
            <a:r>
              <a:rPr lang="en-US" sz="1500" dirty="0">
                <a:solidFill>
                  <a:srgbClr val="6E6656"/>
                </a:solidFill>
                <a:latin typeface="Arial" pitchFamily="34" charset="0"/>
                <a:ea typeface="Arial" pitchFamily="34" charset="-122"/>
                <a:cs typeface="Arial" pitchFamily="34" charset="-120"/>
              </a:rPr>
              <a:t>Focused on .gitlab-ci.yml</a:t>
            </a:r>
            <a:endParaRPr lang="en-US" sz="1500" dirty="0"/>
          </a:p>
        </p:txBody>
      </p:sp>
      <p:sp>
        <p:nvSpPr>
          <p:cNvPr id="24" name="Shape 22"/>
          <p:cNvSpPr/>
          <p:nvPr/>
        </p:nvSpPr>
        <p:spPr>
          <a:xfrm>
            <a:off x="1066800" y="7744271"/>
            <a:ext cx="16002000" cy="9525"/>
          </a:xfrm>
          <a:prstGeom prst="rect">
            <a:avLst/>
          </a:prstGeom>
          <a:solidFill>
            <a:srgbClr val="1B1813">
              <a:alpha val="13000"/>
            </a:srgbClr>
          </a:solidFill>
          <a:ln/>
        </p:spPr>
      </p:sp>
      <p:sp>
        <p:nvSpPr>
          <p:cNvPr id="25" name="Text 23"/>
          <p:cNvSpPr/>
          <p:nvPr/>
        </p:nvSpPr>
        <p:spPr>
          <a:xfrm>
            <a:off x="1066800" y="7315646"/>
            <a:ext cx="3143250" cy="295275"/>
          </a:xfrm>
          <a:prstGeom prst="rect">
            <a:avLst/>
          </a:prstGeom>
          <a:noFill/>
          <a:ln/>
        </p:spPr>
        <p:txBody>
          <a:bodyPr wrap="square" lIns="25400" tIns="25400" rIns="25400" bIns="25400" rtlCol="0" anchor="t">
            <a:normAutofit/>
          </a:bodyPr>
          <a:lstStyle/>
          <a:p>
            <a:pPr algn="l" indent="0" marL="0">
              <a:buNone/>
            </a:pPr>
            <a:r>
              <a:rPr lang="en-US" sz="1575" dirty="0">
                <a:solidFill>
                  <a:srgbClr val="C05F38"/>
                </a:solidFill>
                <a:latin typeface="Courier New" pitchFamily="34" charset="0"/>
                <a:ea typeface="Courier New" pitchFamily="34" charset="-122"/>
                <a:cs typeface="Courier New" pitchFamily="34" charset="-120"/>
              </a:rPr>
              <a:t>jira-agent</a:t>
            </a:r>
            <a:endParaRPr lang="en-US" sz="1575" dirty="0"/>
          </a:p>
        </p:txBody>
      </p:sp>
      <p:sp>
        <p:nvSpPr>
          <p:cNvPr id="26" name="Text 24"/>
          <p:cNvSpPr/>
          <p:nvPr/>
        </p:nvSpPr>
        <p:spPr>
          <a:xfrm>
            <a:off x="4267200" y="7296596"/>
            <a:ext cx="10561320" cy="323850"/>
          </a:xfrm>
          <a:prstGeom prst="rect">
            <a:avLst/>
          </a:prstGeom>
          <a:noFill/>
          <a:ln/>
        </p:spPr>
        <p:txBody>
          <a:bodyPr wrap="square" lIns="25400" tIns="25400" rIns="25400" bIns="25400" rtlCol="0" anchor="t">
            <a:normAutofit/>
          </a:bodyPr>
          <a:lstStyle/>
          <a:p>
            <a:pPr algn="l" indent="0" marL="0">
              <a:buNone/>
            </a:pPr>
            <a:r>
              <a:rPr lang="en-US" sz="1725" dirty="0">
                <a:solidFill>
                  <a:srgbClr val="1B1813"/>
                </a:solidFill>
                <a:latin typeface="Arial" pitchFamily="34" charset="0"/>
                <a:ea typeface="Arial" pitchFamily="34" charset="-122"/>
                <a:cs typeface="Arial" pitchFamily="34" charset="-120"/>
              </a:rPr>
              <a:t>Ticket management</a:t>
            </a:r>
            <a:endParaRPr lang="en-US" sz="1725" dirty="0"/>
          </a:p>
        </p:txBody>
      </p:sp>
      <p:sp>
        <p:nvSpPr>
          <p:cNvPr id="27" name="Text 25"/>
          <p:cNvSpPr/>
          <p:nvPr/>
        </p:nvSpPr>
        <p:spPr>
          <a:xfrm>
            <a:off x="14211300" y="7325171"/>
            <a:ext cx="3143250" cy="285750"/>
          </a:xfrm>
          <a:prstGeom prst="rect">
            <a:avLst/>
          </a:prstGeom>
          <a:noFill/>
          <a:ln/>
        </p:spPr>
        <p:txBody>
          <a:bodyPr wrap="square" lIns="25400" tIns="25400" rIns="25400" bIns="25400" rtlCol="0" anchor="t">
            <a:normAutofit/>
          </a:bodyPr>
          <a:lstStyle/>
          <a:p>
            <a:pPr algn="l" indent="0" marL="0">
              <a:buNone/>
            </a:pPr>
            <a:r>
              <a:rPr lang="en-US" sz="1500" dirty="0">
                <a:solidFill>
                  <a:srgbClr val="6E6656"/>
                </a:solidFill>
                <a:latin typeface="Arial" pitchFamily="34" charset="0"/>
                <a:ea typeface="Arial" pitchFamily="34" charset="-122"/>
                <a:cs typeface="Arial" pitchFamily="34" charset="-120"/>
              </a:rPr>
              <a:t>Hook blocks all deletes</a:t>
            </a:r>
            <a:endParaRPr lang="en-US" sz="1500" dirty="0"/>
          </a:p>
        </p:txBody>
      </p:sp>
      <p:sp>
        <p:nvSpPr>
          <p:cNvPr id="28" name="Text 26"/>
          <p:cNvSpPr/>
          <p:nvPr/>
        </p:nvSpPr>
        <p:spPr>
          <a:xfrm>
            <a:off x="1066800" y="7934771"/>
            <a:ext cx="3143250" cy="295275"/>
          </a:xfrm>
          <a:prstGeom prst="rect">
            <a:avLst/>
          </a:prstGeom>
          <a:noFill/>
          <a:ln/>
        </p:spPr>
        <p:txBody>
          <a:bodyPr wrap="square" lIns="25400" tIns="25400" rIns="25400" bIns="25400" rtlCol="0" anchor="t">
            <a:normAutofit/>
          </a:bodyPr>
          <a:lstStyle/>
          <a:p>
            <a:pPr algn="l" indent="0" marL="0">
              <a:buNone/>
            </a:pPr>
            <a:r>
              <a:rPr lang="en-US" sz="1575" dirty="0">
                <a:solidFill>
                  <a:srgbClr val="C05F38"/>
                </a:solidFill>
                <a:latin typeface="Courier New" pitchFamily="34" charset="0"/>
                <a:ea typeface="Courier New" pitchFamily="34" charset="-122"/>
                <a:cs typeface="Courier New" pitchFamily="34" charset="-120"/>
              </a:rPr>
              <a:t>aws-architect</a:t>
            </a:r>
            <a:endParaRPr lang="en-US" sz="1575" dirty="0"/>
          </a:p>
        </p:txBody>
      </p:sp>
      <p:sp>
        <p:nvSpPr>
          <p:cNvPr id="29" name="Text 27"/>
          <p:cNvSpPr/>
          <p:nvPr/>
        </p:nvSpPr>
        <p:spPr>
          <a:xfrm>
            <a:off x="4267200" y="7915721"/>
            <a:ext cx="10561320" cy="323850"/>
          </a:xfrm>
          <a:prstGeom prst="rect">
            <a:avLst/>
          </a:prstGeom>
          <a:noFill/>
          <a:ln/>
        </p:spPr>
        <p:txBody>
          <a:bodyPr wrap="square" lIns="25400" tIns="25400" rIns="25400" bIns="25400" rtlCol="0" anchor="t">
            <a:normAutofit/>
          </a:bodyPr>
          <a:lstStyle/>
          <a:p>
            <a:pPr algn="l" indent="0" marL="0">
              <a:buNone/>
            </a:pPr>
            <a:r>
              <a:rPr lang="en-US" sz="1725" dirty="0">
                <a:solidFill>
                  <a:srgbClr val="1B1813"/>
                </a:solidFill>
                <a:latin typeface="Arial" pitchFamily="34" charset="0"/>
                <a:ea typeface="Arial" pitchFamily="34" charset="-122"/>
                <a:cs typeface="Arial" pitchFamily="34" charset="-120"/>
              </a:rPr>
              <a:t>Architecture design</a:t>
            </a:r>
            <a:endParaRPr lang="en-US" sz="1725" dirty="0"/>
          </a:p>
        </p:txBody>
      </p:sp>
      <p:sp>
        <p:nvSpPr>
          <p:cNvPr id="30" name="Text 28"/>
          <p:cNvSpPr/>
          <p:nvPr/>
        </p:nvSpPr>
        <p:spPr>
          <a:xfrm>
            <a:off x="14211300" y="7944296"/>
            <a:ext cx="3143250" cy="285750"/>
          </a:xfrm>
          <a:prstGeom prst="rect">
            <a:avLst/>
          </a:prstGeom>
          <a:noFill/>
          <a:ln/>
        </p:spPr>
        <p:txBody>
          <a:bodyPr wrap="square" lIns="25400" tIns="25400" rIns="25400" bIns="25400" rtlCol="0" anchor="t">
            <a:normAutofit/>
          </a:bodyPr>
          <a:lstStyle/>
          <a:p>
            <a:pPr algn="l" indent="0" marL="0">
              <a:buNone/>
            </a:pPr>
            <a:r>
              <a:rPr lang="en-US" sz="1500" dirty="0">
                <a:solidFill>
                  <a:srgbClr val="6E6656"/>
                </a:solidFill>
                <a:latin typeface="Arial" pitchFamily="34" charset="0"/>
                <a:ea typeface="Arial" pitchFamily="34" charset="-122"/>
                <a:cs typeface="Arial" pitchFamily="34" charset="-120"/>
              </a:rPr>
              <a:t>Read-only. Docs, not code.</a:t>
            </a:r>
            <a:endParaRPr lang="en-US" sz="1500" dirty="0"/>
          </a:p>
        </p:txBody>
      </p:sp>
      <p:sp>
        <p:nvSpPr>
          <p:cNvPr id="31" name="Text 29"/>
          <p:cNvSpPr/>
          <p:nvPr/>
        </p:nvSpPr>
        <p:spPr>
          <a:xfrm>
            <a:off x="16953309" y="9515475"/>
            <a:ext cx="344091" cy="276225"/>
          </a:xfrm>
          <a:prstGeom prst="rect">
            <a:avLst/>
          </a:prstGeom>
          <a:noFill/>
          <a:ln/>
        </p:spPr>
        <p:txBody>
          <a:bodyPr wrap="square" lIns="25400" tIns="25400" rIns="25400" bIns="25400" rtlCol="0" anchor="t">
            <a:normAutofit/>
          </a:bodyPr>
          <a:lstStyle/>
          <a:p>
            <a:pPr algn="l" indent="0" marL="0">
              <a:buNone/>
            </a:pPr>
            <a:r>
              <a:rPr lang="en-US" sz="1425" spc="200" kern="0" dirty="0">
                <a:solidFill>
                  <a:srgbClr val="6E6656"/>
                </a:solidFill>
                <a:latin typeface="Courier New" pitchFamily="34" charset="0"/>
                <a:ea typeface="Courier New" pitchFamily="34" charset="-122"/>
                <a:cs typeface="Courier New" pitchFamily="34" charset="-120"/>
              </a:rPr>
              <a:t>12</a:t>
            </a:r>
            <a:endParaRPr lang="en-US" sz="142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2ECE0"/>
        </a:solidFill>
      </p:bgPr>
    </p:bg>
    <p:spTree>
      <p:nvGrpSpPr>
        <p:cNvPr id="1" name=""/>
        <p:cNvGrpSpPr/>
        <p:nvPr/>
      </p:nvGrpSpPr>
      <p:grpSpPr>
        <a:xfrm>
          <a:off x="0" y="0"/>
          <a:ext cx="0" cy="0"/>
          <a:chOff x="0" y="0"/>
          <a:chExt cx="0" cy="0"/>
        </a:xfrm>
      </p:grpSpPr>
      <p:sp>
        <p:nvSpPr>
          <p:cNvPr id="2" name="Text 0"/>
          <p:cNvSpPr/>
          <p:nvPr/>
        </p:nvSpPr>
        <p:spPr>
          <a:xfrm>
            <a:off x="1066800" y="1998018"/>
            <a:ext cx="17769840" cy="276225"/>
          </a:xfrm>
          <a:prstGeom prst="rect">
            <a:avLst/>
          </a:prstGeom>
          <a:noFill/>
          <a:ln/>
        </p:spPr>
        <p:txBody>
          <a:bodyPr wrap="square" lIns="25400" tIns="25400" rIns="25400" bIns="25400" rtlCol="0" anchor="t">
            <a:normAutofit/>
          </a:bodyPr>
          <a:lstStyle/>
          <a:p>
            <a:pPr algn="l" indent="0" marL="0">
              <a:buNone/>
            </a:pPr>
            <a:r>
              <a:rPr lang="en-US" sz="1425" spc="342" kern="0" dirty="0">
                <a:solidFill>
                  <a:srgbClr val="C05F38"/>
                </a:solidFill>
                <a:latin typeface="Courier New" pitchFamily="34" charset="0"/>
                <a:ea typeface="Courier New" pitchFamily="34" charset="-122"/>
                <a:cs typeface="Courier New" pitchFamily="34" charset="-120"/>
              </a:rPr>
              <a:t>III · AGENTS · COMPOSITION</a:t>
            </a:r>
            <a:endParaRPr lang="en-US" sz="1425" dirty="0"/>
          </a:p>
        </p:txBody>
      </p:sp>
      <p:sp>
        <p:nvSpPr>
          <p:cNvPr id="3" name="Text 1"/>
          <p:cNvSpPr/>
          <p:nvPr/>
        </p:nvSpPr>
        <p:spPr>
          <a:xfrm>
            <a:off x="1066800" y="2483793"/>
            <a:ext cx="8380833" cy="1305818"/>
          </a:xfrm>
          <a:prstGeom prst="rect">
            <a:avLst/>
          </a:prstGeom>
          <a:noFill/>
          <a:ln/>
        </p:spPr>
        <p:txBody>
          <a:bodyPr wrap="square" lIns="25400" tIns="25400" rIns="25400" bIns="25400" rtlCol="0" anchor="t">
            <a:normAutofit/>
          </a:bodyPr>
          <a:lstStyle/>
          <a:p>
            <a:pPr algn="l" indent="0" marL="0">
              <a:lnSpc>
                <a:spcPct val="104000"/>
              </a:lnSpc>
              <a:buNone/>
            </a:pPr>
            <a:r>
              <a:rPr lang="en-US" sz="4800" b="1" spc="-72" kern="0" dirty="0">
                <a:solidFill>
                  <a:srgbClr val="1B1813"/>
                </a:solidFill>
                <a:latin typeface="Arial" pitchFamily="34" charset="0"/>
                <a:ea typeface="Arial" pitchFamily="34" charset="-122"/>
                <a:cs typeface="Arial" pitchFamily="34" charset="-120"/>
              </a:rPr>
              <a:t>A team, encoded in permissions</a:t>
            </a:r>
            <a:endParaRPr lang="en-US" sz="4800" dirty="0"/>
          </a:p>
        </p:txBody>
      </p:sp>
      <p:sp>
        <p:nvSpPr>
          <p:cNvPr id="4" name="Text 2"/>
          <p:cNvSpPr/>
          <p:nvPr/>
        </p:nvSpPr>
        <p:spPr>
          <a:xfrm>
            <a:off x="1066800" y="3903911"/>
            <a:ext cx="17769840" cy="342900"/>
          </a:xfrm>
          <a:prstGeom prst="rect">
            <a:avLst/>
          </a:prstGeom>
          <a:noFill/>
          <a:ln/>
        </p:spPr>
        <p:txBody>
          <a:bodyPr wrap="square" lIns="25400" tIns="25400" rIns="25400" bIns="25400" rtlCol="0" anchor="t">
            <a:normAutofit/>
          </a:bodyPr>
          <a:lstStyle/>
          <a:p>
            <a:pPr algn="l" indent="0" marL="0">
              <a:buNone/>
            </a:pPr>
            <a:r>
              <a:rPr lang="en-US" sz="1875" dirty="0">
                <a:solidFill>
                  <a:srgbClr val="6E6656"/>
                </a:solidFill>
                <a:latin typeface="Arial" pitchFamily="34" charset="0"/>
                <a:ea typeface="Arial" pitchFamily="34" charset="-122"/>
                <a:cs typeface="Arial" pitchFamily="34" charset="-120"/>
              </a:rPr>
              <a:t>The developer writes, delegates to the reviewer, then proceeds only if review passes.</a:t>
            </a:r>
            <a:endParaRPr lang="en-US" sz="1875" dirty="0"/>
          </a:p>
        </p:txBody>
      </p:sp>
      <p:sp>
        <p:nvSpPr>
          <p:cNvPr id="5" name="Shape 3"/>
          <p:cNvSpPr/>
          <p:nvPr/>
        </p:nvSpPr>
        <p:spPr>
          <a:xfrm>
            <a:off x="1066800" y="4742111"/>
            <a:ext cx="6915150" cy="2667000"/>
          </a:xfrm>
          <a:prstGeom prst="roundRect">
            <a:avLst>
              <a:gd name="adj" fmla="val 2857"/>
            </a:avLst>
          </a:prstGeom>
          <a:solidFill>
            <a:srgbClr val="FFFFFF"/>
          </a:solidFill>
          <a:ln w="9525">
            <a:solidFill>
              <a:srgbClr val="C05F38"/>
            </a:solidFill>
            <a:prstDash val="solid"/>
          </a:ln>
        </p:spPr>
      </p:sp>
      <p:sp>
        <p:nvSpPr>
          <p:cNvPr id="6" name="Text 4"/>
          <p:cNvSpPr/>
          <p:nvPr/>
        </p:nvSpPr>
        <p:spPr>
          <a:xfrm>
            <a:off x="1495425" y="5132636"/>
            <a:ext cx="6663690" cy="361950"/>
          </a:xfrm>
          <a:prstGeom prst="rect">
            <a:avLst/>
          </a:prstGeom>
          <a:noFill/>
          <a:ln/>
        </p:spPr>
        <p:txBody>
          <a:bodyPr wrap="square" lIns="25400" tIns="25400" rIns="25400" bIns="25400" rtlCol="0" anchor="t">
            <a:normAutofit/>
          </a:bodyPr>
          <a:lstStyle/>
          <a:p>
            <a:pPr algn="l" indent="0" marL="0">
              <a:buNone/>
            </a:pPr>
            <a:r>
              <a:rPr lang="en-US" sz="1875" spc="225" kern="0" dirty="0">
                <a:solidFill>
                  <a:srgbClr val="C05F38"/>
                </a:solidFill>
                <a:latin typeface="Courier New" pitchFamily="34" charset="0"/>
                <a:ea typeface="Courier New" pitchFamily="34" charset="-122"/>
                <a:cs typeface="Courier New" pitchFamily="34" charset="-120"/>
              </a:rPr>
              <a:t>feature-developer</a:t>
            </a:r>
            <a:endParaRPr lang="en-US" sz="1875" dirty="0"/>
          </a:p>
        </p:txBody>
      </p:sp>
      <p:sp>
        <p:nvSpPr>
          <p:cNvPr id="7" name="Text 5"/>
          <p:cNvSpPr/>
          <p:nvPr/>
        </p:nvSpPr>
        <p:spPr>
          <a:xfrm>
            <a:off x="1495425" y="5666036"/>
            <a:ext cx="6663690" cy="348853"/>
          </a:xfrm>
          <a:prstGeom prst="rect">
            <a:avLst/>
          </a:prstGeom>
          <a:noFill/>
          <a:ln/>
        </p:spPr>
        <p:txBody>
          <a:bodyPr wrap="square" lIns="25400" tIns="25400" rIns="25400" bIns="25400" rtlCol="0" anchor="t">
            <a:normAutofit/>
          </a:bodyPr>
          <a:lstStyle/>
          <a:p>
            <a:pPr algn="l" indent="0" marL="0">
              <a:lnSpc>
                <a:spcPct val="136000"/>
              </a:lnSpc>
              <a:buNone/>
            </a:pPr>
            <a:r>
              <a:rPr lang="en-US" sz="1800" dirty="0">
                <a:solidFill>
                  <a:srgbClr val="1B1813"/>
                </a:solidFill>
                <a:latin typeface="Arial" pitchFamily="34" charset="0"/>
                <a:ea typeface="Arial" pitchFamily="34" charset="-122"/>
                <a:cs typeface="Arial" pitchFamily="34" charset="-120"/>
              </a:rPr>
              <a:t>Implements the feature — write access to </a:t>
            </a:r>
            <a:pPr algn="l" indent="0" marL="0">
              <a:lnSpc>
                <a:spcPct val="136000"/>
              </a:lnSpc>
              <a:buNone/>
            </a:pPr>
            <a:r>
              <a:rPr lang="en-US" sz="1425" dirty="0">
                <a:solidFill>
                  <a:srgbClr val="1B1813"/>
                </a:solidFill>
                <a:latin typeface="Courier New" pitchFamily="34" charset="0"/>
                <a:ea typeface="Courier New" pitchFamily="34" charset="-122"/>
                <a:cs typeface="Courier New" pitchFamily="34" charset="-120"/>
              </a:rPr>
              <a:t>powerpipe/**</a:t>
            </a:r>
            <a:pPr algn="l" indent="0" marL="0">
              <a:lnSpc>
                <a:spcPct val="136000"/>
              </a:lnSpc>
              <a:buNone/>
            </a:pPr>
            <a:r>
              <a:rPr lang="en-US" sz="1800" dirty="0">
                <a:solidFill>
                  <a:srgbClr val="1B1813"/>
                </a:solidFill>
                <a:latin typeface="Arial" pitchFamily="34" charset="0"/>
                <a:ea typeface="Arial" pitchFamily="34" charset="-122"/>
                <a:cs typeface="Arial" pitchFamily="34" charset="-120"/>
              </a:rPr>
              <a:t>.</a:t>
            </a:r>
            <a:endParaRPr lang="en-US" sz="1800" dirty="0"/>
          </a:p>
        </p:txBody>
      </p:sp>
      <p:sp>
        <p:nvSpPr>
          <p:cNvPr id="8" name="Text 6"/>
          <p:cNvSpPr/>
          <p:nvPr/>
        </p:nvSpPr>
        <p:spPr>
          <a:xfrm>
            <a:off x="1495425" y="6148239"/>
            <a:ext cx="6663690" cy="297061"/>
          </a:xfrm>
          <a:prstGeom prst="rect">
            <a:avLst/>
          </a:prstGeom>
          <a:noFill/>
          <a:ln/>
        </p:spPr>
        <p:txBody>
          <a:bodyPr wrap="square" lIns="25400" tIns="25400" rIns="25400" bIns="25400" rtlCol="0" anchor="t">
            <a:normAutofit/>
          </a:bodyPr>
          <a:lstStyle/>
          <a:p>
            <a:pPr algn="l" indent="0" marL="0">
              <a:lnSpc>
                <a:spcPct val="136000"/>
              </a:lnSpc>
              <a:buNone/>
            </a:pPr>
            <a:r>
              <a:rPr lang="en-US" sz="1500" dirty="0">
                <a:solidFill>
                  <a:srgbClr val="6E6656"/>
                </a:solidFill>
                <a:latin typeface="Arial" pitchFamily="34" charset="0"/>
                <a:ea typeface="Arial" pitchFamily="34" charset="-122"/>
                <a:cs typeface="Arial" pitchFamily="34" charset="-120"/>
              </a:rPr>
              <a:t>Has the </a:t>
            </a:r>
            <a:pPr algn="l" indent="0" marL="0">
              <a:lnSpc>
                <a:spcPct val="136000"/>
              </a:lnSpc>
              <a:buNone/>
            </a:pPr>
            <a:r>
              <a:rPr lang="en-US" sz="1275" dirty="0">
                <a:solidFill>
                  <a:srgbClr val="6E6656"/>
                </a:solidFill>
                <a:latin typeface="Courier New" pitchFamily="34" charset="0"/>
                <a:ea typeface="Courier New" pitchFamily="34" charset="-122"/>
                <a:cs typeface="Courier New" pitchFamily="34" charset="-120"/>
              </a:rPr>
              <a:t>subagent </a:t>
            </a:r>
            <a:pPr algn="l" indent="0" marL="0">
              <a:lnSpc>
                <a:spcPct val="136000"/>
              </a:lnSpc>
              <a:buNone/>
            </a:pPr>
            <a:r>
              <a:rPr lang="en-US" sz="1500" dirty="0">
                <a:solidFill>
                  <a:srgbClr val="6E6656"/>
                </a:solidFill>
                <a:latin typeface="Arial" pitchFamily="34" charset="0"/>
                <a:ea typeface="Arial" pitchFamily="34" charset="-122"/>
                <a:cs typeface="Arial" pitchFamily="34" charset="-120"/>
              </a:rPr>
              <a:t>tool → can delegate.</a:t>
            </a:r>
            <a:endParaRPr lang="en-US" sz="1500" dirty="0"/>
          </a:p>
        </p:txBody>
      </p:sp>
      <p:sp>
        <p:nvSpPr>
          <p:cNvPr id="9" name="Text 7"/>
          <p:cNvSpPr/>
          <p:nvPr/>
        </p:nvSpPr>
        <p:spPr>
          <a:xfrm>
            <a:off x="8315027" y="5761286"/>
            <a:ext cx="248245" cy="419100"/>
          </a:xfrm>
          <a:prstGeom prst="rect">
            <a:avLst/>
          </a:prstGeom>
          <a:noFill/>
          <a:ln/>
        </p:spPr>
        <p:txBody>
          <a:bodyPr wrap="square" lIns="25400" tIns="25400" rIns="25400" bIns="25400" rtlCol="0" anchor="t">
            <a:normAutofit/>
          </a:bodyPr>
          <a:lstStyle/>
          <a:p>
            <a:pPr algn="l" indent="0" marL="0">
              <a:buNone/>
            </a:pPr>
            <a:r>
              <a:rPr lang="en-US" sz="2250" dirty="0">
                <a:solidFill>
                  <a:srgbClr val="6E6656"/>
                </a:solidFill>
                <a:latin typeface="Courier New" pitchFamily="34" charset="0"/>
                <a:ea typeface="Courier New" pitchFamily="34" charset="-122"/>
                <a:cs typeface="Courier New" pitchFamily="34" charset="-120"/>
              </a:rPr>
              <a:t>→</a:t>
            </a:r>
            <a:endParaRPr lang="en-US" sz="2250" dirty="0"/>
          </a:p>
        </p:txBody>
      </p:sp>
      <p:sp>
        <p:nvSpPr>
          <p:cNvPr id="10" name="Text 8"/>
          <p:cNvSpPr/>
          <p:nvPr/>
        </p:nvSpPr>
        <p:spPr>
          <a:xfrm>
            <a:off x="8080921" y="6218486"/>
            <a:ext cx="716310" cy="209550"/>
          </a:xfrm>
          <a:prstGeom prst="rect">
            <a:avLst/>
          </a:prstGeom>
          <a:noFill/>
          <a:ln/>
        </p:spPr>
        <p:txBody>
          <a:bodyPr wrap="square" lIns="25400" tIns="25400" rIns="25400" bIns="25400" rtlCol="0" anchor="t">
            <a:normAutofit/>
          </a:bodyPr>
          <a:lstStyle/>
          <a:p>
            <a:pPr algn="l" indent="0" marL="0">
              <a:buNone/>
            </a:pPr>
            <a:r>
              <a:rPr lang="en-US" sz="1050" dirty="0">
                <a:solidFill>
                  <a:srgbClr val="6E6656"/>
                </a:solidFill>
                <a:latin typeface="Courier New" pitchFamily="34" charset="0"/>
                <a:ea typeface="Courier New" pitchFamily="34" charset="-122"/>
                <a:cs typeface="Courier New" pitchFamily="34" charset="-120"/>
              </a:rPr>
              <a:t>delegate</a:t>
            </a:r>
            <a:endParaRPr lang="en-US" sz="1050" dirty="0"/>
          </a:p>
        </p:txBody>
      </p:sp>
      <p:sp>
        <p:nvSpPr>
          <p:cNvPr id="11" name="Shape 9"/>
          <p:cNvSpPr/>
          <p:nvPr/>
        </p:nvSpPr>
        <p:spPr>
          <a:xfrm>
            <a:off x="8820150" y="4742111"/>
            <a:ext cx="6915150" cy="2667000"/>
          </a:xfrm>
          <a:prstGeom prst="roundRect">
            <a:avLst>
              <a:gd name="adj" fmla="val 2857"/>
            </a:avLst>
          </a:prstGeom>
          <a:solidFill>
            <a:srgbClr val="E9E0CE"/>
          </a:solidFill>
          <a:ln w="9525">
            <a:solidFill>
              <a:srgbClr val="1B1813">
                <a:alpha val="13000"/>
              </a:srgbClr>
            </a:solidFill>
            <a:prstDash val="solid"/>
          </a:ln>
        </p:spPr>
      </p:sp>
      <p:sp>
        <p:nvSpPr>
          <p:cNvPr id="12" name="Text 10"/>
          <p:cNvSpPr/>
          <p:nvPr/>
        </p:nvSpPr>
        <p:spPr>
          <a:xfrm>
            <a:off x="9248775" y="5132636"/>
            <a:ext cx="6663690" cy="361950"/>
          </a:xfrm>
          <a:prstGeom prst="rect">
            <a:avLst/>
          </a:prstGeom>
          <a:noFill/>
          <a:ln/>
        </p:spPr>
        <p:txBody>
          <a:bodyPr wrap="square" lIns="25400" tIns="25400" rIns="25400" bIns="25400" rtlCol="0" anchor="t">
            <a:normAutofit/>
          </a:bodyPr>
          <a:lstStyle/>
          <a:p>
            <a:pPr algn="l" indent="0" marL="0">
              <a:buNone/>
            </a:pPr>
            <a:r>
              <a:rPr lang="en-US" sz="1875" spc="225" kern="0" dirty="0">
                <a:solidFill>
                  <a:srgbClr val="7E9A66"/>
                </a:solidFill>
                <a:latin typeface="Courier New" pitchFamily="34" charset="0"/>
                <a:ea typeface="Courier New" pitchFamily="34" charset="-122"/>
                <a:cs typeface="Courier New" pitchFamily="34" charset="-120"/>
              </a:rPr>
              <a:t>code-reviewer</a:t>
            </a:r>
            <a:endParaRPr lang="en-US" sz="1875" dirty="0"/>
          </a:p>
        </p:txBody>
      </p:sp>
      <p:sp>
        <p:nvSpPr>
          <p:cNvPr id="13" name="Text 11"/>
          <p:cNvSpPr/>
          <p:nvPr/>
        </p:nvSpPr>
        <p:spPr>
          <a:xfrm>
            <a:off x="9248775" y="5666036"/>
            <a:ext cx="6663690" cy="348853"/>
          </a:xfrm>
          <a:prstGeom prst="rect">
            <a:avLst/>
          </a:prstGeom>
          <a:noFill/>
          <a:ln/>
        </p:spPr>
        <p:txBody>
          <a:bodyPr wrap="square" lIns="25400" tIns="25400" rIns="25400" bIns="25400" rtlCol="0" anchor="t">
            <a:normAutofit/>
          </a:bodyPr>
          <a:lstStyle/>
          <a:p>
            <a:pPr algn="l" indent="0" marL="0">
              <a:lnSpc>
                <a:spcPct val="136000"/>
              </a:lnSpc>
              <a:buNone/>
            </a:pPr>
            <a:r>
              <a:rPr lang="en-US" sz="1800" dirty="0">
                <a:solidFill>
                  <a:srgbClr val="1B1813"/>
                </a:solidFill>
                <a:latin typeface="Arial" pitchFamily="34" charset="0"/>
                <a:ea typeface="Arial" pitchFamily="34" charset="-122"/>
                <a:cs typeface="Arial" pitchFamily="34" charset="-120"/>
              </a:rPr>
              <a:t>Read-only, focused critique. Can only run </a:t>
            </a:r>
            <a:pPr algn="l" indent="0" marL="0">
              <a:lnSpc>
                <a:spcPct val="136000"/>
              </a:lnSpc>
              <a:buNone/>
            </a:pPr>
            <a:r>
              <a:rPr lang="en-US" sz="1425" dirty="0">
                <a:solidFill>
                  <a:srgbClr val="1B1813"/>
                </a:solidFill>
                <a:latin typeface="Courier New" pitchFamily="34" charset="0"/>
                <a:ea typeface="Courier New" pitchFamily="34" charset="-122"/>
                <a:cs typeface="Courier New" pitchFamily="34" charset="-120"/>
              </a:rPr>
              <a:t>git diff</a:t>
            </a:r>
            <a:pPr algn="l" indent="0" marL="0">
              <a:lnSpc>
                <a:spcPct val="136000"/>
              </a:lnSpc>
              <a:buNone/>
            </a:pPr>
            <a:r>
              <a:rPr lang="en-US" sz="1800" dirty="0">
                <a:solidFill>
                  <a:srgbClr val="1B1813"/>
                </a:solidFill>
                <a:latin typeface="Arial" pitchFamily="34" charset="0"/>
                <a:ea typeface="Arial" pitchFamily="34" charset="-122"/>
                <a:cs typeface="Arial" pitchFamily="34" charset="-120"/>
              </a:rPr>
              <a:t>.</a:t>
            </a:r>
            <a:endParaRPr lang="en-US" sz="1800" dirty="0"/>
          </a:p>
        </p:txBody>
      </p:sp>
      <p:sp>
        <p:nvSpPr>
          <p:cNvPr id="14" name="Text 12"/>
          <p:cNvSpPr/>
          <p:nvPr/>
        </p:nvSpPr>
        <p:spPr>
          <a:xfrm>
            <a:off x="9248775" y="6148239"/>
            <a:ext cx="6663690" cy="297061"/>
          </a:xfrm>
          <a:prstGeom prst="rect">
            <a:avLst/>
          </a:prstGeom>
          <a:noFill/>
          <a:ln/>
        </p:spPr>
        <p:txBody>
          <a:bodyPr wrap="square" lIns="25400" tIns="25400" rIns="25400" bIns="25400" rtlCol="0" anchor="t">
            <a:normAutofit/>
          </a:bodyPr>
          <a:lstStyle/>
          <a:p>
            <a:pPr algn="l" indent="0" marL="0">
              <a:lnSpc>
                <a:spcPct val="136000"/>
              </a:lnSpc>
              <a:buNone/>
            </a:pPr>
            <a:r>
              <a:rPr lang="en-US" sz="1500" dirty="0">
                <a:solidFill>
                  <a:srgbClr val="6E6656"/>
                </a:solidFill>
                <a:latin typeface="Arial" pitchFamily="34" charset="0"/>
                <a:ea typeface="Arial" pitchFamily="34" charset="-122"/>
                <a:cs typeface="Arial" pitchFamily="34" charset="-120"/>
              </a:rPr>
              <a:t>Verdict: LGTM / CHANGES REQUESTED.</a:t>
            </a:r>
            <a:endParaRPr lang="en-US" sz="1500" dirty="0"/>
          </a:p>
        </p:txBody>
      </p:sp>
      <p:sp>
        <p:nvSpPr>
          <p:cNvPr id="15" name="Text 13"/>
          <p:cNvSpPr/>
          <p:nvPr/>
        </p:nvSpPr>
        <p:spPr>
          <a:xfrm>
            <a:off x="1066800" y="7771061"/>
            <a:ext cx="10123161" cy="651272"/>
          </a:xfrm>
          <a:prstGeom prst="rect">
            <a:avLst/>
          </a:prstGeom>
          <a:noFill/>
          <a:ln/>
        </p:spPr>
        <p:txBody>
          <a:bodyPr wrap="square" lIns="25400" tIns="25400" rIns="25400" bIns="25400" rtlCol="0" anchor="t">
            <a:normAutofit/>
          </a:bodyPr>
          <a:lstStyle/>
          <a:p>
            <a:pPr algn="l" indent="0" marL="0">
              <a:lnSpc>
                <a:spcPct val="140000"/>
              </a:lnSpc>
              <a:buNone/>
            </a:pPr>
            <a:r>
              <a:rPr lang="en-US" sz="1725" dirty="0">
                <a:solidFill>
                  <a:srgbClr val="1B1813"/>
                </a:solidFill>
                <a:latin typeface="Arial" pitchFamily="34" charset="0"/>
                <a:ea typeface="Arial" pitchFamily="34" charset="-122"/>
                <a:cs typeface="Arial" pitchFamily="34" charset="-120"/>
              </a:rPr>
              <a:t>No accidental CI edits from the dashboard agent. Security reviews are </a:t>
            </a:r>
            <a:pPr algn="l" indent="0" marL="0">
              <a:lnSpc>
                <a:spcPct val="140000"/>
              </a:lnSpc>
              <a:buNone/>
            </a:pPr>
            <a:r>
              <a:rPr lang="en-US" sz="1725" dirty="0">
                <a:solidFill>
                  <a:srgbClr val="C05F38"/>
                </a:solidFill>
                <a:latin typeface="Arial" pitchFamily="34" charset="0"/>
                <a:ea typeface="Arial" pitchFamily="34" charset="-122"/>
                <a:cs typeface="Arial" pitchFamily="34" charset="-120"/>
              </a:rPr>
              <a:t>structurally unable to “fix it themselves.”</a:t>
            </a:r>
            <a:endParaRPr lang="en-US" sz="1725" dirty="0"/>
          </a:p>
        </p:txBody>
      </p:sp>
      <p:sp>
        <p:nvSpPr>
          <p:cNvPr id="16" name="Text 14"/>
          <p:cNvSpPr/>
          <p:nvPr/>
        </p:nvSpPr>
        <p:spPr>
          <a:xfrm>
            <a:off x="16953309" y="9515475"/>
            <a:ext cx="344091" cy="276225"/>
          </a:xfrm>
          <a:prstGeom prst="rect">
            <a:avLst/>
          </a:prstGeom>
          <a:noFill/>
          <a:ln/>
        </p:spPr>
        <p:txBody>
          <a:bodyPr wrap="square" lIns="25400" tIns="25400" rIns="25400" bIns="25400" rtlCol="0" anchor="t">
            <a:normAutofit/>
          </a:bodyPr>
          <a:lstStyle/>
          <a:p>
            <a:pPr algn="l" indent="0" marL="0">
              <a:buNone/>
            </a:pPr>
            <a:r>
              <a:rPr lang="en-US" sz="1425" spc="200" kern="0" dirty="0">
                <a:solidFill>
                  <a:srgbClr val="6E6656"/>
                </a:solidFill>
                <a:latin typeface="Courier New" pitchFamily="34" charset="0"/>
                <a:ea typeface="Courier New" pitchFamily="34" charset="-122"/>
                <a:cs typeface="Courier New" pitchFamily="34" charset="-120"/>
              </a:rPr>
              <a:t>13</a:t>
            </a:r>
            <a:endParaRPr lang="en-US" sz="1425"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B1813"/>
        </a:solidFill>
      </p:bgPr>
    </p:bg>
    <p:spTree>
      <p:nvGrpSpPr>
        <p:cNvPr id="1" name=""/>
        <p:cNvGrpSpPr/>
        <p:nvPr/>
      </p:nvGrpSpPr>
      <p:grpSpPr>
        <a:xfrm>
          <a:off x="0" y="0"/>
          <a:ext cx="0" cy="0"/>
          <a:chOff x="0" y="0"/>
          <a:chExt cx="0" cy="0"/>
        </a:xfrm>
      </p:grpSpPr>
      <p:sp>
        <p:nvSpPr>
          <p:cNvPr id="2" name="Text 0"/>
          <p:cNvSpPr/>
          <p:nvPr/>
        </p:nvSpPr>
        <p:spPr>
          <a:xfrm>
            <a:off x="1066800" y="3321844"/>
            <a:ext cx="17769840" cy="276225"/>
          </a:xfrm>
          <a:prstGeom prst="rect">
            <a:avLst/>
          </a:prstGeom>
          <a:noFill/>
          <a:ln/>
        </p:spPr>
        <p:txBody>
          <a:bodyPr wrap="square" lIns="25400" tIns="25400" rIns="25400" bIns="25400" rtlCol="0" anchor="t">
            <a:normAutofit/>
          </a:bodyPr>
          <a:lstStyle/>
          <a:p>
            <a:pPr algn="l" indent="0" marL="0">
              <a:buNone/>
            </a:pPr>
            <a:r>
              <a:rPr lang="en-US" sz="1425" spc="342" kern="0" dirty="0">
                <a:solidFill>
                  <a:srgbClr val="C05F38"/>
                </a:solidFill>
                <a:latin typeface="Courier New" pitchFamily="34" charset="0"/>
                <a:ea typeface="Courier New" pitchFamily="34" charset="-122"/>
                <a:cs typeface="Courier New" pitchFamily="34" charset="-120"/>
              </a:rPr>
              <a:t>IV · HOOKS</a:t>
            </a:r>
            <a:endParaRPr lang="en-US" sz="1425" dirty="0"/>
          </a:p>
        </p:txBody>
      </p:sp>
      <p:sp>
        <p:nvSpPr>
          <p:cNvPr id="3" name="Text 1"/>
          <p:cNvSpPr/>
          <p:nvPr/>
        </p:nvSpPr>
        <p:spPr>
          <a:xfrm>
            <a:off x="1066800" y="3902869"/>
            <a:ext cx="8642658" cy="1747838"/>
          </a:xfrm>
          <a:prstGeom prst="rect">
            <a:avLst/>
          </a:prstGeom>
          <a:noFill/>
          <a:ln/>
        </p:spPr>
        <p:txBody>
          <a:bodyPr wrap="square" lIns="25400" tIns="25400" rIns="25400" bIns="25400" rtlCol="0" anchor="t">
            <a:normAutofit/>
          </a:bodyPr>
          <a:lstStyle/>
          <a:p>
            <a:pPr algn="l" indent="0" marL="0">
              <a:lnSpc>
                <a:spcPct val="102000"/>
              </a:lnSpc>
              <a:buNone/>
            </a:pPr>
            <a:r>
              <a:rPr lang="en-US" sz="6600" b="1" spc="-132" kern="0" dirty="0">
                <a:solidFill>
                  <a:srgbClr val="F2ECE0"/>
                </a:solidFill>
                <a:latin typeface="Arial" pitchFamily="34" charset="0"/>
                <a:ea typeface="Arial" pitchFamily="34" charset="-122"/>
                <a:cs typeface="Arial" pitchFamily="34" charset="-120"/>
              </a:rPr>
              <a:t>Automated safety guardrails.</a:t>
            </a:r>
            <a:endParaRPr lang="en-US" sz="6600" dirty="0"/>
          </a:p>
        </p:txBody>
      </p:sp>
      <p:sp>
        <p:nvSpPr>
          <p:cNvPr id="4" name="Text 2"/>
          <p:cNvSpPr/>
          <p:nvPr/>
        </p:nvSpPr>
        <p:spPr>
          <a:xfrm>
            <a:off x="1066800" y="6069806"/>
            <a:ext cx="13078343" cy="1028700"/>
          </a:xfrm>
          <a:prstGeom prst="rect">
            <a:avLst/>
          </a:prstGeom>
          <a:noFill/>
          <a:ln/>
        </p:spPr>
        <p:txBody>
          <a:bodyPr wrap="square" lIns="25400" tIns="25400" rIns="25400" bIns="25400" rtlCol="0" anchor="t">
            <a:normAutofit/>
          </a:bodyPr>
          <a:lstStyle/>
          <a:p>
            <a:pPr algn="l" indent="0" marL="0">
              <a:lnSpc>
                <a:spcPct val="130000"/>
              </a:lnSpc>
              <a:buNone/>
            </a:pPr>
            <a:r>
              <a:rPr lang="en-US" sz="1875" dirty="0">
                <a:solidFill>
                  <a:srgbClr val="C05F38"/>
                </a:solidFill>
                <a:latin typeface="Courier New" pitchFamily="34" charset="0"/>
                <a:ea typeface="Courier New" pitchFamily="34" charset="-122"/>
                <a:cs typeface="Courier New" pitchFamily="34" charset="-120"/>
              </a:rPr>
              <a:t>PROBLEM →</a:t>
            </a:r>
            <a:pPr algn="l" indent="0" marL="0">
              <a:lnSpc>
                <a:spcPct val="130000"/>
              </a:lnSpc>
              <a:buNone/>
            </a:pPr>
            <a:r>
              <a:rPr lang="en-US" sz="3000" dirty="0">
                <a:solidFill>
                  <a:srgbClr val="9C9584"/>
                </a:solidFill>
                <a:latin typeface="Arial" pitchFamily="34" charset="0"/>
                <a:ea typeface="Arial" pitchFamily="34" charset="-122"/>
                <a:cs typeface="Arial" pitchFamily="34" charset="-120"/>
              </a:rPr>
              <a:t>Rules ask nicely. But an accidental </a:t>
            </a:r>
            <a:pPr algn="l" indent="0" marL="0">
              <a:lnSpc>
                <a:spcPct val="130000"/>
              </a:lnSpc>
              <a:buNone/>
            </a:pPr>
            <a:r>
              <a:rPr lang="en-US" sz="2250" dirty="0">
                <a:solidFill>
                  <a:srgbClr val="9C9584"/>
                </a:solidFill>
                <a:latin typeface="Courier New" pitchFamily="34" charset="0"/>
                <a:ea typeface="Courier New" pitchFamily="34" charset="-122"/>
                <a:cs typeface="Courier New" pitchFamily="34" charset="-120"/>
              </a:rPr>
              <a:t>push origin main </a:t>
            </a:r>
            <a:pPr algn="l" indent="0" marL="0">
              <a:lnSpc>
                <a:spcPct val="130000"/>
              </a:lnSpc>
              <a:buNone/>
            </a:pPr>
            <a:r>
              <a:rPr lang="en-US" sz="3000" dirty="0">
                <a:solidFill>
                  <a:srgbClr val="9C9584"/>
                </a:solidFill>
                <a:latin typeface="Arial" pitchFamily="34" charset="0"/>
                <a:ea typeface="Arial" pitchFamily="34" charset="-122"/>
                <a:cs typeface="Arial" pitchFamily="34" charset="-120"/>
              </a:rPr>
              <a:t>or a force-push still costs hours to recover.</a:t>
            </a:r>
            <a:endParaRPr lang="en-US" sz="3000" dirty="0"/>
          </a:p>
        </p:txBody>
      </p:sp>
      <p:sp>
        <p:nvSpPr>
          <p:cNvPr id="5" name="Text 3"/>
          <p:cNvSpPr/>
          <p:nvPr/>
        </p:nvSpPr>
        <p:spPr>
          <a:xfrm>
            <a:off x="16953309" y="9515475"/>
            <a:ext cx="344091" cy="276225"/>
          </a:xfrm>
          <a:prstGeom prst="rect">
            <a:avLst/>
          </a:prstGeom>
          <a:noFill/>
          <a:ln/>
        </p:spPr>
        <p:txBody>
          <a:bodyPr wrap="square" lIns="25400" tIns="25400" rIns="25400" bIns="25400" rtlCol="0" anchor="t">
            <a:normAutofit/>
          </a:bodyPr>
          <a:lstStyle/>
          <a:p>
            <a:pPr algn="l" indent="0" marL="0">
              <a:buNone/>
            </a:pPr>
            <a:r>
              <a:rPr lang="en-US" sz="1425" spc="200" kern="0" dirty="0">
                <a:solidFill>
                  <a:srgbClr val="9C9584"/>
                </a:solidFill>
                <a:latin typeface="Courier New" pitchFamily="34" charset="0"/>
                <a:ea typeface="Courier New" pitchFamily="34" charset="-122"/>
                <a:cs typeface="Courier New" pitchFamily="34" charset="-120"/>
              </a:rPr>
              <a:t>14</a:t>
            </a:r>
            <a:endParaRPr lang="en-US" sz="1425"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B1813"/>
        </a:solidFill>
      </p:bgPr>
    </p:bg>
    <p:spTree>
      <p:nvGrpSpPr>
        <p:cNvPr id="1" name=""/>
        <p:cNvGrpSpPr/>
        <p:nvPr/>
      </p:nvGrpSpPr>
      <p:grpSpPr>
        <a:xfrm>
          <a:off x="0" y="0"/>
          <a:ext cx="0" cy="0"/>
          <a:chOff x="0" y="0"/>
          <a:chExt cx="0" cy="0"/>
        </a:xfrm>
      </p:grpSpPr>
      <p:sp>
        <p:nvSpPr>
          <p:cNvPr id="2" name="Text 0"/>
          <p:cNvSpPr/>
          <p:nvPr/>
        </p:nvSpPr>
        <p:spPr>
          <a:xfrm>
            <a:off x="1066800" y="2967038"/>
            <a:ext cx="9304020" cy="276225"/>
          </a:xfrm>
          <a:prstGeom prst="rect">
            <a:avLst/>
          </a:prstGeom>
          <a:noFill/>
          <a:ln/>
        </p:spPr>
        <p:txBody>
          <a:bodyPr wrap="square" lIns="25400" tIns="25400" rIns="25400" bIns="25400" rtlCol="0" anchor="t">
            <a:normAutofit/>
          </a:bodyPr>
          <a:lstStyle/>
          <a:p>
            <a:pPr algn="l" indent="0" marL="0">
              <a:buNone/>
            </a:pPr>
            <a:r>
              <a:rPr lang="en-US" sz="1425" spc="342" kern="0" dirty="0">
                <a:solidFill>
                  <a:srgbClr val="C05F38"/>
                </a:solidFill>
                <a:latin typeface="Courier New" pitchFamily="34" charset="0"/>
                <a:ea typeface="Courier New" pitchFamily="34" charset="-122"/>
                <a:cs typeface="Courier New" pitchFamily="34" charset="-120"/>
              </a:rPr>
              <a:t>IV · HOOKS · THE FIX</a:t>
            </a:r>
            <a:endParaRPr lang="en-US" sz="1425" dirty="0"/>
          </a:p>
        </p:txBody>
      </p:sp>
      <p:sp>
        <p:nvSpPr>
          <p:cNvPr id="3" name="Text 1"/>
          <p:cNvSpPr/>
          <p:nvPr/>
        </p:nvSpPr>
        <p:spPr>
          <a:xfrm>
            <a:off x="1066800" y="3452813"/>
            <a:ext cx="5238021" cy="1318022"/>
          </a:xfrm>
          <a:prstGeom prst="rect">
            <a:avLst/>
          </a:prstGeom>
          <a:noFill/>
          <a:ln/>
        </p:spPr>
        <p:txBody>
          <a:bodyPr wrap="square" lIns="25400" tIns="25400" rIns="25400" bIns="25400" rtlCol="0" anchor="t">
            <a:normAutofit/>
          </a:bodyPr>
          <a:lstStyle/>
          <a:p>
            <a:pPr algn="l" indent="0" marL="0">
              <a:lnSpc>
                <a:spcPct val="105000"/>
              </a:lnSpc>
              <a:buNone/>
            </a:pPr>
            <a:r>
              <a:rPr lang="en-US" sz="4800" b="1" spc="-72" kern="0" dirty="0">
                <a:solidFill>
                  <a:srgbClr val="F2ECE0"/>
                </a:solidFill>
                <a:latin typeface="Arial" pitchFamily="34" charset="0"/>
                <a:ea typeface="Arial" pitchFamily="34" charset="-122"/>
                <a:cs typeface="Arial" pitchFamily="34" charset="-120"/>
              </a:rPr>
              <a:t>Blocked before it runs</a:t>
            </a:r>
            <a:endParaRPr lang="en-US" sz="4800" dirty="0"/>
          </a:p>
        </p:txBody>
      </p:sp>
      <p:sp>
        <p:nvSpPr>
          <p:cNvPr id="4" name="Text 2"/>
          <p:cNvSpPr/>
          <p:nvPr/>
        </p:nvSpPr>
        <p:spPr>
          <a:xfrm>
            <a:off x="1066800" y="5037534"/>
            <a:ext cx="6036064" cy="1263253"/>
          </a:xfrm>
          <a:prstGeom prst="rect">
            <a:avLst/>
          </a:prstGeom>
          <a:noFill/>
          <a:ln/>
        </p:spPr>
        <p:txBody>
          <a:bodyPr wrap="square" lIns="25400" tIns="25400" rIns="25400" bIns="25400" rtlCol="0" anchor="t">
            <a:normAutofit/>
          </a:bodyPr>
          <a:lstStyle/>
          <a:p>
            <a:pPr algn="l" indent="0" marL="0">
              <a:lnSpc>
                <a:spcPct val="134000"/>
              </a:lnSpc>
              <a:buNone/>
            </a:pPr>
            <a:r>
              <a:rPr lang="en-US" sz="2400" dirty="0">
                <a:solidFill>
                  <a:srgbClr val="9C9584"/>
                </a:solidFill>
                <a:latin typeface="Arial" pitchFamily="34" charset="0"/>
                <a:ea typeface="Arial" pitchFamily="34" charset="-122"/>
                <a:cs typeface="Arial" pitchFamily="34" charset="-120"/>
              </a:rPr>
              <a:t>Python intercepts every tool call. Exit 2 blocks it and hands the reason back — the agent reads it and self-corrects.</a:t>
            </a:r>
            <a:endParaRPr lang="en-US" sz="2400" dirty="0"/>
          </a:p>
        </p:txBody>
      </p:sp>
      <p:sp>
        <p:nvSpPr>
          <p:cNvPr id="5" name="Text 3"/>
          <p:cNvSpPr/>
          <p:nvPr/>
        </p:nvSpPr>
        <p:spPr>
          <a:xfrm>
            <a:off x="1066800" y="6529388"/>
            <a:ext cx="9304020" cy="257175"/>
          </a:xfrm>
          <a:prstGeom prst="rect">
            <a:avLst/>
          </a:prstGeom>
          <a:noFill/>
          <a:ln/>
        </p:spPr>
        <p:txBody>
          <a:bodyPr wrap="square" lIns="25400" tIns="25400" rIns="25400" bIns="25400" rtlCol="0" anchor="t">
            <a:normAutofit/>
          </a:bodyPr>
          <a:lstStyle/>
          <a:p>
            <a:pPr algn="l" indent="0" marL="0">
              <a:buNone/>
            </a:pPr>
            <a:r>
              <a:rPr lang="en-US" sz="1350" dirty="0">
                <a:solidFill>
                  <a:srgbClr val="C05F38"/>
                </a:solidFill>
                <a:latin typeface="Courier New" pitchFamily="34" charset="0"/>
                <a:ea typeface="Courier New" pitchFamily="34" charset="-122"/>
                <a:cs typeface="Courier New" pitchFamily="34" charset="-120"/>
              </a:rPr>
              <a:t>· </a:t>
            </a:r>
            <a:pPr algn="l" indent="0" marL="0">
              <a:buNone/>
            </a:pPr>
            <a:r>
              <a:rPr lang="en-US" sz="1350" dirty="0">
                <a:solidFill>
                  <a:srgbClr val="9C9584"/>
                </a:solidFill>
                <a:latin typeface="Courier New" pitchFamily="34" charset="0"/>
                <a:ea typeface="Courier New" pitchFamily="34" charset="-122"/>
                <a:cs typeface="Courier New" pitchFamily="34" charset="-120"/>
              </a:rPr>
              <a:t>git-safety-guard.py</a:t>
            </a:r>
            <a:endParaRPr lang="en-US" sz="1350" dirty="0"/>
          </a:p>
        </p:txBody>
      </p:sp>
      <p:sp>
        <p:nvSpPr>
          <p:cNvPr id="6" name="Text 4"/>
          <p:cNvSpPr/>
          <p:nvPr/>
        </p:nvSpPr>
        <p:spPr>
          <a:xfrm>
            <a:off x="1066800" y="6862763"/>
            <a:ext cx="9304020" cy="257175"/>
          </a:xfrm>
          <a:prstGeom prst="rect">
            <a:avLst/>
          </a:prstGeom>
          <a:noFill/>
          <a:ln/>
        </p:spPr>
        <p:txBody>
          <a:bodyPr wrap="square" lIns="25400" tIns="25400" rIns="25400" bIns="25400" rtlCol="0" anchor="t">
            <a:normAutofit/>
          </a:bodyPr>
          <a:lstStyle/>
          <a:p>
            <a:pPr algn="l" indent="0" marL="0">
              <a:buNone/>
            </a:pPr>
            <a:r>
              <a:rPr lang="en-US" sz="1350" dirty="0">
                <a:solidFill>
                  <a:srgbClr val="C05F38"/>
                </a:solidFill>
                <a:latin typeface="Courier New" pitchFamily="34" charset="0"/>
                <a:ea typeface="Courier New" pitchFamily="34" charset="-122"/>
                <a:cs typeface="Courier New" pitchFamily="34" charset="-120"/>
              </a:rPr>
              <a:t>· </a:t>
            </a:r>
            <a:pPr algn="l" indent="0" marL="0">
              <a:buNone/>
            </a:pPr>
            <a:r>
              <a:rPr lang="en-US" sz="1350" dirty="0">
                <a:solidFill>
                  <a:srgbClr val="9C9584"/>
                </a:solidFill>
                <a:latin typeface="Courier New" pitchFamily="34" charset="0"/>
                <a:ea typeface="Courier New" pitchFamily="34" charset="-122"/>
                <a:cs typeface="Courier New" pitchFamily="34" charset="-120"/>
              </a:rPr>
              <a:t>aws-readonly-guard.py</a:t>
            </a:r>
            <a:endParaRPr lang="en-US" sz="1350" dirty="0"/>
          </a:p>
        </p:txBody>
      </p:sp>
      <p:sp>
        <p:nvSpPr>
          <p:cNvPr id="7" name="Text 5"/>
          <p:cNvSpPr/>
          <p:nvPr/>
        </p:nvSpPr>
        <p:spPr>
          <a:xfrm>
            <a:off x="1066800" y="7196138"/>
            <a:ext cx="9304020" cy="257175"/>
          </a:xfrm>
          <a:prstGeom prst="rect">
            <a:avLst/>
          </a:prstGeom>
          <a:noFill/>
          <a:ln/>
        </p:spPr>
        <p:txBody>
          <a:bodyPr wrap="square" lIns="25400" tIns="25400" rIns="25400" bIns="25400" rtlCol="0" anchor="t">
            <a:normAutofit/>
          </a:bodyPr>
          <a:lstStyle/>
          <a:p>
            <a:pPr algn="l" indent="0" marL="0">
              <a:buNone/>
            </a:pPr>
            <a:r>
              <a:rPr lang="en-US" sz="1350" dirty="0">
                <a:solidFill>
                  <a:srgbClr val="C05F38"/>
                </a:solidFill>
                <a:latin typeface="Courier New" pitchFamily="34" charset="0"/>
                <a:ea typeface="Courier New" pitchFamily="34" charset="-122"/>
                <a:cs typeface="Courier New" pitchFamily="34" charset="-120"/>
              </a:rPr>
              <a:t>· </a:t>
            </a:r>
            <a:pPr algn="l" indent="0" marL="0">
              <a:buNone/>
            </a:pPr>
            <a:r>
              <a:rPr lang="en-US" sz="1350" dirty="0">
                <a:solidFill>
                  <a:srgbClr val="9C9584"/>
                </a:solidFill>
                <a:latin typeface="Courier New" pitchFamily="34" charset="0"/>
                <a:ea typeface="Courier New" pitchFamily="34" charset="-122"/>
                <a:cs typeface="Courier New" pitchFamily="34" charset="-120"/>
              </a:rPr>
              <a:t>jira-no-delete-guard.py</a:t>
            </a:r>
            <a:endParaRPr lang="en-US" sz="1350" dirty="0"/>
          </a:p>
        </p:txBody>
      </p:sp>
      <p:sp>
        <p:nvSpPr>
          <p:cNvPr id="8" name="Text 6"/>
          <p:cNvSpPr/>
          <p:nvPr/>
        </p:nvSpPr>
        <p:spPr>
          <a:xfrm>
            <a:off x="9982200" y="3671888"/>
            <a:ext cx="7962900" cy="276225"/>
          </a:xfrm>
          <a:prstGeom prst="rect">
            <a:avLst/>
          </a:prstGeom>
          <a:noFill/>
          <a:ln/>
        </p:spPr>
        <p:txBody>
          <a:bodyPr wrap="square" lIns="25400" tIns="25400" rIns="25400" bIns="25400" rtlCol="0" anchor="t">
            <a:normAutofit/>
          </a:bodyPr>
          <a:lstStyle/>
          <a:p>
            <a:pPr algn="l" indent="0" marL="0">
              <a:buNone/>
            </a:pPr>
            <a:r>
              <a:rPr lang="en-US" sz="1425" dirty="0">
                <a:solidFill>
                  <a:srgbClr val="9C9584"/>
                </a:solidFill>
                <a:latin typeface="Courier New" pitchFamily="34" charset="0"/>
                <a:ea typeface="Courier New" pitchFamily="34" charset="-122"/>
                <a:cs typeface="Courier New" pitchFamily="34" charset="-120"/>
              </a:rPr>
              <a:t>agent</a:t>
            </a:r>
            <a:endParaRPr lang="en-US" sz="1425" dirty="0"/>
          </a:p>
        </p:txBody>
      </p:sp>
      <p:sp>
        <p:nvSpPr>
          <p:cNvPr id="9" name="Shape 7"/>
          <p:cNvSpPr/>
          <p:nvPr/>
        </p:nvSpPr>
        <p:spPr>
          <a:xfrm>
            <a:off x="10039223" y="4100513"/>
            <a:ext cx="7239000" cy="1038225"/>
          </a:xfrm>
          <a:prstGeom prst="roundRect">
            <a:avLst>
              <a:gd name="adj" fmla="val 7339"/>
            </a:avLst>
          </a:prstGeom>
          <a:solidFill>
            <a:srgbClr val="232019"/>
          </a:solidFill>
          <a:ln w="9525">
            <a:solidFill>
              <a:srgbClr val="C05F38"/>
            </a:solidFill>
            <a:prstDash val="solid"/>
          </a:ln>
        </p:spPr>
      </p:sp>
      <p:sp>
        <p:nvSpPr>
          <p:cNvPr id="10" name="Text 8"/>
          <p:cNvSpPr/>
          <p:nvPr/>
        </p:nvSpPr>
        <p:spPr>
          <a:xfrm>
            <a:off x="10296398" y="4300538"/>
            <a:ext cx="2590800" cy="285750"/>
          </a:xfrm>
          <a:prstGeom prst="rect">
            <a:avLst/>
          </a:prstGeom>
          <a:noFill/>
          <a:ln/>
        </p:spPr>
        <p:txBody>
          <a:bodyPr wrap="square" lIns="0" tIns="0" rIns="0" bIns="0" rtlCol="0" anchor="t">
            <a:normAutofit/>
          </a:bodyPr>
          <a:lstStyle/>
          <a:p>
            <a:pPr algn="l" indent="0" marL="0">
              <a:buNone/>
            </a:pPr>
            <a:r>
              <a:rPr lang="en-US" sz="1500" dirty="0">
                <a:solidFill>
                  <a:srgbClr val="F2ECE0"/>
                </a:solidFill>
                <a:latin typeface="Courier New" pitchFamily="34" charset="0"/>
                <a:ea typeface="Courier New" pitchFamily="34" charset="-122"/>
                <a:cs typeface="Courier New" pitchFamily="34" charset="-120"/>
              </a:rPr>
              <a:t>$ git push origin main</a:t>
            </a:r>
            <a:endParaRPr lang="en-US" sz="1500" dirty="0"/>
          </a:p>
        </p:txBody>
      </p:sp>
      <p:sp>
        <p:nvSpPr>
          <p:cNvPr id="11" name="Text 9"/>
          <p:cNvSpPr/>
          <p:nvPr/>
        </p:nvSpPr>
        <p:spPr>
          <a:xfrm>
            <a:off x="10296398" y="4681538"/>
            <a:ext cx="7397115" cy="295275"/>
          </a:xfrm>
          <a:prstGeom prst="rect">
            <a:avLst/>
          </a:prstGeom>
          <a:noFill/>
          <a:ln/>
        </p:spPr>
        <p:txBody>
          <a:bodyPr wrap="square" lIns="25400" tIns="25400" rIns="25400" bIns="25400" rtlCol="0" anchor="t">
            <a:normAutofit/>
          </a:bodyPr>
          <a:lstStyle/>
          <a:p>
            <a:pPr algn="l" indent="0" marL="0">
              <a:buNone/>
            </a:pPr>
            <a:r>
              <a:rPr lang="en-US" sz="1275" dirty="0">
                <a:solidFill>
                  <a:srgbClr val="C05F38"/>
                </a:solidFill>
                <a:latin typeface="Courier New" pitchFamily="34" charset="0"/>
                <a:ea typeface="Courier New" pitchFamily="34" charset="-122"/>
                <a:cs typeface="Courier New" pitchFamily="34" charset="-120"/>
              </a:rPr>
              <a:t>🚫 BLOCKED — push to main. Use a feature branch + MR.</a:t>
            </a:r>
            <a:endParaRPr lang="en-US" sz="1275" dirty="0"/>
          </a:p>
        </p:txBody>
      </p:sp>
      <p:sp>
        <p:nvSpPr>
          <p:cNvPr id="12" name="Text 10"/>
          <p:cNvSpPr/>
          <p:nvPr/>
        </p:nvSpPr>
        <p:spPr>
          <a:xfrm>
            <a:off x="9620250" y="5329238"/>
            <a:ext cx="7962900" cy="238125"/>
          </a:xfrm>
          <a:prstGeom prst="rect">
            <a:avLst/>
          </a:prstGeom>
          <a:noFill/>
          <a:ln/>
        </p:spPr>
        <p:txBody>
          <a:bodyPr wrap="square" lIns="25400" tIns="25400" rIns="25400" bIns="25400" rtlCol="0" anchor="t">
            <a:normAutofit/>
          </a:bodyPr>
          <a:lstStyle/>
          <a:p>
            <a:pPr algn="ctr" indent="0" marL="0">
              <a:buNone/>
            </a:pPr>
            <a:r>
              <a:rPr lang="en-US" sz="1200" spc="120" kern="0" dirty="0">
                <a:solidFill>
                  <a:srgbClr val="9C9584"/>
                </a:solidFill>
                <a:latin typeface="Courier New" pitchFamily="34" charset="0"/>
                <a:ea typeface="Courier New" pitchFamily="34" charset="-122"/>
                <a:cs typeface="Courier New" pitchFamily="34" charset="-120"/>
              </a:rPr>
              <a:t>↓ self-corrects</a:t>
            </a:r>
            <a:endParaRPr lang="en-US" sz="1200" dirty="0"/>
          </a:p>
        </p:txBody>
      </p:sp>
      <p:sp>
        <p:nvSpPr>
          <p:cNvPr id="13" name="Shape 11"/>
          <p:cNvSpPr/>
          <p:nvPr/>
        </p:nvSpPr>
        <p:spPr>
          <a:xfrm>
            <a:off x="9982200" y="5719763"/>
            <a:ext cx="7239000" cy="990600"/>
          </a:xfrm>
          <a:prstGeom prst="roundRect">
            <a:avLst>
              <a:gd name="adj" fmla="val 7692"/>
            </a:avLst>
          </a:prstGeom>
          <a:solidFill>
            <a:srgbClr val="232019"/>
          </a:solidFill>
          <a:ln w="9525">
            <a:solidFill>
              <a:srgbClr val="7E9A66"/>
            </a:solidFill>
            <a:prstDash val="solid"/>
          </a:ln>
        </p:spPr>
      </p:sp>
      <p:sp>
        <p:nvSpPr>
          <p:cNvPr id="14" name="Text 12"/>
          <p:cNvSpPr/>
          <p:nvPr/>
        </p:nvSpPr>
        <p:spPr>
          <a:xfrm>
            <a:off x="10239375" y="5919788"/>
            <a:ext cx="4709160" cy="285750"/>
          </a:xfrm>
          <a:prstGeom prst="rect">
            <a:avLst/>
          </a:prstGeom>
          <a:noFill/>
          <a:ln/>
        </p:spPr>
        <p:txBody>
          <a:bodyPr wrap="square" lIns="0" tIns="0" rIns="0" bIns="0" rtlCol="0" anchor="t">
            <a:normAutofit/>
          </a:bodyPr>
          <a:lstStyle/>
          <a:p>
            <a:pPr algn="l" indent="0" marL="0">
              <a:buNone/>
            </a:pPr>
            <a:r>
              <a:rPr lang="en-US" sz="1500" dirty="0">
                <a:solidFill>
                  <a:srgbClr val="F2ECE0"/>
                </a:solidFill>
                <a:latin typeface="Courier New" pitchFamily="34" charset="0"/>
                <a:ea typeface="Courier New" pitchFamily="34" charset="-122"/>
                <a:cs typeface="Courier New" pitchFamily="34" charset="-120"/>
              </a:rPr>
              <a:t>$ git push -u origin feature/CHR-12345-…</a:t>
            </a:r>
            <a:endParaRPr lang="en-US" sz="1500" dirty="0"/>
          </a:p>
        </p:txBody>
      </p:sp>
      <p:sp>
        <p:nvSpPr>
          <p:cNvPr id="15" name="Text 13"/>
          <p:cNvSpPr/>
          <p:nvPr/>
        </p:nvSpPr>
        <p:spPr>
          <a:xfrm>
            <a:off x="10239375" y="6300788"/>
            <a:ext cx="7397115" cy="247650"/>
          </a:xfrm>
          <a:prstGeom prst="rect">
            <a:avLst/>
          </a:prstGeom>
          <a:noFill/>
          <a:ln/>
        </p:spPr>
        <p:txBody>
          <a:bodyPr wrap="square" lIns="25400" tIns="25400" rIns="25400" bIns="25400" rtlCol="0" anchor="t">
            <a:normAutofit/>
          </a:bodyPr>
          <a:lstStyle/>
          <a:p>
            <a:pPr algn="l" indent="0" marL="0">
              <a:buNone/>
            </a:pPr>
            <a:r>
              <a:rPr lang="en-US" sz="1275" dirty="0">
                <a:solidFill>
                  <a:srgbClr val="7E9A66"/>
                </a:solidFill>
                <a:latin typeface="Courier New" pitchFamily="34" charset="0"/>
                <a:ea typeface="Courier New" pitchFamily="34" charset="-122"/>
                <a:cs typeface="Courier New" pitchFamily="34" charset="-120"/>
              </a:rPr>
              <a:t>✓ allowed</a:t>
            </a:r>
            <a:endParaRPr lang="en-US" sz="1275" dirty="0"/>
          </a:p>
        </p:txBody>
      </p:sp>
      <p:sp>
        <p:nvSpPr>
          <p:cNvPr id="16" name="Text 14"/>
          <p:cNvSpPr/>
          <p:nvPr/>
        </p:nvSpPr>
        <p:spPr>
          <a:xfrm>
            <a:off x="16953309" y="9515475"/>
            <a:ext cx="344091" cy="276225"/>
          </a:xfrm>
          <a:prstGeom prst="rect">
            <a:avLst/>
          </a:prstGeom>
          <a:noFill/>
          <a:ln/>
        </p:spPr>
        <p:txBody>
          <a:bodyPr wrap="square" lIns="25400" tIns="25400" rIns="25400" bIns="25400" rtlCol="0" anchor="t">
            <a:normAutofit/>
          </a:bodyPr>
          <a:lstStyle/>
          <a:p>
            <a:pPr algn="l" indent="0" marL="0">
              <a:buNone/>
            </a:pPr>
            <a:r>
              <a:rPr lang="en-US" sz="1425" spc="200" kern="0" dirty="0">
                <a:solidFill>
                  <a:srgbClr val="9C9584"/>
                </a:solidFill>
                <a:latin typeface="Courier New" pitchFamily="34" charset="0"/>
                <a:ea typeface="Courier New" pitchFamily="34" charset="-122"/>
                <a:cs typeface="Courier New" pitchFamily="34" charset="-120"/>
              </a:rPr>
              <a:t>15</a:t>
            </a:r>
            <a:endParaRPr lang="en-US" sz="1425"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2ECE0"/>
        </a:solidFill>
      </p:bgPr>
    </p:bg>
    <p:spTree>
      <p:nvGrpSpPr>
        <p:cNvPr id="1" name=""/>
        <p:cNvGrpSpPr/>
        <p:nvPr/>
      </p:nvGrpSpPr>
      <p:grpSpPr>
        <a:xfrm>
          <a:off x="0" y="0"/>
          <a:ext cx="0" cy="0"/>
          <a:chOff x="0" y="0"/>
          <a:chExt cx="0" cy="0"/>
        </a:xfrm>
      </p:grpSpPr>
      <p:sp>
        <p:nvSpPr>
          <p:cNvPr id="2" name="Text 0"/>
          <p:cNvSpPr/>
          <p:nvPr/>
        </p:nvSpPr>
        <p:spPr>
          <a:xfrm>
            <a:off x="1066800" y="2388096"/>
            <a:ext cx="17769840" cy="276225"/>
          </a:xfrm>
          <a:prstGeom prst="rect">
            <a:avLst/>
          </a:prstGeom>
          <a:noFill/>
          <a:ln/>
        </p:spPr>
        <p:txBody>
          <a:bodyPr wrap="square" lIns="25400" tIns="25400" rIns="25400" bIns="25400" rtlCol="0" anchor="t">
            <a:normAutofit/>
          </a:bodyPr>
          <a:lstStyle/>
          <a:p>
            <a:pPr algn="l" indent="0" marL="0">
              <a:buNone/>
            </a:pPr>
            <a:r>
              <a:rPr lang="en-US" sz="1425" spc="342" kern="0" dirty="0">
                <a:solidFill>
                  <a:srgbClr val="C05F38"/>
                </a:solidFill>
                <a:latin typeface="Courier New" pitchFamily="34" charset="0"/>
                <a:ea typeface="Courier New" pitchFamily="34" charset="-122"/>
                <a:cs typeface="Courier New" pitchFamily="34" charset="-120"/>
              </a:rPr>
              <a:t>V · PERMISSIONS &amp; TRUST</a:t>
            </a:r>
            <a:endParaRPr lang="en-US" sz="1425" dirty="0"/>
          </a:p>
        </p:txBody>
      </p:sp>
      <p:sp>
        <p:nvSpPr>
          <p:cNvPr id="3" name="Text 1"/>
          <p:cNvSpPr/>
          <p:nvPr/>
        </p:nvSpPr>
        <p:spPr>
          <a:xfrm>
            <a:off x="1066800" y="2873871"/>
            <a:ext cx="9696271" cy="671959"/>
          </a:xfrm>
          <a:prstGeom prst="rect">
            <a:avLst/>
          </a:prstGeom>
          <a:noFill/>
          <a:ln/>
        </p:spPr>
        <p:txBody>
          <a:bodyPr wrap="square" lIns="25400" tIns="25400" rIns="25400" bIns="25400" rtlCol="0" anchor="t">
            <a:normAutofit/>
          </a:bodyPr>
          <a:lstStyle/>
          <a:p>
            <a:pPr algn="l" indent="0" marL="0">
              <a:lnSpc>
                <a:spcPct val="104000"/>
              </a:lnSpc>
              <a:buNone/>
            </a:pPr>
            <a:r>
              <a:rPr lang="en-US" sz="4800" b="1" spc="-72" kern="0" dirty="0">
                <a:solidFill>
                  <a:srgbClr val="1B1813"/>
                </a:solidFill>
                <a:latin typeface="Arial" pitchFamily="34" charset="0"/>
                <a:ea typeface="Arial" pitchFamily="34" charset="-122"/>
                <a:cs typeface="Arial" pitchFamily="34" charset="-120"/>
              </a:rPr>
              <a:t>Less friction, without less safety</a:t>
            </a:r>
            <a:endParaRPr lang="en-US" sz="4800" dirty="0"/>
          </a:p>
        </p:txBody>
      </p:sp>
      <p:sp>
        <p:nvSpPr>
          <p:cNvPr id="4" name="Text 2"/>
          <p:cNvSpPr/>
          <p:nvPr/>
        </p:nvSpPr>
        <p:spPr>
          <a:xfrm>
            <a:off x="1066800" y="3660130"/>
            <a:ext cx="17769840" cy="342900"/>
          </a:xfrm>
          <a:prstGeom prst="rect">
            <a:avLst/>
          </a:prstGeom>
          <a:noFill/>
          <a:ln/>
        </p:spPr>
        <p:txBody>
          <a:bodyPr wrap="square" lIns="25400" tIns="25400" rIns="25400" bIns="25400" rtlCol="0" anchor="t">
            <a:normAutofit/>
          </a:bodyPr>
          <a:lstStyle/>
          <a:p>
            <a:pPr algn="l" indent="0" marL="0">
              <a:buNone/>
            </a:pPr>
            <a:r>
              <a:rPr lang="en-US" sz="1875" dirty="0">
                <a:solidFill>
                  <a:srgbClr val="6E6656"/>
                </a:solidFill>
                <a:latin typeface="Arial" pitchFamily="34" charset="0"/>
                <a:ea typeface="Arial" pitchFamily="34" charset="-122"/>
                <a:cs typeface="Arial" pitchFamily="34" charset="-120"/>
              </a:rPr>
              <a:t>Auto-approve what's safe, gate what's dangerous, block what's destructive.</a:t>
            </a:r>
            <a:endParaRPr lang="en-US" sz="1875" dirty="0"/>
          </a:p>
        </p:txBody>
      </p:sp>
      <p:sp>
        <p:nvSpPr>
          <p:cNvPr id="5" name="Shape 3"/>
          <p:cNvSpPr/>
          <p:nvPr/>
        </p:nvSpPr>
        <p:spPr>
          <a:xfrm>
            <a:off x="1066800" y="4422130"/>
            <a:ext cx="15240000" cy="628650"/>
          </a:xfrm>
          <a:prstGeom prst="roundRect">
            <a:avLst>
              <a:gd name="adj" fmla="val 9091"/>
            </a:avLst>
          </a:prstGeom>
          <a:solidFill>
            <a:srgbClr val="FFFFFF"/>
          </a:solidFill>
          <a:ln w="9525">
            <a:solidFill>
              <a:srgbClr val="1B1813">
                <a:alpha val="13000"/>
              </a:srgbClr>
            </a:solidFill>
            <a:prstDash val="solid"/>
          </a:ln>
        </p:spPr>
      </p:sp>
      <p:sp>
        <p:nvSpPr>
          <p:cNvPr id="6" name="Text 4"/>
          <p:cNvSpPr/>
          <p:nvPr/>
        </p:nvSpPr>
        <p:spPr>
          <a:xfrm>
            <a:off x="1323975" y="4588818"/>
            <a:ext cx="40005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7E9A66"/>
                </a:solidFill>
                <a:latin typeface="Arial" pitchFamily="34" charset="0"/>
                <a:ea typeface="Arial" pitchFamily="34" charset="-122"/>
                <a:cs typeface="Arial" pitchFamily="34" charset="-120"/>
              </a:rPr>
              <a:t>✓</a:t>
            </a:r>
            <a:endParaRPr lang="en-US" sz="1800" dirty="0"/>
          </a:p>
        </p:txBody>
      </p:sp>
      <p:sp>
        <p:nvSpPr>
          <p:cNvPr id="7" name="Text 5"/>
          <p:cNvSpPr/>
          <p:nvPr/>
        </p:nvSpPr>
        <p:spPr>
          <a:xfrm>
            <a:off x="1876425" y="4584055"/>
            <a:ext cx="15590520" cy="342900"/>
          </a:xfrm>
          <a:prstGeom prst="rect">
            <a:avLst/>
          </a:prstGeom>
          <a:noFill/>
          <a:ln/>
        </p:spPr>
        <p:txBody>
          <a:bodyPr wrap="square" lIns="25400" tIns="25400" rIns="25400" bIns="25400" rtlCol="0" anchor="t">
            <a:normAutofit/>
          </a:bodyPr>
          <a:lstStyle/>
          <a:p>
            <a:pPr algn="l" indent="0" marL="0">
              <a:buNone/>
            </a:pPr>
            <a:r>
              <a:rPr lang="en-US" sz="1875" dirty="0">
                <a:solidFill>
                  <a:srgbClr val="1B1813"/>
                </a:solidFill>
                <a:latin typeface="Arial" pitchFamily="34" charset="0"/>
                <a:ea typeface="Arial" pitchFamily="34" charset="-122"/>
                <a:cs typeface="Arial" pitchFamily="34" charset="-120"/>
              </a:rPr>
              <a:t>Read files, search code, </a:t>
            </a:r>
            <a:pPr algn="l" indent="0" marL="0">
              <a:buNone/>
            </a:pPr>
            <a:r>
              <a:rPr lang="en-US" sz="1500" dirty="0">
                <a:solidFill>
                  <a:srgbClr val="1B1813"/>
                </a:solidFill>
                <a:latin typeface="Courier New" pitchFamily="34" charset="0"/>
                <a:ea typeface="Courier New" pitchFamily="34" charset="-122"/>
                <a:cs typeface="Courier New" pitchFamily="34" charset="-120"/>
              </a:rPr>
              <a:t>powerpipe dashboard list </a:t>
            </a:r>
            <a:pPr algn="l" indent="0" marL="0">
              <a:buNone/>
            </a:pPr>
            <a:r>
              <a:rPr lang="en-US" sz="1875" dirty="0">
                <a:solidFill>
                  <a:srgbClr val="1B1813"/>
                </a:solidFill>
                <a:latin typeface="Arial" pitchFamily="34" charset="0"/>
                <a:ea typeface="Arial" pitchFamily="34" charset="-122"/>
                <a:cs typeface="Arial" pitchFamily="34" charset="-120"/>
              </a:rPr>
              <a:t>— instant, no prompt.</a:t>
            </a:r>
            <a:endParaRPr lang="en-US" sz="1875" dirty="0"/>
          </a:p>
        </p:txBody>
      </p:sp>
      <p:sp>
        <p:nvSpPr>
          <p:cNvPr id="8" name="Shape 6"/>
          <p:cNvSpPr/>
          <p:nvPr/>
        </p:nvSpPr>
        <p:spPr>
          <a:xfrm>
            <a:off x="1066800" y="5184130"/>
            <a:ext cx="15240000" cy="628650"/>
          </a:xfrm>
          <a:prstGeom prst="roundRect">
            <a:avLst>
              <a:gd name="adj" fmla="val 9091"/>
            </a:avLst>
          </a:prstGeom>
          <a:solidFill>
            <a:srgbClr val="FFFFFF"/>
          </a:solidFill>
          <a:ln w="9525">
            <a:solidFill>
              <a:srgbClr val="1B1813">
                <a:alpha val="13000"/>
              </a:srgbClr>
            </a:solidFill>
            <a:prstDash val="solid"/>
          </a:ln>
        </p:spPr>
      </p:sp>
      <p:sp>
        <p:nvSpPr>
          <p:cNvPr id="9" name="Text 7"/>
          <p:cNvSpPr/>
          <p:nvPr/>
        </p:nvSpPr>
        <p:spPr>
          <a:xfrm>
            <a:off x="1323975" y="5350818"/>
            <a:ext cx="40005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7E9A66"/>
                </a:solidFill>
                <a:latin typeface="Arial" pitchFamily="34" charset="0"/>
                <a:ea typeface="Arial" pitchFamily="34" charset="-122"/>
                <a:cs typeface="Arial" pitchFamily="34" charset="-120"/>
              </a:rPr>
              <a:t>✓</a:t>
            </a:r>
            <a:endParaRPr lang="en-US" sz="1800" dirty="0"/>
          </a:p>
        </p:txBody>
      </p:sp>
      <p:sp>
        <p:nvSpPr>
          <p:cNvPr id="10" name="Text 8"/>
          <p:cNvSpPr/>
          <p:nvPr/>
        </p:nvSpPr>
        <p:spPr>
          <a:xfrm>
            <a:off x="1876425" y="5346055"/>
            <a:ext cx="15590520" cy="342900"/>
          </a:xfrm>
          <a:prstGeom prst="rect">
            <a:avLst/>
          </a:prstGeom>
          <a:noFill/>
          <a:ln/>
        </p:spPr>
        <p:txBody>
          <a:bodyPr wrap="square" lIns="25400" tIns="25400" rIns="25400" bIns="25400" rtlCol="0" anchor="t">
            <a:normAutofit/>
          </a:bodyPr>
          <a:lstStyle/>
          <a:p>
            <a:pPr algn="l" indent="0" marL="0">
              <a:buNone/>
            </a:pPr>
            <a:r>
              <a:rPr lang="en-US" sz="1875" dirty="0">
                <a:solidFill>
                  <a:srgbClr val="1B1813"/>
                </a:solidFill>
                <a:latin typeface="Arial" pitchFamily="34" charset="0"/>
                <a:ea typeface="Arial" pitchFamily="34" charset="-122"/>
                <a:cs typeface="Arial" pitchFamily="34" charset="-120"/>
              </a:rPr>
              <a:t>Write a new </a:t>
            </a:r>
            <a:pPr algn="l" indent="0" marL="0">
              <a:buNone/>
            </a:pPr>
            <a:r>
              <a:rPr lang="en-US" sz="1500" dirty="0">
                <a:solidFill>
                  <a:srgbClr val="1B1813"/>
                </a:solidFill>
                <a:latin typeface="Courier New" pitchFamily="34" charset="0"/>
                <a:ea typeface="Courier New" pitchFamily="34" charset="-122"/>
                <a:cs typeface="Courier New" pitchFamily="34" charset="-120"/>
              </a:rPr>
              <a:t>.pp </a:t>
            </a:r>
            <a:pPr algn="l" indent="0" marL="0">
              <a:buNone/>
            </a:pPr>
            <a:r>
              <a:rPr lang="en-US" sz="1875" dirty="0">
                <a:solidFill>
                  <a:srgbClr val="1B1813"/>
                </a:solidFill>
                <a:latin typeface="Arial" pitchFamily="34" charset="0"/>
                <a:ea typeface="Arial" pitchFamily="34" charset="-122"/>
                <a:cs typeface="Arial" pitchFamily="34" charset="-120"/>
              </a:rPr>
              <a:t>file — auto-approved, matches </a:t>
            </a:r>
            <a:pPr algn="l" indent="0" marL="0">
              <a:buNone/>
            </a:pPr>
            <a:r>
              <a:rPr lang="en-US" sz="1500" dirty="0">
                <a:solidFill>
                  <a:srgbClr val="1B1813"/>
                </a:solidFill>
                <a:latin typeface="Courier New" pitchFamily="34" charset="0"/>
                <a:ea typeface="Courier New" pitchFamily="34" charset="-122"/>
                <a:cs typeface="Courier New" pitchFamily="34" charset="-120"/>
              </a:rPr>
              <a:t>allowedPaths</a:t>
            </a:r>
            <a:pPr algn="l" indent="0" marL="0">
              <a:buNone/>
            </a:pPr>
            <a:r>
              <a:rPr lang="en-US" sz="1875" dirty="0">
                <a:solidFill>
                  <a:srgbClr val="1B1813"/>
                </a:solidFill>
                <a:latin typeface="Arial" pitchFamily="34" charset="0"/>
                <a:ea typeface="Arial" pitchFamily="34" charset="-122"/>
                <a:cs typeface="Arial" pitchFamily="34" charset="-120"/>
              </a:rPr>
              <a:t>.</a:t>
            </a:r>
            <a:endParaRPr lang="en-US" sz="1875" dirty="0"/>
          </a:p>
        </p:txBody>
      </p:sp>
      <p:sp>
        <p:nvSpPr>
          <p:cNvPr id="11" name="Shape 9"/>
          <p:cNvSpPr/>
          <p:nvPr/>
        </p:nvSpPr>
        <p:spPr>
          <a:xfrm>
            <a:off x="1066800" y="5946130"/>
            <a:ext cx="15240000" cy="628650"/>
          </a:xfrm>
          <a:prstGeom prst="roundRect">
            <a:avLst>
              <a:gd name="adj" fmla="val 9091"/>
            </a:avLst>
          </a:prstGeom>
          <a:solidFill>
            <a:srgbClr val="FFFFFF"/>
          </a:solidFill>
          <a:ln w="9525">
            <a:solidFill>
              <a:srgbClr val="1B1813">
                <a:alpha val="13000"/>
              </a:srgbClr>
            </a:solidFill>
            <a:prstDash val="solid"/>
          </a:ln>
        </p:spPr>
      </p:sp>
      <p:sp>
        <p:nvSpPr>
          <p:cNvPr id="12" name="Text 10"/>
          <p:cNvSpPr/>
          <p:nvPr/>
        </p:nvSpPr>
        <p:spPr>
          <a:xfrm>
            <a:off x="1323975" y="6112818"/>
            <a:ext cx="40005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C9A227"/>
                </a:solidFill>
                <a:latin typeface="Arial" pitchFamily="34" charset="0"/>
                <a:ea typeface="Arial" pitchFamily="34" charset="-122"/>
                <a:cs typeface="Arial" pitchFamily="34" charset="-120"/>
              </a:rPr>
              <a:t>⚠</a:t>
            </a:r>
            <a:endParaRPr lang="en-US" sz="1800" dirty="0"/>
          </a:p>
        </p:txBody>
      </p:sp>
      <p:sp>
        <p:nvSpPr>
          <p:cNvPr id="13" name="Text 11"/>
          <p:cNvSpPr/>
          <p:nvPr/>
        </p:nvSpPr>
        <p:spPr>
          <a:xfrm>
            <a:off x="1876425" y="6108055"/>
            <a:ext cx="15590520" cy="342900"/>
          </a:xfrm>
          <a:prstGeom prst="rect">
            <a:avLst/>
          </a:prstGeom>
          <a:noFill/>
          <a:ln/>
        </p:spPr>
        <p:txBody>
          <a:bodyPr wrap="square" lIns="25400" tIns="25400" rIns="25400" bIns="25400" rtlCol="0" anchor="t">
            <a:normAutofit/>
          </a:bodyPr>
          <a:lstStyle/>
          <a:p>
            <a:pPr algn="l" indent="0" marL="0">
              <a:buNone/>
            </a:pPr>
            <a:r>
              <a:rPr lang="en-US" sz="1875" dirty="0">
                <a:solidFill>
                  <a:srgbClr val="1B1813"/>
                </a:solidFill>
                <a:latin typeface="Arial" pitchFamily="34" charset="0"/>
                <a:ea typeface="Arial" pitchFamily="34" charset="-122"/>
                <a:cs typeface="Arial" pitchFamily="34" charset="-120"/>
              </a:rPr>
              <a:t>Push to a feature branch — </a:t>
            </a:r>
            <a:pPr algn="l" indent="0" marL="0">
              <a:buNone/>
            </a:pPr>
            <a:r>
              <a:rPr lang="en-US" sz="1875" dirty="0">
                <a:solidFill>
                  <a:srgbClr val="6E6656"/>
                </a:solidFill>
                <a:latin typeface="Arial" pitchFamily="34" charset="0"/>
                <a:ea typeface="Arial" pitchFamily="34" charset="-122"/>
                <a:cs typeface="Arial" pitchFamily="34" charset="-120"/>
              </a:rPr>
              <a:t>prompts for approval.</a:t>
            </a:r>
            <a:endParaRPr lang="en-US" sz="1875" dirty="0"/>
          </a:p>
        </p:txBody>
      </p:sp>
      <p:sp>
        <p:nvSpPr>
          <p:cNvPr id="14" name="Shape 12"/>
          <p:cNvSpPr/>
          <p:nvPr/>
        </p:nvSpPr>
        <p:spPr>
          <a:xfrm>
            <a:off x="1066800" y="6708130"/>
            <a:ext cx="15240000" cy="628650"/>
          </a:xfrm>
          <a:prstGeom prst="roundRect">
            <a:avLst>
              <a:gd name="adj" fmla="val 9091"/>
            </a:avLst>
          </a:prstGeom>
          <a:solidFill>
            <a:srgbClr val="E9E0CE"/>
          </a:solidFill>
          <a:ln w="9525">
            <a:solidFill>
              <a:srgbClr val="C05F38"/>
            </a:solidFill>
            <a:prstDash val="solid"/>
          </a:ln>
        </p:spPr>
      </p:sp>
      <p:sp>
        <p:nvSpPr>
          <p:cNvPr id="15" name="Text 13"/>
          <p:cNvSpPr/>
          <p:nvPr/>
        </p:nvSpPr>
        <p:spPr>
          <a:xfrm>
            <a:off x="1323975" y="6879580"/>
            <a:ext cx="400050" cy="323850"/>
          </a:xfrm>
          <a:prstGeom prst="rect">
            <a:avLst/>
          </a:prstGeom>
          <a:noFill/>
          <a:ln/>
        </p:spPr>
        <p:txBody>
          <a:bodyPr wrap="square" lIns="25400" tIns="25400" rIns="25400" bIns="25400" rtlCol="0" anchor="t">
            <a:normAutofit/>
          </a:bodyPr>
          <a:lstStyle/>
          <a:p>
            <a:pPr algn="l" indent="0" marL="0">
              <a:buNone/>
            </a:pPr>
            <a:r>
              <a:rPr lang="en-US" sz="1650" dirty="0">
                <a:solidFill>
                  <a:srgbClr val="C05F38"/>
                </a:solidFill>
                <a:latin typeface="Arial" pitchFamily="34" charset="0"/>
                <a:ea typeface="Arial" pitchFamily="34" charset="-122"/>
                <a:cs typeface="Arial" pitchFamily="34" charset="-120"/>
              </a:rPr>
              <a:t>🚫</a:t>
            </a:r>
            <a:endParaRPr lang="en-US" sz="1650" dirty="0"/>
          </a:p>
        </p:txBody>
      </p:sp>
      <p:sp>
        <p:nvSpPr>
          <p:cNvPr id="16" name="Text 14"/>
          <p:cNvSpPr/>
          <p:nvPr/>
        </p:nvSpPr>
        <p:spPr>
          <a:xfrm>
            <a:off x="1876425" y="6870055"/>
            <a:ext cx="15590520" cy="342900"/>
          </a:xfrm>
          <a:prstGeom prst="rect">
            <a:avLst/>
          </a:prstGeom>
          <a:noFill/>
          <a:ln/>
        </p:spPr>
        <p:txBody>
          <a:bodyPr wrap="square" lIns="25400" tIns="25400" rIns="25400" bIns="25400" rtlCol="0" anchor="t">
            <a:normAutofit/>
          </a:bodyPr>
          <a:lstStyle/>
          <a:p>
            <a:pPr algn="l" indent="0" marL="0">
              <a:buNone/>
            </a:pPr>
            <a:r>
              <a:rPr lang="en-US" sz="1500" dirty="0">
                <a:solidFill>
                  <a:srgbClr val="1B1813"/>
                </a:solidFill>
                <a:latin typeface="Courier New" pitchFamily="34" charset="0"/>
                <a:ea typeface="Courier New" pitchFamily="34" charset="-122"/>
                <a:cs typeface="Courier New" pitchFamily="34" charset="-120"/>
              </a:rPr>
              <a:t>push origin main </a:t>
            </a:r>
            <a:pPr algn="l" indent="0" marL="0">
              <a:buNone/>
            </a:pPr>
            <a:r>
              <a:rPr lang="en-US" sz="1875" dirty="0">
                <a:solidFill>
                  <a:srgbClr val="1B1813"/>
                </a:solidFill>
                <a:latin typeface="Arial" pitchFamily="34" charset="0"/>
                <a:ea typeface="Arial" pitchFamily="34" charset="-122"/>
                <a:cs typeface="Arial" pitchFamily="34" charset="-120"/>
              </a:rPr>
              <a:t>blocked by hook · </a:t>
            </a:r>
            <a:pPr algn="l" indent="0" marL="0">
              <a:buNone/>
            </a:pPr>
            <a:r>
              <a:rPr lang="en-US" sz="1500" dirty="0">
                <a:solidFill>
                  <a:srgbClr val="1B1813"/>
                </a:solidFill>
                <a:latin typeface="Courier New" pitchFamily="34" charset="0"/>
                <a:ea typeface="Courier New" pitchFamily="34" charset="-122"/>
                <a:cs typeface="Courier New" pitchFamily="34" charset="-120"/>
              </a:rPr>
              <a:t>.gitlab-ci.yml </a:t>
            </a:r>
            <a:pPr algn="l" indent="0" marL="0">
              <a:buNone/>
            </a:pPr>
            <a:r>
              <a:rPr lang="en-US" sz="1875" dirty="0">
                <a:solidFill>
                  <a:srgbClr val="1B1813"/>
                </a:solidFill>
                <a:latin typeface="Arial" pitchFamily="34" charset="0"/>
                <a:ea typeface="Arial" pitchFamily="34" charset="-122"/>
                <a:cs typeface="Arial" pitchFamily="34" charset="-120"/>
              </a:rPr>
              <a:t>blocked by deniedPaths.</a:t>
            </a:r>
            <a:endParaRPr lang="en-US" sz="1875" dirty="0"/>
          </a:p>
        </p:txBody>
      </p:sp>
      <p:sp>
        <p:nvSpPr>
          <p:cNvPr id="17" name="Text 15"/>
          <p:cNvSpPr/>
          <p:nvPr/>
        </p:nvSpPr>
        <p:spPr>
          <a:xfrm>
            <a:off x="1066800" y="7698730"/>
            <a:ext cx="1776984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7E9A66"/>
                </a:solidFill>
                <a:latin typeface="Arial" pitchFamily="34" charset="0"/>
                <a:ea typeface="Arial" pitchFamily="34" charset="-122"/>
                <a:cs typeface="Arial" pitchFamily="34" charset="-120"/>
              </a:rPr>
              <a:t>80% fewer approval prompts during normal development.</a:t>
            </a:r>
            <a:endParaRPr lang="en-US" sz="1800" dirty="0"/>
          </a:p>
        </p:txBody>
      </p:sp>
      <p:sp>
        <p:nvSpPr>
          <p:cNvPr id="18" name="Text 16"/>
          <p:cNvSpPr/>
          <p:nvPr/>
        </p:nvSpPr>
        <p:spPr>
          <a:xfrm>
            <a:off x="16953309" y="9515475"/>
            <a:ext cx="344091" cy="276225"/>
          </a:xfrm>
          <a:prstGeom prst="rect">
            <a:avLst/>
          </a:prstGeom>
          <a:noFill/>
          <a:ln/>
        </p:spPr>
        <p:txBody>
          <a:bodyPr wrap="square" lIns="25400" tIns="25400" rIns="25400" bIns="25400" rtlCol="0" anchor="t">
            <a:normAutofit/>
          </a:bodyPr>
          <a:lstStyle/>
          <a:p>
            <a:pPr algn="l" indent="0" marL="0">
              <a:buNone/>
            </a:pPr>
            <a:r>
              <a:rPr lang="en-US" sz="1425" spc="200" kern="0" dirty="0">
                <a:solidFill>
                  <a:srgbClr val="6E6656"/>
                </a:solidFill>
                <a:latin typeface="Courier New" pitchFamily="34" charset="0"/>
                <a:ea typeface="Courier New" pitchFamily="34" charset="-122"/>
                <a:cs typeface="Courier New" pitchFamily="34" charset="-120"/>
              </a:rPr>
              <a:t>16</a:t>
            </a:r>
            <a:endParaRPr lang="en-US" sz="1425"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B1813"/>
        </a:solidFill>
      </p:bgPr>
    </p:bg>
    <p:spTree>
      <p:nvGrpSpPr>
        <p:cNvPr id="1" name=""/>
        <p:cNvGrpSpPr/>
        <p:nvPr/>
      </p:nvGrpSpPr>
      <p:grpSpPr>
        <a:xfrm>
          <a:off x="0" y="0"/>
          <a:ext cx="0" cy="0"/>
          <a:chOff x="0" y="0"/>
          <a:chExt cx="0" cy="0"/>
        </a:xfrm>
      </p:grpSpPr>
      <p:sp>
        <p:nvSpPr>
          <p:cNvPr id="2" name="Text 0"/>
          <p:cNvSpPr/>
          <p:nvPr/>
        </p:nvSpPr>
        <p:spPr>
          <a:xfrm>
            <a:off x="1066800" y="2396877"/>
            <a:ext cx="17769840" cy="276225"/>
          </a:xfrm>
          <a:prstGeom prst="rect">
            <a:avLst/>
          </a:prstGeom>
          <a:noFill/>
          <a:ln/>
        </p:spPr>
        <p:txBody>
          <a:bodyPr wrap="square" lIns="25400" tIns="25400" rIns="25400" bIns="25400" rtlCol="0" anchor="t">
            <a:normAutofit/>
          </a:bodyPr>
          <a:lstStyle/>
          <a:p>
            <a:pPr algn="l" indent="0" marL="0">
              <a:buNone/>
            </a:pPr>
            <a:r>
              <a:rPr lang="en-US" sz="1425" spc="342" kern="0" dirty="0">
                <a:solidFill>
                  <a:srgbClr val="C05F38"/>
                </a:solidFill>
                <a:latin typeface="Courier New" pitchFamily="34" charset="0"/>
                <a:ea typeface="Courier New" pitchFamily="34" charset="-122"/>
                <a:cs typeface="Courier New" pitchFamily="34" charset="-120"/>
              </a:rPr>
              <a:t>VI · CONTEXT MANAGEMENT</a:t>
            </a:r>
            <a:endParaRPr lang="en-US" sz="1425" dirty="0"/>
          </a:p>
        </p:txBody>
      </p:sp>
      <p:sp>
        <p:nvSpPr>
          <p:cNvPr id="3" name="Text 1"/>
          <p:cNvSpPr/>
          <p:nvPr/>
        </p:nvSpPr>
        <p:spPr>
          <a:xfrm>
            <a:off x="1066800" y="2882652"/>
            <a:ext cx="8380833" cy="1305818"/>
          </a:xfrm>
          <a:prstGeom prst="rect">
            <a:avLst/>
          </a:prstGeom>
          <a:noFill/>
          <a:ln/>
        </p:spPr>
        <p:txBody>
          <a:bodyPr wrap="square" lIns="25400" tIns="25400" rIns="25400" bIns="25400" rtlCol="0" anchor="t">
            <a:normAutofit/>
          </a:bodyPr>
          <a:lstStyle/>
          <a:p>
            <a:pPr algn="l" indent="0" marL="0">
              <a:lnSpc>
                <a:spcPct val="104000"/>
              </a:lnSpc>
              <a:buNone/>
            </a:pPr>
            <a:r>
              <a:rPr lang="en-US" sz="4800" b="1" spc="-72" kern="0" dirty="0">
                <a:solidFill>
                  <a:srgbClr val="F2ECE0"/>
                </a:solidFill>
                <a:latin typeface="Arial" pitchFamily="34" charset="0"/>
                <a:ea typeface="Arial" pitchFamily="34" charset="-122"/>
                <a:cs typeface="Arial" pitchFamily="34" charset="-120"/>
              </a:rPr>
              <a:t>Two strategies for two kinds of knowledge</a:t>
            </a:r>
            <a:endParaRPr lang="en-US" sz="4800" dirty="0"/>
          </a:p>
        </p:txBody>
      </p:sp>
      <p:sp>
        <p:nvSpPr>
          <p:cNvPr id="4" name="Shape 2"/>
          <p:cNvSpPr/>
          <p:nvPr/>
        </p:nvSpPr>
        <p:spPr>
          <a:xfrm>
            <a:off x="1066800" y="4607570"/>
            <a:ext cx="7286625" cy="2402681"/>
          </a:xfrm>
          <a:prstGeom prst="roundRect">
            <a:avLst>
              <a:gd name="adj" fmla="val 3171"/>
            </a:avLst>
          </a:prstGeom>
          <a:solidFill>
            <a:srgbClr val="232019"/>
          </a:solidFill>
          <a:ln w="9525">
            <a:solidFill>
              <a:srgbClr val="F2ECE0">
                <a:alpha val="15000"/>
              </a:srgbClr>
            </a:solidFill>
            <a:prstDash val="solid"/>
          </a:ln>
        </p:spPr>
      </p:sp>
      <p:sp>
        <p:nvSpPr>
          <p:cNvPr id="5" name="Text 3"/>
          <p:cNvSpPr/>
          <p:nvPr/>
        </p:nvSpPr>
        <p:spPr>
          <a:xfrm>
            <a:off x="1514475" y="5036195"/>
            <a:ext cx="7030403" cy="295275"/>
          </a:xfrm>
          <a:prstGeom prst="rect">
            <a:avLst/>
          </a:prstGeom>
          <a:noFill/>
          <a:ln/>
        </p:spPr>
        <p:txBody>
          <a:bodyPr wrap="square" lIns="25400" tIns="25400" rIns="25400" bIns="25400" rtlCol="0" anchor="t">
            <a:normAutofit/>
          </a:bodyPr>
          <a:lstStyle/>
          <a:p>
            <a:pPr algn="l" indent="0" marL="0">
              <a:buNone/>
            </a:pPr>
            <a:r>
              <a:rPr lang="en-US" sz="1575" dirty="0">
                <a:solidFill>
                  <a:srgbClr val="C05F38"/>
                </a:solidFill>
                <a:latin typeface="Courier New" pitchFamily="34" charset="0"/>
                <a:ea typeface="Courier New" pitchFamily="34" charset="-122"/>
                <a:cs typeface="Courier New" pitchFamily="34" charset="-120"/>
              </a:rPr>
              <a:t>file:// — steering</a:t>
            </a:r>
            <a:endParaRPr lang="en-US" sz="1575" dirty="0"/>
          </a:p>
        </p:txBody>
      </p:sp>
      <p:sp>
        <p:nvSpPr>
          <p:cNvPr id="6" name="Text 4"/>
          <p:cNvSpPr/>
          <p:nvPr/>
        </p:nvSpPr>
        <p:spPr>
          <a:xfrm>
            <a:off x="1514475" y="5483870"/>
            <a:ext cx="7030403" cy="361950"/>
          </a:xfrm>
          <a:prstGeom prst="rect">
            <a:avLst/>
          </a:prstGeom>
          <a:noFill/>
          <a:ln/>
        </p:spPr>
        <p:txBody>
          <a:bodyPr wrap="square" lIns="25400" tIns="25400" rIns="25400" bIns="25400" rtlCol="0" anchor="t">
            <a:normAutofit/>
          </a:bodyPr>
          <a:lstStyle/>
          <a:p>
            <a:pPr algn="l" indent="0" marL="0">
              <a:buNone/>
            </a:pPr>
            <a:r>
              <a:rPr lang="en-US" sz="2250" b="1" dirty="0">
                <a:solidFill>
                  <a:srgbClr val="F2ECE0"/>
                </a:solidFill>
                <a:latin typeface="Arial" pitchFamily="34" charset="0"/>
                <a:ea typeface="Arial" pitchFamily="34" charset="-122"/>
                <a:cs typeface="Arial" pitchFamily="34" charset="-120"/>
              </a:rPr>
              <a:t>Always loaded</a:t>
            </a:r>
            <a:endParaRPr lang="en-US" sz="2250" dirty="0"/>
          </a:p>
        </p:txBody>
      </p:sp>
      <p:sp>
        <p:nvSpPr>
          <p:cNvPr id="7" name="Text 5"/>
          <p:cNvSpPr/>
          <p:nvPr/>
        </p:nvSpPr>
        <p:spPr>
          <a:xfrm>
            <a:off x="1514475" y="5960120"/>
            <a:ext cx="6583013" cy="659606"/>
          </a:xfrm>
          <a:prstGeom prst="rect">
            <a:avLst/>
          </a:prstGeom>
          <a:noFill/>
          <a:ln/>
        </p:spPr>
        <p:txBody>
          <a:bodyPr wrap="square" lIns="25400" tIns="25400" rIns="25400" bIns="25400" rtlCol="0" anchor="t">
            <a:normAutofit/>
          </a:bodyPr>
          <a:lstStyle/>
          <a:p>
            <a:pPr algn="l" indent="0" marL="0">
              <a:lnSpc>
                <a:spcPct val="136000"/>
              </a:lnSpc>
              <a:buNone/>
            </a:pPr>
            <a:r>
              <a:rPr lang="en-US" sz="1800" dirty="0">
                <a:solidFill>
                  <a:srgbClr val="9C9584"/>
                </a:solidFill>
                <a:latin typeface="Arial" pitchFamily="34" charset="0"/>
                <a:ea typeface="Arial" pitchFamily="34" charset="-122"/>
                <a:cs typeface="Arial" pitchFamily="34" charset="-120"/>
              </a:rPr>
              <a:t>Rules for </a:t>
            </a:r>
            <a:pPr algn="l" indent="0" marL="0">
              <a:lnSpc>
                <a:spcPct val="136000"/>
              </a:lnSpc>
              <a:buNone/>
            </a:pPr>
            <a:r>
              <a:rPr lang="en-US" sz="1800" i="1" dirty="0">
                <a:solidFill>
                  <a:srgbClr val="9C9584"/>
                </a:solidFill>
                <a:latin typeface="Arial" pitchFamily="34" charset="0"/>
                <a:ea typeface="Arial" pitchFamily="34" charset="-122"/>
                <a:cs typeface="Arial" pitchFamily="34" charset="-120"/>
              </a:rPr>
              <a:t>every </a:t>
            </a:r>
            <a:pPr algn="l" indent="0" marL="0">
              <a:lnSpc>
                <a:spcPct val="136000"/>
              </a:lnSpc>
              <a:buNone/>
            </a:pPr>
            <a:r>
              <a:rPr lang="en-US" sz="1800" dirty="0">
                <a:solidFill>
                  <a:srgbClr val="9C9584"/>
                </a:solidFill>
                <a:latin typeface="Arial" pitchFamily="34" charset="0"/>
                <a:ea typeface="Arial" pitchFamily="34" charset="-122"/>
                <a:cs typeface="Arial" pitchFamily="34" charset="-120"/>
              </a:rPr>
              <a:t>interaction — branch conventions, security, the verification step. Injected at session start.</a:t>
            </a:r>
            <a:endParaRPr lang="en-US" sz="1800" dirty="0"/>
          </a:p>
        </p:txBody>
      </p:sp>
      <p:sp>
        <p:nvSpPr>
          <p:cNvPr id="8" name="Shape 6"/>
          <p:cNvSpPr/>
          <p:nvPr/>
        </p:nvSpPr>
        <p:spPr>
          <a:xfrm>
            <a:off x="8829675" y="4607570"/>
            <a:ext cx="7286625" cy="2402681"/>
          </a:xfrm>
          <a:prstGeom prst="roundRect">
            <a:avLst>
              <a:gd name="adj" fmla="val 3171"/>
            </a:avLst>
          </a:prstGeom>
          <a:solidFill>
            <a:srgbClr val="232019"/>
          </a:solidFill>
          <a:ln w="9525">
            <a:solidFill>
              <a:srgbClr val="F2ECE0">
                <a:alpha val="15000"/>
              </a:srgbClr>
            </a:solidFill>
            <a:prstDash val="solid"/>
          </a:ln>
        </p:spPr>
      </p:sp>
      <p:sp>
        <p:nvSpPr>
          <p:cNvPr id="9" name="Text 7"/>
          <p:cNvSpPr/>
          <p:nvPr/>
        </p:nvSpPr>
        <p:spPr>
          <a:xfrm>
            <a:off x="9277350" y="5036195"/>
            <a:ext cx="7030403" cy="295275"/>
          </a:xfrm>
          <a:prstGeom prst="rect">
            <a:avLst/>
          </a:prstGeom>
          <a:noFill/>
          <a:ln/>
        </p:spPr>
        <p:txBody>
          <a:bodyPr wrap="square" lIns="25400" tIns="25400" rIns="25400" bIns="25400" rtlCol="0" anchor="t">
            <a:normAutofit/>
          </a:bodyPr>
          <a:lstStyle/>
          <a:p>
            <a:pPr algn="l" indent="0" marL="0">
              <a:buNone/>
            </a:pPr>
            <a:r>
              <a:rPr lang="en-US" sz="1575" dirty="0">
                <a:solidFill>
                  <a:srgbClr val="C05F38"/>
                </a:solidFill>
                <a:latin typeface="Courier New" pitchFamily="34" charset="0"/>
                <a:ea typeface="Courier New" pitchFamily="34" charset="-122"/>
                <a:cs typeface="Courier New" pitchFamily="34" charset="-120"/>
              </a:rPr>
              <a:t>skill:// — skills</a:t>
            </a:r>
            <a:endParaRPr lang="en-US" sz="1575" dirty="0"/>
          </a:p>
        </p:txBody>
      </p:sp>
      <p:sp>
        <p:nvSpPr>
          <p:cNvPr id="10" name="Text 8"/>
          <p:cNvSpPr/>
          <p:nvPr/>
        </p:nvSpPr>
        <p:spPr>
          <a:xfrm>
            <a:off x="9277350" y="5483870"/>
            <a:ext cx="7030403" cy="361950"/>
          </a:xfrm>
          <a:prstGeom prst="rect">
            <a:avLst/>
          </a:prstGeom>
          <a:noFill/>
          <a:ln/>
        </p:spPr>
        <p:txBody>
          <a:bodyPr wrap="square" lIns="25400" tIns="25400" rIns="25400" bIns="25400" rtlCol="0" anchor="t">
            <a:normAutofit/>
          </a:bodyPr>
          <a:lstStyle/>
          <a:p>
            <a:pPr algn="l" indent="0" marL="0">
              <a:buNone/>
            </a:pPr>
            <a:r>
              <a:rPr lang="en-US" sz="2250" b="1" dirty="0">
                <a:solidFill>
                  <a:srgbClr val="F2ECE0"/>
                </a:solidFill>
                <a:latin typeface="Arial" pitchFamily="34" charset="0"/>
                <a:ea typeface="Arial" pitchFamily="34" charset="-122"/>
                <a:cs typeface="Arial" pitchFamily="34" charset="-120"/>
              </a:rPr>
              <a:t>Loaded on demand</a:t>
            </a:r>
            <a:endParaRPr lang="en-US" sz="2250" dirty="0"/>
          </a:p>
        </p:txBody>
      </p:sp>
      <p:sp>
        <p:nvSpPr>
          <p:cNvPr id="11" name="Text 9"/>
          <p:cNvSpPr/>
          <p:nvPr/>
        </p:nvSpPr>
        <p:spPr>
          <a:xfrm>
            <a:off x="9277350" y="5960120"/>
            <a:ext cx="6583013" cy="659606"/>
          </a:xfrm>
          <a:prstGeom prst="rect">
            <a:avLst/>
          </a:prstGeom>
          <a:noFill/>
          <a:ln/>
        </p:spPr>
        <p:txBody>
          <a:bodyPr wrap="square" lIns="25400" tIns="25400" rIns="25400" bIns="25400" rtlCol="0" anchor="t">
            <a:normAutofit/>
          </a:bodyPr>
          <a:lstStyle/>
          <a:p>
            <a:pPr algn="l" indent="0" marL="0">
              <a:lnSpc>
                <a:spcPct val="136000"/>
              </a:lnSpc>
              <a:buNone/>
            </a:pPr>
            <a:r>
              <a:rPr lang="en-US" sz="1800" dirty="0">
                <a:solidFill>
                  <a:srgbClr val="9C9584"/>
                </a:solidFill>
                <a:latin typeface="Arial" pitchFamily="34" charset="0"/>
                <a:ea typeface="Arial" pitchFamily="34" charset="-122"/>
                <a:cs typeface="Arial" pitchFamily="34" charset="-120"/>
              </a:rPr>
              <a:t>Only name + description at first. Full content loads when the task triggers it — HCL syntax, FinOps formulas.</a:t>
            </a:r>
            <a:endParaRPr lang="en-US" sz="1800" dirty="0"/>
          </a:p>
        </p:txBody>
      </p:sp>
      <p:sp>
        <p:nvSpPr>
          <p:cNvPr id="12" name="Text 10"/>
          <p:cNvSpPr/>
          <p:nvPr/>
        </p:nvSpPr>
        <p:spPr>
          <a:xfrm>
            <a:off x="1066800" y="7372201"/>
            <a:ext cx="10990799" cy="651272"/>
          </a:xfrm>
          <a:prstGeom prst="rect">
            <a:avLst/>
          </a:prstGeom>
          <a:noFill/>
          <a:ln/>
        </p:spPr>
        <p:txBody>
          <a:bodyPr wrap="square" lIns="25400" tIns="25400" rIns="25400" bIns="25400" rtlCol="0" anchor="t">
            <a:normAutofit/>
          </a:bodyPr>
          <a:lstStyle/>
          <a:p>
            <a:pPr algn="l" indent="0" marL="0">
              <a:lnSpc>
                <a:spcPct val="140000"/>
              </a:lnSpc>
              <a:buNone/>
            </a:pPr>
            <a:r>
              <a:rPr lang="en-US" sz="1725" dirty="0">
                <a:solidFill>
                  <a:srgbClr val="9C9584"/>
                </a:solidFill>
                <a:latin typeface="Arial" pitchFamily="34" charset="0"/>
                <a:ea typeface="Arial" pitchFamily="34" charset="-122"/>
                <a:cs typeface="Arial" pitchFamily="34" charset="-120"/>
              </a:rPr>
              <a:t>A dashboard session loads ~230 lines of steering + the powerpipe skill. A Terraform session swaps in the terraform skill instead. </a:t>
            </a:r>
            <a:pPr algn="l" indent="0" marL="0">
              <a:lnSpc>
                <a:spcPct val="140000"/>
              </a:lnSpc>
              <a:buNone/>
            </a:pPr>
            <a:r>
              <a:rPr lang="en-US" sz="1725" dirty="0">
                <a:solidFill>
                  <a:srgbClr val="F2ECE0"/>
                </a:solidFill>
                <a:latin typeface="Arial" pitchFamily="34" charset="0"/>
                <a:ea typeface="Arial" pitchFamily="34" charset="-122"/>
                <a:cs typeface="Arial" pitchFamily="34" charset="-120"/>
              </a:rPr>
              <a:t>Context budget spent on the current task.</a:t>
            </a:r>
            <a:endParaRPr lang="en-US" sz="1725" dirty="0"/>
          </a:p>
        </p:txBody>
      </p:sp>
      <p:sp>
        <p:nvSpPr>
          <p:cNvPr id="13" name="Text 11"/>
          <p:cNvSpPr/>
          <p:nvPr/>
        </p:nvSpPr>
        <p:spPr>
          <a:xfrm>
            <a:off x="16953309" y="9515475"/>
            <a:ext cx="344091" cy="276225"/>
          </a:xfrm>
          <a:prstGeom prst="rect">
            <a:avLst/>
          </a:prstGeom>
          <a:noFill/>
          <a:ln/>
        </p:spPr>
        <p:txBody>
          <a:bodyPr wrap="square" lIns="25400" tIns="25400" rIns="25400" bIns="25400" rtlCol="0" anchor="t">
            <a:normAutofit/>
          </a:bodyPr>
          <a:lstStyle/>
          <a:p>
            <a:pPr algn="l" indent="0" marL="0">
              <a:buNone/>
            </a:pPr>
            <a:r>
              <a:rPr lang="en-US" sz="1425" spc="200" kern="0" dirty="0">
                <a:solidFill>
                  <a:srgbClr val="9C9584"/>
                </a:solidFill>
                <a:latin typeface="Courier New" pitchFamily="34" charset="0"/>
                <a:ea typeface="Courier New" pitchFamily="34" charset="-122"/>
                <a:cs typeface="Courier New" pitchFamily="34" charset="-120"/>
              </a:rPr>
              <a:t>17</a:t>
            </a:r>
            <a:endParaRPr lang="en-US" sz="1425"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B1813"/>
        </a:solidFill>
      </p:bgPr>
    </p:bg>
    <p:spTree>
      <p:nvGrpSpPr>
        <p:cNvPr id="1" name=""/>
        <p:cNvGrpSpPr/>
        <p:nvPr/>
      </p:nvGrpSpPr>
      <p:grpSpPr>
        <a:xfrm>
          <a:off x="0" y="0"/>
          <a:ext cx="0" cy="0"/>
          <a:chOff x="0" y="0"/>
          <a:chExt cx="0" cy="0"/>
        </a:xfrm>
      </p:grpSpPr>
      <p:sp>
        <p:nvSpPr>
          <p:cNvPr id="2" name="Text 0"/>
          <p:cNvSpPr/>
          <p:nvPr/>
        </p:nvSpPr>
        <p:spPr>
          <a:xfrm>
            <a:off x="1066800" y="3410992"/>
            <a:ext cx="17769840" cy="276225"/>
          </a:xfrm>
          <a:prstGeom prst="rect">
            <a:avLst/>
          </a:prstGeom>
          <a:noFill/>
          <a:ln/>
        </p:spPr>
        <p:txBody>
          <a:bodyPr wrap="square" lIns="25400" tIns="25400" rIns="25400" bIns="25400" rtlCol="0" anchor="t">
            <a:normAutofit/>
          </a:bodyPr>
          <a:lstStyle/>
          <a:p>
            <a:pPr algn="l" indent="0" marL="0">
              <a:buNone/>
            </a:pPr>
            <a:r>
              <a:rPr lang="en-US" sz="1425" spc="342" kern="0" dirty="0">
                <a:solidFill>
                  <a:srgbClr val="C05F38"/>
                </a:solidFill>
                <a:latin typeface="Courier New" pitchFamily="34" charset="0"/>
                <a:ea typeface="Courier New" pitchFamily="34" charset="-122"/>
                <a:cs typeface="Courier New" pitchFamily="34" charset="-120"/>
              </a:rPr>
              <a:t>VII · WORKFLOW AUTOMATION</a:t>
            </a:r>
            <a:endParaRPr lang="en-US" sz="1425" dirty="0"/>
          </a:p>
        </p:txBody>
      </p:sp>
      <p:sp>
        <p:nvSpPr>
          <p:cNvPr id="3" name="Text 1"/>
          <p:cNvSpPr/>
          <p:nvPr/>
        </p:nvSpPr>
        <p:spPr>
          <a:xfrm>
            <a:off x="1066800" y="3992017"/>
            <a:ext cx="8730035" cy="1607641"/>
          </a:xfrm>
          <a:prstGeom prst="rect">
            <a:avLst/>
          </a:prstGeom>
          <a:noFill/>
          <a:ln/>
        </p:spPr>
        <p:txBody>
          <a:bodyPr wrap="square" lIns="25400" tIns="25400" rIns="25400" bIns="25400" rtlCol="0" anchor="t">
            <a:normAutofit/>
          </a:bodyPr>
          <a:lstStyle/>
          <a:p>
            <a:pPr algn="l" indent="0" marL="0">
              <a:lnSpc>
                <a:spcPct val="103000"/>
              </a:lnSpc>
              <a:buNone/>
            </a:pPr>
            <a:r>
              <a:rPr lang="en-US" sz="6000" b="1" spc="-120" kern="0" dirty="0">
                <a:solidFill>
                  <a:srgbClr val="F2ECE0"/>
                </a:solidFill>
                <a:latin typeface="Arial" pitchFamily="34" charset="0"/>
                <a:ea typeface="Arial" pitchFamily="34" charset="-122"/>
                <a:cs typeface="Arial" pitchFamily="34" charset="-120"/>
              </a:rPr>
              <a:t>From idea to a deployed dashboard.</a:t>
            </a:r>
            <a:endParaRPr lang="en-US" sz="6000" dirty="0"/>
          </a:p>
        </p:txBody>
      </p:sp>
      <p:sp>
        <p:nvSpPr>
          <p:cNvPr id="4" name="Text 2"/>
          <p:cNvSpPr/>
          <p:nvPr/>
        </p:nvSpPr>
        <p:spPr>
          <a:xfrm>
            <a:off x="1066800" y="5980658"/>
            <a:ext cx="13078343" cy="1028700"/>
          </a:xfrm>
          <a:prstGeom prst="rect">
            <a:avLst/>
          </a:prstGeom>
          <a:noFill/>
          <a:ln/>
        </p:spPr>
        <p:txBody>
          <a:bodyPr wrap="square" lIns="25400" tIns="25400" rIns="25400" bIns="25400" rtlCol="0" anchor="t">
            <a:normAutofit/>
          </a:bodyPr>
          <a:lstStyle/>
          <a:p>
            <a:pPr algn="l" indent="0" marL="0">
              <a:lnSpc>
                <a:spcPct val="130000"/>
              </a:lnSpc>
              <a:buNone/>
            </a:pPr>
            <a:r>
              <a:rPr lang="en-US" sz="1875" dirty="0">
                <a:solidFill>
                  <a:srgbClr val="C05F38"/>
                </a:solidFill>
                <a:latin typeface="Courier New" pitchFamily="34" charset="0"/>
                <a:ea typeface="Courier New" pitchFamily="34" charset="-122"/>
                <a:cs typeface="Courier New" pitchFamily="34" charset="-120"/>
              </a:rPr>
              <a:t>PROBLEM → </a:t>
            </a:r>
            <a:pPr algn="l" indent="0" marL="0">
              <a:lnSpc>
                <a:spcPct val="130000"/>
              </a:lnSpc>
              <a:buNone/>
            </a:pPr>
            <a:r>
              <a:rPr lang="en-US" sz="3000" dirty="0">
                <a:solidFill>
                  <a:srgbClr val="9C9584"/>
                </a:solidFill>
                <a:latin typeface="Arial" pitchFamily="34" charset="0"/>
                <a:ea typeface="Arial" pitchFamily="34" charset="-122"/>
                <a:cs typeface="Arial" pitchFamily="34" charset="-120"/>
              </a:rPr>
              <a:t>An 8-step lifecycle done by hand means forgotten tickets, wrong branch names, and skipped verification.</a:t>
            </a:r>
            <a:endParaRPr lang="en-US" sz="3000" dirty="0"/>
          </a:p>
        </p:txBody>
      </p:sp>
      <p:sp>
        <p:nvSpPr>
          <p:cNvPr id="5" name="Text 3"/>
          <p:cNvSpPr/>
          <p:nvPr/>
        </p:nvSpPr>
        <p:spPr>
          <a:xfrm>
            <a:off x="16953309" y="9515475"/>
            <a:ext cx="344091" cy="276225"/>
          </a:xfrm>
          <a:prstGeom prst="rect">
            <a:avLst/>
          </a:prstGeom>
          <a:noFill/>
          <a:ln/>
        </p:spPr>
        <p:txBody>
          <a:bodyPr wrap="square" lIns="25400" tIns="25400" rIns="25400" bIns="25400" rtlCol="0" anchor="t">
            <a:normAutofit/>
          </a:bodyPr>
          <a:lstStyle/>
          <a:p>
            <a:pPr algn="l" indent="0" marL="0">
              <a:buNone/>
            </a:pPr>
            <a:r>
              <a:rPr lang="en-US" sz="1425" spc="200" kern="0" dirty="0">
                <a:solidFill>
                  <a:srgbClr val="9C9584"/>
                </a:solidFill>
                <a:latin typeface="Courier New" pitchFamily="34" charset="0"/>
                <a:ea typeface="Courier New" pitchFamily="34" charset="-122"/>
                <a:cs typeface="Courier New" pitchFamily="34" charset="-120"/>
              </a:rPr>
              <a:t>18</a:t>
            </a:r>
            <a:endParaRPr lang="en-US" sz="1425"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2ECE0"/>
        </a:solidFill>
      </p:bgPr>
    </p:bg>
    <p:spTree>
      <p:nvGrpSpPr>
        <p:cNvPr id="1" name=""/>
        <p:cNvGrpSpPr/>
        <p:nvPr/>
      </p:nvGrpSpPr>
      <p:grpSpPr>
        <a:xfrm>
          <a:off x="0" y="0"/>
          <a:ext cx="0" cy="0"/>
          <a:chOff x="0" y="0"/>
          <a:chExt cx="0" cy="0"/>
        </a:xfrm>
      </p:grpSpPr>
      <p:sp>
        <p:nvSpPr>
          <p:cNvPr id="2" name="Text 0"/>
          <p:cNvSpPr/>
          <p:nvPr/>
        </p:nvSpPr>
        <p:spPr>
          <a:xfrm>
            <a:off x="1066800" y="3268861"/>
            <a:ext cx="17769840" cy="276225"/>
          </a:xfrm>
          <a:prstGeom prst="rect">
            <a:avLst/>
          </a:prstGeom>
          <a:noFill/>
          <a:ln/>
        </p:spPr>
        <p:txBody>
          <a:bodyPr wrap="square" lIns="25400" tIns="25400" rIns="25400" bIns="25400" rtlCol="0" anchor="t">
            <a:normAutofit/>
          </a:bodyPr>
          <a:lstStyle/>
          <a:p>
            <a:pPr algn="l" indent="0" marL="0">
              <a:buNone/>
            </a:pPr>
            <a:r>
              <a:rPr lang="en-US" sz="1425" spc="342" kern="0" dirty="0">
                <a:solidFill>
                  <a:srgbClr val="C05F38"/>
                </a:solidFill>
                <a:latin typeface="Courier New" pitchFamily="34" charset="0"/>
                <a:ea typeface="Courier New" pitchFamily="34" charset="-122"/>
                <a:cs typeface="Courier New" pitchFamily="34" charset="-120"/>
              </a:rPr>
              <a:t>VII · THE FIX · HUMAN GATES</a:t>
            </a:r>
            <a:endParaRPr lang="en-US" sz="1425" dirty="0"/>
          </a:p>
        </p:txBody>
      </p:sp>
      <p:sp>
        <p:nvSpPr>
          <p:cNvPr id="3" name="Text 1"/>
          <p:cNvSpPr/>
          <p:nvPr/>
        </p:nvSpPr>
        <p:spPr>
          <a:xfrm>
            <a:off x="1066800" y="3754636"/>
            <a:ext cx="9696271" cy="671959"/>
          </a:xfrm>
          <a:prstGeom prst="rect">
            <a:avLst/>
          </a:prstGeom>
          <a:noFill/>
          <a:ln/>
        </p:spPr>
        <p:txBody>
          <a:bodyPr wrap="square" lIns="25400" tIns="25400" rIns="25400" bIns="25400" rtlCol="0" anchor="t">
            <a:normAutofit/>
          </a:bodyPr>
          <a:lstStyle/>
          <a:p>
            <a:pPr algn="l" indent="0" marL="0">
              <a:lnSpc>
                <a:spcPct val="104000"/>
              </a:lnSpc>
              <a:buNone/>
            </a:pPr>
            <a:r>
              <a:rPr lang="en-US" sz="4800" b="1" spc="-72" kern="0" dirty="0">
                <a:solidFill>
                  <a:srgbClr val="1B1813"/>
                </a:solidFill>
                <a:latin typeface="Arial" pitchFamily="34" charset="0"/>
                <a:ea typeface="Arial" pitchFamily="34" charset="-122"/>
                <a:cs typeface="Arial" pitchFamily="34" charset="-120"/>
              </a:rPr>
              <a:t>Automated flow, human gates</a:t>
            </a:r>
            <a:endParaRPr lang="en-US" sz="4800" dirty="0"/>
          </a:p>
        </p:txBody>
      </p:sp>
      <p:sp>
        <p:nvSpPr>
          <p:cNvPr id="4" name="Text 2"/>
          <p:cNvSpPr/>
          <p:nvPr/>
        </p:nvSpPr>
        <p:spPr>
          <a:xfrm>
            <a:off x="1066800" y="4540895"/>
            <a:ext cx="17769840" cy="342900"/>
          </a:xfrm>
          <a:prstGeom prst="rect">
            <a:avLst/>
          </a:prstGeom>
          <a:noFill/>
          <a:ln/>
        </p:spPr>
        <p:txBody>
          <a:bodyPr wrap="square" lIns="25400" tIns="25400" rIns="25400" bIns="25400" rtlCol="0" anchor="t">
            <a:normAutofit/>
          </a:bodyPr>
          <a:lstStyle/>
          <a:p>
            <a:pPr algn="l" indent="0" marL="0">
              <a:buNone/>
            </a:pPr>
            <a:r>
              <a:rPr lang="en-US" sz="1575" dirty="0">
                <a:solidFill>
                  <a:srgbClr val="C05F38"/>
                </a:solidFill>
                <a:latin typeface="Courier New" pitchFamily="34" charset="0"/>
                <a:ea typeface="Courier New" pitchFamily="34" charset="-122"/>
                <a:cs typeface="Courier New" pitchFamily="34" charset="-120"/>
              </a:rPr>
              <a:t>@feature-workflow </a:t>
            </a:r>
            <a:pPr algn="l" indent="0" marL="0">
              <a:buNone/>
            </a:pPr>
            <a:r>
              <a:rPr lang="en-US" sz="1875" dirty="0">
                <a:solidFill>
                  <a:srgbClr val="6E6656"/>
                </a:solidFill>
                <a:latin typeface="Arial" pitchFamily="34" charset="0"/>
                <a:ea typeface="Arial" pitchFamily="34" charset="-122"/>
                <a:cs typeface="Arial" pitchFamily="34" charset="-120"/>
              </a:rPr>
              <a:t>orchestrates; every irreversible action pauses for approval.</a:t>
            </a:r>
            <a:endParaRPr lang="en-US" sz="1875" dirty="0"/>
          </a:p>
        </p:txBody>
      </p:sp>
      <p:sp>
        <p:nvSpPr>
          <p:cNvPr id="5" name="Shape 3"/>
          <p:cNvSpPr/>
          <p:nvPr/>
        </p:nvSpPr>
        <p:spPr>
          <a:xfrm>
            <a:off x="1066800" y="5302895"/>
            <a:ext cx="2155329" cy="19050"/>
          </a:xfrm>
          <a:prstGeom prst="rect">
            <a:avLst/>
          </a:prstGeom>
          <a:solidFill>
            <a:srgbClr val="7E9A66"/>
          </a:solidFill>
          <a:ln/>
        </p:spPr>
      </p:sp>
      <p:sp>
        <p:nvSpPr>
          <p:cNvPr id="6" name="Text 4"/>
          <p:cNvSpPr/>
          <p:nvPr/>
        </p:nvSpPr>
        <p:spPr>
          <a:xfrm>
            <a:off x="1066800" y="5512445"/>
            <a:ext cx="2231529" cy="257175"/>
          </a:xfrm>
          <a:prstGeom prst="rect">
            <a:avLst/>
          </a:prstGeom>
          <a:noFill/>
          <a:ln/>
        </p:spPr>
        <p:txBody>
          <a:bodyPr wrap="square" lIns="25400" tIns="25400" rIns="25400" bIns="25400" rtlCol="0" anchor="t">
            <a:normAutofit/>
          </a:bodyPr>
          <a:lstStyle/>
          <a:p>
            <a:pPr algn="l" indent="0" marL="0">
              <a:buNone/>
            </a:pPr>
            <a:r>
              <a:rPr lang="en-US" sz="1050" spc="84" kern="0" dirty="0">
                <a:solidFill>
                  <a:srgbClr val="7E9A66"/>
                </a:solidFill>
                <a:latin typeface="Courier New" pitchFamily="34" charset="0"/>
                <a:ea typeface="Courier New" pitchFamily="34" charset="-122"/>
                <a:cs typeface="Courier New" pitchFamily="34" charset="-120"/>
              </a:rPr>
              <a:t>🔒 PLAN</a:t>
            </a:r>
            <a:endParaRPr lang="en-US" sz="1050" dirty="0"/>
          </a:p>
        </p:txBody>
      </p:sp>
      <p:sp>
        <p:nvSpPr>
          <p:cNvPr id="7" name="Text 5"/>
          <p:cNvSpPr/>
          <p:nvPr/>
        </p:nvSpPr>
        <p:spPr>
          <a:xfrm>
            <a:off x="1066800" y="5845820"/>
            <a:ext cx="2370862" cy="273248"/>
          </a:xfrm>
          <a:prstGeom prst="rect">
            <a:avLst/>
          </a:prstGeom>
          <a:noFill/>
          <a:ln/>
        </p:spPr>
        <p:txBody>
          <a:bodyPr wrap="square" lIns="25400" tIns="25400" rIns="25400" bIns="25400" rtlCol="0" anchor="t">
            <a:normAutofit/>
          </a:bodyPr>
          <a:lstStyle/>
          <a:p>
            <a:pPr algn="l" indent="0" marL="0">
              <a:lnSpc>
                <a:spcPct val="130000"/>
              </a:lnSpc>
              <a:buNone/>
            </a:pPr>
            <a:r>
              <a:rPr lang="en-US" sz="1425" dirty="0">
                <a:solidFill>
                  <a:srgbClr val="1B1813"/>
                </a:solidFill>
                <a:latin typeface="Arial" pitchFamily="34" charset="0"/>
                <a:ea typeface="Arial" pitchFamily="34" charset="-122"/>
                <a:cs typeface="Arial" pitchFamily="34" charset="-120"/>
              </a:rPr>
              <a:t>Files + outcome</a:t>
            </a:r>
            <a:endParaRPr lang="en-US" sz="1425" dirty="0"/>
          </a:p>
        </p:txBody>
      </p:sp>
      <p:sp>
        <p:nvSpPr>
          <p:cNvPr id="8" name="Shape 6"/>
          <p:cNvSpPr/>
          <p:nvPr/>
        </p:nvSpPr>
        <p:spPr>
          <a:xfrm>
            <a:off x="3374529" y="5302895"/>
            <a:ext cx="2155329" cy="19050"/>
          </a:xfrm>
          <a:prstGeom prst="rect">
            <a:avLst/>
          </a:prstGeom>
          <a:solidFill>
            <a:srgbClr val="1B1813">
              <a:alpha val="13000"/>
            </a:srgbClr>
          </a:solidFill>
          <a:ln/>
        </p:spPr>
      </p:sp>
      <p:sp>
        <p:nvSpPr>
          <p:cNvPr id="9" name="Text 7"/>
          <p:cNvSpPr/>
          <p:nvPr/>
        </p:nvSpPr>
        <p:spPr>
          <a:xfrm>
            <a:off x="3374529" y="5512445"/>
            <a:ext cx="2231529" cy="257175"/>
          </a:xfrm>
          <a:prstGeom prst="rect">
            <a:avLst/>
          </a:prstGeom>
          <a:noFill/>
          <a:ln/>
        </p:spPr>
        <p:txBody>
          <a:bodyPr wrap="square" lIns="25400" tIns="25400" rIns="25400" bIns="25400" rtlCol="0" anchor="t">
            <a:normAutofit/>
          </a:bodyPr>
          <a:lstStyle/>
          <a:p>
            <a:pPr algn="l" indent="0" marL="0">
              <a:buNone/>
            </a:pPr>
            <a:r>
              <a:rPr lang="en-US" sz="1050" spc="84" kern="0" dirty="0">
                <a:solidFill>
                  <a:srgbClr val="C05F38"/>
                </a:solidFill>
                <a:latin typeface="Courier New" pitchFamily="34" charset="0"/>
                <a:ea typeface="Courier New" pitchFamily="34" charset="-122"/>
                <a:cs typeface="Courier New" pitchFamily="34" charset="-120"/>
              </a:rPr>
              <a:t>🔒 JIRA</a:t>
            </a:r>
            <a:endParaRPr lang="en-US" sz="1050" dirty="0"/>
          </a:p>
        </p:txBody>
      </p:sp>
      <p:sp>
        <p:nvSpPr>
          <p:cNvPr id="10" name="Text 8"/>
          <p:cNvSpPr/>
          <p:nvPr/>
        </p:nvSpPr>
        <p:spPr>
          <a:xfrm>
            <a:off x="3374529" y="5845820"/>
            <a:ext cx="2370862" cy="273248"/>
          </a:xfrm>
          <a:prstGeom prst="rect">
            <a:avLst/>
          </a:prstGeom>
          <a:noFill/>
          <a:ln/>
        </p:spPr>
        <p:txBody>
          <a:bodyPr wrap="square" lIns="25400" tIns="25400" rIns="25400" bIns="25400" rtlCol="0" anchor="t">
            <a:normAutofit/>
          </a:bodyPr>
          <a:lstStyle/>
          <a:p>
            <a:pPr algn="l" indent="0" marL="0">
              <a:lnSpc>
                <a:spcPct val="130000"/>
              </a:lnSpc>
              <a:buNone/>
            </a:pPr>
            <a:r>
              <a:rPr lang="en-US" sz="1425" dirty="0">
                <a:solidFill>
                  <a:srgbClr val="1B1813"/>
                </a:solidFill>
                <a:latin typeface="Arial" pitchFamily="34" charset="0"/>
                <a:ea typeface="Arial" pitchFamily="34" charset="-122"/>
                <a:cs typeface="Arial" pitchFamily="34" charset="-120"/>
              </a:rPr>
              <a:t>Ticket fields</a:t>
            </a:r>
            <a:endParaRPr lang="en-US" sz="1425" dirty="0"/>
          </a:p>
        </p:txBody>
      </p:sp>
      <p:sp>
        <p:nvSpPr>
          <p:cNvPr id="11" name="Shape 9"/>
          <p:cNvSpPr/>
          <p:nvPr/>
        </p:nvSpPr>
        <p:spPr>
          <a:xfrm>
            <a:off x="5682258" y="5302895"/>
            <a:ext cx="2155329" cy="19050"/>
          </a:xfrm>
          <a:prstGeom prst="rect">
            <a:avLst/>
          </a:prstGeom>
          <a:solidFill>
            <a:srgbClr val="1B1813">
              <a:alpha val="13000"/>
            </a:srgbClr>
          </a:solidFill>
          <a:ln/>
        </p:spPr>
      </p:sp>
      <p:sp>
        <p:nvSpPr>
          <p:cNvPr id="12" name="Text 10"/>
          <p:cNvSpPr/>
          <p:nvPr/>
        </p:nvSpPr>
        <p:spPr>
          <a:xfrm>
            <a:off x="5682258" y="5512445"/>
            <a:ext cx="2231529" cy="257175"/>
          </a:xfrm>
          <a:prstGeom prst="rect">
            <a:avLst/>
          </a:prstGeom>
          <a:noFill/>
          <a:ln/>
        </p:spPr>
        <p:txBody>
          <a:bodyPr wrap="square" lIns="25400" tIns="25400" rIns="25400" bIns="25400" rtlCol="0" anchor="t">
            <a:normAutofit/>
          </a:bodyPr>
          <a:lstStyle/>
          <a:p>
            <a:pPr algn="l" indent="0" marL="0">
              <a:buNone/>
            </a:pPr>
            <a:r>
              <a:rPr lang="en-US" sz="1050" spc="84" kern="0" dirty="0">
                <a:solidFill>
                  <a:srgbClr val="C05F38"/>
                </a:solidFill>
                <a:latin typeface="Courier New" pitchFamily="34" charset="0"/>
                <a:ea typeface="Courier New" pitchFamily="34" charset="-122"/>
                <a:cs typeface="Courier New" pitchFamily="34" charset="-120"/>
              </a:rPr>
              <a:t>🔒 BRANCH</a:t>
            </a:r>
            <a:endParaRPr lang="en-US" sz="1050" dirty="0"/>
          </a:p>
        </p:txBody>
      </p:sp>
      <p:sp>
        <p:nvSpPr>
          <p:cNvPr id="13" name="Text 11"/>
          <p:cNvSpPr/>
          <p:nvPr/>
        </p:nvSpPr>
        <p:spPr>
          <a:xfrm>
            <a:off x="5682258" y="5845820"/>
            <a:ext cx="2370862" cy="273248"/>
          </a:xfrm>
          <a:prstGeom prst="rect">
            <a:avLst/>
          </a:prstGeom>
          <a:noFill/>
          <a:ln/>
        </p:spPr>
        <p:txBody>
          <a:bodyPr wrap="square" lIns="25400" tIns="25400" rIns="25400" bIns="25400" rtlCol="0" anchor="t">
            <a:normAutofit/>
          </a:bodyPr>
          <a:lstStyle/>
          <a:p>
            <a:pPr algn="l" indent="0" marL="0">
              <a:lnSpc>
                <a:spcPct val="130000"/>
              </a:lnSpc>
              <a:buNone/>
            </a:pPr>
            <a:r>
              <a:rPr lang="en-US" sz="1425" dirty="0">
                <a:solidFill>
                  <a:srgbClr val="1B1813"/>
                </a:solidFill>
                <a:latin typeface="Arial" pitchFamily="34" charset="0"/>
                <a:ea typeface="Arial" pitchFamily="34" charset="-122"/>
                <a:cs typeface="Arial" pitchFamily="34" charset="-120"/>
              </a:rPr>
              <a:t>Branch name</a:t>
            </a:r>
            <a:endParaRPr lang="en-US" sz="1425" dirty="0"/>
          </a:p>
        </p:txBody>
      </p:sp>
      <p:sp>
        <p:nvSpPr>
          <p:cNvPr id="14" name="Shape 12"/>
          <p:cNvSpPr/>
          <p:nvPr/>
        </p:nvSpPr>
        <p:spPr>
          <a:xfrm>
            <a:off x="7989987" y="5302895"/>
            <a:ext cx="2155478" cy="19050"/>
          </a:xfrm>
          <a:prstGeom prst="rect">
            <a:avLst/>
          </a:prstGeom>
          <a:solidFill>
            <a:srgbClr val="1B1813">
              <a:alpha val="13000"/>
            </a:srgbClr>
          </a:solidFill>
          <a:ln/>
        </p:spPr>
      </p:sp>
      <p:sp>
        <p:nvSpPr>
          <p:cNvPr id="15" name="Text 13"/>
          <p:cNvSpPr/>
          <p:nvPr/>
        </p:nvSpPr>
        <p:spPr>
          <a:xfrm>
            <a:off x="7989987" y="5512445"/>
            <a:ext cx="2231678" cy="257175"/>
          </a:xfrm>
          <a:prstGeom prst="rect">
            <a:avLst/>
          </a:prstGeom>
          <a:noFill/>
          <a:ln/>
        </p:spPr>
        <p:txBody>
          <a:bodyPr wrap="square" lIns="25400" tIns="25400" rIns="25400" bIns="25400" rtlCol="0" anchor="t">
            <a:normAutofit/>
          </a:bodyPr>
          <a:lstStyle/>
          <a:p>
            <a:pPr algn="l" indent="0" marL="0">
              <a:buNone/>
            </a:pPr>
            <a:r>
              <a:rPr lang="en-US" sz="1050" spc="84" kern="0" dirty="0">
                <a:solidFill>
                  <a:srgbClr val="C05F38"/>
                </a:solidFill>
                <a:latin typeface="Courier New" pitchFamily="34" charset="0"/>
                <a:ea typeface="Courier New" pitchFamily="34" charset="-122"/>
                <a:cs typeface="Courier New" pitchFamily="34" charset="-120"/>
              </a:rPr>
              <a:t>🔒 DIFF</a:t>
            </a:r>
            <a:endParaRPr lang="en-US" sz="1050" dirty="0"/>
          </a:p>
        </p:txBody>
      </p:sp>
      <p:sp>
        <p:nvSpPr>
          <p:cNvPr id="16" name="Text 14"/>
          <p:cNvSpPr/>
          <p:nvPr/>
        </p:nvSpPr>
        <p:spPr>
          <a:xfrm>
            <a:off x="7989987" y="5845820"/>
            <a:ext cx="2371026" cy="273248"/>
          </a:xfrm>
          <a:prstGeom prst="rect">
            <a:avLst/>
          </a:prstGeom>
          <a:noFill/>
          <a:ln/>
        </p:spPr>
        <p:txBody>
          <a:bodyPr wrap="square" lIns="25400" tIns="25400" rIns="25400" bIns="25400" rtlCol="0" anchor="t">
            <a:normAutofit/>
          </a:bodyPr>
          <a:lstStyle/>
          <a:p>
            <a:pPr algn="l" indent="0" marL="0">
              <a:lnSpc>
                <a:spcPct val="130000"/>
              </a:lnSpc>
              <a:buNone/>
            </a:pPr>
            <a:r>
              <a:rPr lang="en-US" sz="1425" dirty="0">
                <a:solidFill>
                  <a:srgbClr val="1B1813"/>
                </a:solidFill>
                <a:latin typeface="Arial" pitchFamily="34" charset="0"/>
                <a:ea typeface="Arial" pitchFamily="34" charset="-122"/>
                <a:cs typeface="Arial" pitchFamily="34" charset="-120"/>
              </a:rPr>
              <a:t>git diff summary</a:t>
            </a:r>
            <a:endParaRPr lang="en-US" sz="1425" dirty="0"/>
          </a:p>
        </p:txBody>
      </p:sp>
      <p:sp>
        <p:nvSpPr>
          <p:cNvPr id="17" name="Shape 15"/>
          <p:cNvSpPr/>
          <p:nvPr/>
        </p:nvSpPr>
        <p:spPr>
          <a:xfrm>
            <a:off x="10297864" y="5302895"/>
            <a:ext cx="2155329" cy="19050"/>
          </a:xfrm>
          <a:prstGeom prst="rect">
            <a:avLst/>
          </a:prstGeom>
          <a:solidFill>
            <a:srgbClr val="1B1813">
              <a:alpha val="13000"/>
            </a:srgbClr>
          </a:solidFill>
          <a:ln/>
        </p:spPr>
      </p:sp>
      <p:sp>
        <p:nvSpPr>
          <p:cNvPr id="18" name="Text 16"/>
          <p:cNvSpPr/>
          <p:nvPr/>
        </p:nvSpPr>
        <p:spPr>
          <a:xfrm>
            <a:off x="10297864" y="5512445"/>
            <a:ext cx="2231529" cy="257175"/>
          </a:xfrm>
          <a:prstGeom prst="rect">
            <a:avLst/>
          </a:prstGeom>
          <a:noFill/>
          <a:ln/>
        </p:spPr>
        <p:txBody>
          <a:bodyPr wrap="square" lIns="25400" tIns="25400" rIns="25400" bIns="25400" rtlCol="0" anchor="t">
            <a:normAutofit/>
          </a:bodyPr>
          <a:lstStyle/>
          <a:p>
            <a:pPr algn="l" indent="0" marL="0">
              <a:buNone/>
            </a:pPr>
            <a:r>
              <a:rPr lang="en-US" sz="1050" spc="84" kern="0" dirty="0">
                <a:solidFill>
                  <a:srgbClr val="C05F38"/>
                </a:solidFill>
                <a:latin typeface="Courier New" pitchFamily="34" charset="0"/>
                <a:ea typeface="Courier New" pitchFamily="34" charset="-122"/>
                <a:cs typeface="Courier New" pitchFamily="34" charset="-120"/>
              </a:rPr>
              <a:t>🔒 REVIEW</a:t>
            </a:r>
            <a:endParaRPr lang="en-US" sz="1050" dirty="0"/>
          </a:p>
        </p:txBody>
      </p:sp>
      <p:sp>
        <p:nvSpPr>
          <p:cNvPr id="19" name="Text 17"/>
          <p:cNvSpPr/>
          <p:nvPr/>
        </p:nvSpPr>
        <p:spPr>
          <a:xfrm>
            <a:off x="10297864" y="5845820"/>
            <a:ext cx="2370862" cy="273248"/>
          </a:xfrm>
          <a:prstGeom prst="rect">
            <a:avLst/>
          </a:prstGeom>
          <a:noFill/>
          <a:ln/>
        </p:spPr>
        <p:txBody>
          <a:bodyPr wrap="square" lIns="25400" tIns="25400" rIns="25400" bIns="25400" rtlCol="0" anchor="t">
            <a:normAutofit/>
          </a:bodyPr>
          <a:lstStyle/>
          <a:p>
            <a:pPr algn="l" indent="0" marL="0">
              <a:lnSpc>
                <a:spcPct val="130000"/>
              </a:lnSpc>
              <a:buNone/>
            </a:pPr>
            <a:r>
              <a:rPr lang="en-US" sz="1425" dirty="0">
                <a:solidFill>
                  <a:srgbClr val="1B1813"/>
                </a:solidFill>
                <a:latin typeface="Arial" pitchFamily="34" charset="0"/>
                <a:ea typeface="Arial" pitchFamily="34" charset="-122"/>
                <a:cs typeface="Arial" pitchFamily="34" charset="-120"/>
              </a:rPr>
              <a:t>code-reviewer</a:t>
            </a:r>
            <a:endParaRPr lang="en-US" sz="1425" dirty="0"/>
          </a:p>
        </p:txBody>
      </p:sp>
      <p:sp>
        <p:nvSpPr>
          <p:cNvPr id="20" name="Shape 18"/>
          <p:cNvSpPr/>
          <p:nvPr/>
        </p:nvSpPr>
        <p:spPr>
          <a:xfrm>
            <a:off x="12605593" y="5302895"/>
            <a:ext cx="2155329" cy="19050"/>
          </a:xfrm>
          <a:prstGeom prst="rect">
            <a:avLst/>
          </a:prstGeom>
          <a:solidFill>
            <a:srgbClr val="1B1813">
              <a:alpha val="13000"/>
            </a:srgbClr>
          </a:solidFill>
          <a:ln/>
        </p:spPr>
      </p:sp>
      <p:sp>
        <p:nvSpPr>
          <p:cNvPr id="21" name="Text 19"/>
          <p:cNvSpPr/>
          <p:nvPr/>
        </p:nvSpPr>
        <p:spPr>
          <a:xfrm>
            <a:off x="12605593" y="5512445"/>
            <a:ext cx="2231529" cy="257175"/>
          </a:xfrm>
          <a:prstGeom prst="rect">
            <a:avLst/>
          </a:prstGeom>
          <a:noFill/>
          <a:ln/>
        </p:spPr>
        <p:txBody>
          <a:bodyPr wrap="square" lIns="25400" tIns="25400" rIns="25400" bIns="25400" rtlCol="0" anchor="t">
            <a:normAutofit/>
          </a:bodyPr>
          <a:lstStyle/>
          <a:p>
            <a:pPr algn="l" indent="0" marL="0">
              <a:buNone/>
            </a:pPr>
            <a:r>
              <a:rPr lang="en-US" sz="1050" spc="84" kern="0" dirty="0">
                <a:solidFill>
                  <a:srgbClr val="C05F38"/>
                </a:solidFill>
                <a:latin typeface="Courier New" pitchFamily="34" charset="0"/>
                <a:ea typeface="Courier New" pitchFamily="34" charset="-122"/>
                <a:cs typeface="Courier New" pitchFamily="34" charset="-120"/>
              </a:rPr>
              <a:t>🔒 PUSH</a:t>
            </a:r>
            <a:endParaRPr lang="en-US" sz="1050" dirty="0"/>
          </a:p>
        </p:txBody>
      </p:sp>
      <p:sp>
        <p:nvSpPr>
          <p:cNvPr id="22" name="Text 20"/>
          <p:cNvSpPr/>
          <p:nvPr/>
        </p:nvSpPr>
        <p:spPr>
          <a:xfrm>
            <a:off x="12605593" y="5845820"/>
            <a:ext cx="2370862" cy="273248"/>
          </a:xfrm>
          <a:prstGeom prst="rect">
            <a:avLst/>
          </a:prstGeom>
          <a:noFill/>
          <a:ln/>
        </p:spPr>
        <p:txBody>
          <a:bodyPr wrap="square" lIns="25400" tIns="25400" rIns="25400" bIns="25400" rtlCol="0" anchor="t">
            <a:normAutofit/>
          </a:bodyPr>
          <a:lstStyle/>
          <a:p>
            <a:pPr algn="l" indent="0" marL="0">
              <a:lnSpc>
                <a:spcPct val="130000"/>
              </a:lnSpc>
              <a:buNone/>
            </a:pPr>
            <a:r>
              <a:rPr lang="en-US" sz="1425" dirty="0">
                <a:solidFill>
                  <a:srgbClr val="1B1813"/>
                </a:solidFill>
                <a:latin typeface="Arial" pitchFamily="34" charset="0"/>
                <a:ea typeface="Arial" pitchFamily="34" charset="-122"/>
                <a:cs typeface="Arial" pitchFamily="34" charset="-120"/>
              </a:rPr>
              <a:t>Commit + files</a:t>
            </a:r>
            <a:endParaRPr lang="en-US" sz="1425" dirty="0"/>
          </a:p>
        </p:txBody>
      </p:sp>
      <p:sp>
        <p:nvSpPr>
          <p:cNvPr id="23" name="Shape 21"/>
          <p:cNvSpPr/>
          <p:nvPr/>
        </p:nvSpPr>
        <p:spPr>
          <a:xfrm>
            <a:off x="14913322" y="5302895"/>
            <a:ext cx="2155478" cy="19050"/>
          </a:xfrm>
          <a:prstGeom prst="rect">
            <a:avLst/>
          </a:prstGeom>
          <a:solidFill>
            <a:srgbClr val="1B1813">
              <a:alpha val="13000"/>
            </a:srgbClr>
          </a:solidFill>
          <a:ln/>
        </p:spPr>
      </p:sp>
      <p:sp>
        <p:nvSpPr>
          <p:cNvPr id="24" name="Text 22"/>
          <p:cNvSpPr/>
          <p:nvPr/>
        </p:nvSpPr>
        <p:spPr>
          <a:xfrm>
            <a:off x="14913322" y="5512445"/>
            <a:ext cx="2231678" cy="257175"/>
          </a:xfrm>
          <a:prstGeom prst="rect">
            <a:avLst/>
          </a:prstGeom>
          <a:noFill/>
          <a:ln/>
        </p:spPr>
        <p:txBody>
          <a:bodyPr wrap="square" lIns="25400" tIns="25400" rIns="25400" bIns="25400" rtlCol="0" anchor="t">
            <a:normAutofit/>
          </a:bodyPr>
          <a:lstStyle/>
          <a:p>
            <a:pPr algn="l" indent="0" marL="0">
              <a:buNone/>
            </a:pPr>
            <a:r>
              <a:rPr lang="en-US" sz="1050" spc="84" kern="0" dirty="0">
                <a:solidFill>
                  <a:srgbClr val="C05F38"/>
                </a:solidFill>
                <a:latin typeface="Courier New" pitchFamily="34" charset="0"/>
                <a:ea typeface="Courier New" pitchFamily="34" charset="-122"/>
                <a:cs typeface="Courier New" pitchFamily="34" charset="-120"/>
              </a:rPr>
              <a:t>🔒 MR</a:t>
            </a:r>
            <a:endParaRPr lang="en-US" sz="1050" dirty="0"/>
          </a:p>
        </p:txBody>
      </p:sp>
      <p:sp>
        <p:nvSpPr>
          <p:cNvPr id="25" name="Text 23"/>
          <p:cNvSpPr/>
          <p:nvPr/>
        </p:nvSpPr>
        <p:spPr>
          <a:xfrm>
            <a:off x="14913322" y="5845820"/>
            <a:ext cx="2371026" cy="273248"/>
          </a:xfrm>
          <a:prstGeom prst="rect">
            <a:avLst/>
          </a:prstGeom>
          <a:noFill/>
          <a:ln/>
        </p:spPr>
        <p:txBody>
          <a:bodyPr wrap="square" lIns="25400" tIns="25400" rIns="25400" bIns="25400" rtlCol="0" anchor="t">
            <a:normAutofit/>
          </a:bodyPr>
          <a:lstStyle/>
          <a:p>
            <a:pPr algn="l" indent="0" marL="0">
              <a:lnSpc>
                <a:spcPct val="130000"/>
              </a:lnSpc>
              <a:buNone/>
            </a:pPr>
            <a:r>
              <a:rPr lang="en-US" sz="1425" dirty="0">
                <a:solidFill>
                  <a:srgbClr val="1B1813"/>
                </a:solidFill>
                <a:latin typeface="Arial" pitchFamily="34" charset="0"/>
                <a:ea typeface="Arial" pitchFamily="34" charset="-122"/>
                <a:cs typeface="Arial" pitchFamily="34" charset="-120"/>
              </a:rPr>
              <a:t>Title + desc</a:t>
            </a:r>
            <a:endParaRPr lang="en-US" sz="1425" dirty="0"/>
          </a:p>
        </p:txBody>
      </p:sp>
      <p:sp>
        <p:nvSpPr>
          <p:cNvPr id="26" name="Text 24"/>
          <p:cNvSpPr/>
          <p:nvPr/>
        </p:nvSpPr>
        <p:spPr>
          <a:xfrm>
            <a:off x="1066800" y="6500068"/>
            <a:ext cx="10990799" cy="651272"/>
          </a:xfrm>
          <a:prstGeom prst="rect">
            <a:avLst/>
          </a:prstGeom>
          <a:noFill/>
          <a:ln/>
        </p:spPr>
        <p:txBody>
          <a:bodyPr wrap="square" lIns="25400" tIns="25400" rIns="25400" bIns="25400" rtlCol="0" anchor="t">
            <a:normAutofit/>
          </a:bodyPr>
          <a:lstStyle/>
          <a:p>
            <a:pPr algn="l" indent="0" marL="0">
              <a:lnSpc>
                <a:spcPct val="140000"/>
              </a:lnSpc>
              <a:buNone/>
            </a:pPr>
            <a:r>
              <a:rPr lang="en-US" sz="1725" dirty="0">
                <a:solidFill>
                  <a:srgbClr val="1B1813"/>
                </a:solidFill>
                <a:latin typeface="Arial" pitchFamily="34" charset="0"/>
                <a:ea typeface="Arial" pitchFamily="34" charset="-122"/>
                <a:cs typeface="Arial" pitchFamily="34" charset="-120"/>
              </a:rPr>
              <a:t>Consistent execution every time. No forgotten Jira, verification, or review — and the hooks still catch the three most dangerous mistakes underneath.</a:t>
            </a:r>
            <a:endParaRPr lang="en-US" sz="1725" dirty="0"/>
          </a:p>
        </p:txBody>
      </p:sp>
      <p:sp>
        <p:nvSpPr>
          <p:cNvPr id="27" name="Text 25"/>
          <p:cNvSpPr/>
          <p:nvPr/>
        </p:nvSpPr>
        <p:spPr>
          <a:xfrm>
            <a:off x="16953309" y="9515475"/>
            <a:ext cx="344091" cy="276225"/>
          </a:xfrm>
          <a:prstGeom prst="rect">
            <a:avLst/>
          </a:prstGeom>
          <a:noFill/>
          <a:ln/>
        </p:spPr>
        <p:txBody>
          <a:bodyPr wrap="square" lIns="25400" tIns="25400" rIns="25400" bIns="25400" rtlCol="0" anchor="t">
            <a:normAutofit/>
          </a:bodyPr>
          <a:lstStyle/>
          <a:p>
            <a:pPr algn="l" indent="0" marL="0">
              <a:buNone/>
            </a:pPr>
            <a:r>
              <a:rPr lang="en-US" sz="1425" spc="200" kern="0" dirty="0">
                <a:solidFill>
                  <a:srgbClr val="6E6656"/>
                </a:solidFill>
                <a:latin typeface="Courier New" pitchFamily="34" charset="0"/>
                <a:ea typeface="Courier New" pitchFamily="34" charset="-122"/>
                <a:cs typeface="Courier New" pitchFamily="34" charset="-120"/>
              </a:rPr>
              <a:t>19</a:t>
            </a:r>
            <a:endParaRPr lang="en-US" sz="1425"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B1813"/>
        </a:solidFill>
      </p:bgPr>
    </p:bg>
    <p:spTree>
      <p:nvGrpSpPr>
        <p:cNvPr id="1" name=""/>
        <p:cNvGrpSpPr/>
        <p:nvPr/>
      </p:nvGrpSpPr>
      <p:grpSpPr>
        <a:xfrm>
          <a:off x="0" y="0"/>
          <a:ext cx="0" cy="0"/>
          <a:chOff x="0" y="0"/>
          <a:chExt cx="0" cy="0"/>
        </a:xfrm>
      </p:grpSpPr>
      <p:sp>
        <p:nvSpPr>
          <p:cNvPr id="2" name="Text 0"/>
          <p:cNvSpPr/>
          <p:nvPr/>
        </p:nvSpPr>
        <p:spPr>
          <a:xfrm>
            <a:off x="1066800" y="3454450"/>
            <a:ext cx="10351770" cy="276225"/>
          </a:xfrm>
          <a:prstGeom prst="rect">
            <a:avLst/>
          </a:prstGeom>
          <a:noFill/>
          <a:ln/>
        </p:spPr>
        <p:txBody>
          <a:bodyPr wrap="square" lIns="25400" tIns="25400" rIns="25400" bIns="25400" rtlCol="0" anchor="t">
            <a:normAutofit/>
          </a:bodyPr>
          <a:lstStyle/>
          <a:p>
            <a:pPr algn="l" indent="0" marL="0">
              <a:buNone/>
            </a:pPr>
            <a:r>
              <a:rPr lang="en-US" sz="1425" spc="342" kern="0" dirty="0">
                <a:solidFill>
                  <a:srgbClr val="C05F38"/>
                </a:solidFill>
                <a:latin typeface="Courier New" pitchFamily="34" charset="0"/>
                <a:ea typeface="Courier New" pitchFamily="34" charset="-122"/>
                <a:cs typeface="Courier New" pitchFamily="34" charset="-120"/>
              </a:rPr>
              <a:t>VII · AFTER MERGE</a:t>
            </a:r>
            <a:endParaRPr lang="en-US" sz="1425" dirty="0"/>
          </a:p>
        </p:txBody>
      </p:sp>
      <p:sp>
        <p:nvSpPr>
          <p:cNvPr id="3" name="Text 1"/>
          <p:cNvSpPr/>
          <p:nvPr/>
        </p:nvSpPr>
        <p:spPr>
          <a:xfrm>
            <a:off x="1066800" y="3940225"/>
            <a:ext cx="4976043" cy="1514773"/>
          </a:xfrm>
          <a:prstGeom prst="rect">
            <a:avLst/>
          </a:prstGeom>
          <a:noFill/>
          <a:ln/>
        </p:spPr>
        <p:txBody>
          <a:bodyPr wrap="square" lIns="25400" tIns="25400" rIns="25400" bIns="25400" rtlCol="0" anchor="t">
            <a:normAutofit/>
          </a:bodyPr>
          <a:lstStyle/>
          <a:p>
            <a:pPr algn="l" indent="0" marL="0">
              <a:lnSpc>
                <a:spcPct val="102000"/>
              </a:lnSpc>
              <a:buNone/>
            </a:pPr>
            <a:r>
              <a:rPr lang="en-US" sz="5700" b="1" spc="-114" kern="0" dirty="0">
                <a:solidFill>
                  <a:srgbClr val="F2ECE0"/>
                </a:solidFill>
                <a:latin typeface="Arial" pitchFamily="34" charset="0"/>
                <a:ea typeface="Arial" pitchFamily="34" charset="-122"/>
                <a:cs typeface="Arial" pitchFamily="34" charset="-120"/>
              </a:rPr>
              <a:t>Merge = deploy.</a:t>
            </a:r>
            <a:endParaRPr lang="en-US" sz="5700" dirty="0"/>
          </a:p>
        </p:txBody>
      </p:sp>
      <p:sp>
        <p:nvSpPr>
          <p:cNvPr id="4" name="Text 2"/>
          <p:cNvSpPr/>
          <p:nvPr/>
        </p:nvSpPr>
        <p:spPr>
          <a:xfrm>
            <a:off x="1066800" y="5702647"/>
            <a:ext cx="6036064" cy="1263253"/>
          </a:xfrm>
          <a:prstGeom prst="rect">
            <a:avLst/>
          </a:prstGeom>
          <a:noFill/>
          <a:ln/>
        </p:spPr>
        <p:txBody>
          <a:bodyPr wrap="square" lIns="25400" tIns="25400" rIns="25400" bIns="25400" rtlCol="0" anchor="t">
            <a:normAutofit/>
          </a:bodyPr>
          <a:lstStyle/>
          <a:p>
            <a:pPr algn="l" indent="0" marL="0">
              <a:lnSpc>
                <a:spcPct val="134000"/>
              </a:lnSpc>
              <a:buNone/>
            </a:pPr>
            <a:r>
              <a:rPr lang="en-US" sz="2400" dirty="0">
                <a:solidFill>
                  <a:srgbClr val="9C9584"/>
                </a:solidFill>
                <a:latin typeface="Arial" pitchFamily="34" charset="0"/>
                <a:ea typeface="Arial" pitchFamily="34" charset="-122"/>
                <a:cs typeface="Arial" pitchFamily="34" charset="-120"/>
              </a:rPr>
              <a:t>The pipeline handles it end to end. Zero manual </a:t>
            </a:r>
            <a:pPr algn="l" indent="0" marL="0">
              <a:lnSpc>
                <a:spcPct val="134000"/>
              </a:lnSpc>
              <a:buNone/>
            </a:pPr>
            <a:r>
              <a:rPr lang="en-US" sz="1800" dirty="0">
                <a:solidFill>
                  <a:srgbClr val="9C9584"/>
                </a:solidFill>
                <a:latin typeface="Courier New" pitchFamily="34" charset="0"/>
                <a:ea typeface="Courier New" pitchFamily="34" charset="-122"/>
                <a:cs typeface="Courier New" pitchFamily="34" charset="-120"/>
              </a:rPr>
              <a:t>kubectl </a:t>
            </a:r>
            <a:pPr algn="l" indent="0" marL="0">
              <a:lnSpc>
                <a:spcPct val="134000"/>
              </a:lnSpc>
              <a:buNone/>
            </a:pPr>
            <a:r>
              <a:rPr lang="en-US" sz="2400" dirty="0">
                <a:solidFill>
                  <a:srgbClr val="9C9584"/>
                </a:solidFill>
                <a:latin typeface="Arial" pitchFamily="34" charset="0"/>
                <a:ea typeface="Arial" pitchFamily="34" charset="-122"/>
                <a:cs typeface="Arial" pitchFamily="34" charset="-120"/>
              </a:rPr>
              <a:t>— the dashboard is live in minutes.</a:t>
            </a:r>
            <a:endParaRPr lang="en-US" sz="2400" dirty="0"/>
          </a:p>
        </p:txBody>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296650" y="1047750"/>
            <a:ext cx="1143000" cy="5524500"/>
          </a:xfrm>
          <a:prstGeom prst="rect">
            <a:avLst/>
          </a:prstGeom>
        </p:spPr>
      </p:pic>
      <p:sp>
        <p:nvSpPr>
          <p:cNvPr id="6" name="Shape 3"/>
          <p:cNvSpPr/>
          <p:nvPr/>
        </p:nvSpPr>
        <p:spPr>
          <a:xfrm>
            <a:off x="12268200" y="2809875"/>
            <a:ext cx="4286250" cy="628650"/>
          </a:xfrm>
          <a:prstGeom prst="roundRect">
            <a:avLst>
              <a:gd name="adj" fmla="val 12121"/>
            </a:avLst>
          </a:prstGeom>
          <a:solidFill>
            <a:srgbClr val="232019"/>
          </a:solidFill>
          <a:ln w="19050">
            <a:solidFill>
              <a:srgbClr val="C05F38"/>
            </a:solidFill>
            <a:prstDash val="solid"/>
          </a:ln>
        </p:spPr>
      </p:sp>
      <p:sp>
        <p:nvSpPr>
          <p:cNvPr id="7" name="Text 4"/>
          <p:cNvSpPr/>
          <p:nvPr/>
        </p:nvSpPr>
        <p:spPr>
          <a:xfrm>
            <a:off x="12534900" y="3019425"/>
            <a:ext cx="4128135" cy="247650"/>
          </a:xfrm>
          <a:prstGeom prst="rect">
            <a:avLst/>
          </a:prstGeom>
          <a:noFill/>
          <a:ln/>
        </p:spPr>
        <p:txBody>
          <a:bodyPr wrap="square" lIns="25400" tIns="25400" rIns="25400" bIns="25400" rtlCol="0" anchor="t">
            <a:normAutofit/>
          </a:bodyPr>
          <a:lstStyle/>
          <a:p>
            <a:pPr algn="l" indent="0" marL="0">
              <a:buNone/>
            </a:pPr>
            <a:r>
              <a:rPr lang="en-US" sz="1275" dirty="0">
                <a:solidFill>
                  <a:srgbClr val="C05F38"/>
                </a:solidFill>
                <a:latin typeface="Courier New" pitchFamily="34" charset="0"/>
                <a:ea typeface="Courier New" pitchFamily="34" charset="-122"/>
                <a:cs typeface="Courier New" pitchFamily="34" charset="-120"/>
              </a:rPr>
              <a:t>MR merged to main</a:t>
            </a:r>
            <a:endParaRPr lang="en-US" sz="1275" dirty="0"/>
          </a:p>
        </p:txBody>
      </p:sp>
      <p:sp>
        <p:nvSpPr>
          <p:cNvPr id="8" name="Shape 5"/>
          <p:cNvSpPr/>
          <p:nvPr/>
        </p:nvSpPr>
        <p:spPr>
          <a:xfrm>
            <a:off x="12268200" y="3686175"/>
            <a:ext cx="4286250" cy="838200"/>
          </a:xfrm>
          <a:prstGeom prst="roundRect">
            <a:avLst>
              <a:gd name="adj" fmla="val 9091"/>
            </a:avLst>
          </a:prstGeom>
          <a:solidFill>
            <a:srgbClr val="232019"/>
          </a:solidFill>
          <a:ln w="9525">
            <a:solidFill>
              <a:srgbClr val="F2ECE0">
                <a:alpha val="15000"/>
              </a:srgbClr>
            </a:solidFill>
            <a:prstDash val="solid"/>
          </a:ln>
        </p:spPr>
      </p:sp>
      <p:sp>
        <p:nvSpPr>
          <p:cNvPr id="9" name="Text 6"/>
          <p:cNvSpPr/>
          <p:nvPr/>
        </p:nvSpPr>
        <p:spPr>
          <a:xfrm>
            <a:off x="12525375" y="3867150"/>
            <a:ext cx="4149090" cy="238125"/>
          </a:xfrm>
          <a:prstGeom prst="rect">
            <a:avLst/>
          </a:prstGeom>
          <a:noFill/>
          <a:ln/>
        </p:spPr>
        <p:txBody>
          <a:bodyPr wrap="square" lIns="25400" tIns="25400" rIns="25400" bIns="25400" rtlCol="0" anchor="t">
            <a:normAutofit/>
          </a:bodyPr>
          <a:lstStyle/>
          <a:p>
            <a:pPr algn="l" indent="0" marL="0">
              <a:buNone/>
            </a:pPr>
            <a:r>
              <a:rPr lang="en-US" sz="1200" dirty="0">
                <a:solidFill>
                  <a:srgbClr val="F2ECE0"/>
                </a:solidFill>
                <a:latin typeface="Courier New" pitchFamily="34" charset="0"/>
                <a:ea typeface="Courier New" pitchFamily="34" charset="-122"/>
                <a:cs typeface="Courier New" pitchFamily="34" charset="-120"/>
              </a:rPr>
              <a:t>publish-mod</a:t>
            </a:r>
            <a:endParaRPr lang="en-US" sz="1200" dirty="0"/>
          </a:p>
        </p:txBody>
      </p:sp>
      <p:sp>
        <p:nvSpPr>
          <p:cNvPr id="10" name="Text 7"/>
          <p:cNvSpPr/>
          <p:nvPr/>
        </p:nvSpPr>
        <p:spPr>
          <a:xfrm>
            <a:off x="12525375" y="4124325"/>
            <a:ext cx="4149090" cy="257175"/>
          </a:xfrm>
          <a:prstGeom prst="rect">
            <a:avLst/>
          </a:prstGeom>
          <a:noFill/>
          <a:ln/>
        </p:spPr>
        <p:txBody>
          <a:bodyPr wrap="square" lIns="25400" tIns="25400" rIns="25400" bIns="25400" rtlCol="0" anchor="t">
            <a:normAutofit/>
          </a:bodyPr>
          <a:lstStyle/>
          <a:p>
            <a:pPr algn="l" indent="0" marL="0">
              <a:buNone/>
            </a:pPr>
            <a:r>
              <a:rPr lang="en-US" sz="1350" dirty="0">
                <a:solidFill>
                  <a:srgbClr val="9C9584"/>
                </a:solidFill>
                <a:latin typeface="Arial" pitchFamily="34" charset="0"/>
                <a:ea typeface="Arial" pitchFamily="34" charset="-122"/>
                <a:cs typeface="Arial" pitchFamily="34" charset="-120"/>
              </a:rPr>
              <a:t>syncs powerpipe/ → S3 mod bucket</a:t>
            </a:r>
            <a:endParaRPr lang="en-US" sz="1350" dirty="0"/>
          </a:p>
        </p:txBody>
      </p:sp>
      <p:sp>
        <p:nvSpPr>
          <p:cNvPr id="11" name="Shape 8"/>
          <p:cNvSpPr/>
          <p:nvPr/>
        </p:nvSpPr>
        <p:spPr>
          <a:xfrm>
            <a:off x="12268200" y="4772025"/>
            <a:ext cx="4286250" cy="838200"/>
          </a:xfrm>
          <a:prstGeom prst="roundRect">
            <a:avLst>
              <a:gd name="adj" fmla="val 9091"/>
            </a:avLst>
          </a:prstGeom>
          <a:solidFill>
            <a:srgbClr val="232019"/>
          </a:solidFill>
          <a:ln w="9525">
            <a:solidFill>
              <a:srgbClr val="F2ECE0">
                <a:alpha val="15000"/>
              </a:srgbClr>
            </a:solidFill>
            <a:prstDash val="solid"/>
          </a:ln>
        </p:spPr>
      </p:sp>
      <p:sp>
        <p:nvSpPr>
          <p:cNvPr id="12" name="Text 9"/>
          <p:cNvSpPr/>
          <p:nvPr/>
        </p:nvSpPr>
        <p:spPr>
          <a:xfrm>
            <a:off x="12525375" y="4953000"/>
            <a:ext cx="4149090" cy="238125"/>
          </a:xfrm>
          <a:prstGeom prst="rect">
            <a:avLst/>
          </a:prstGeom>
          <a:noFill/>
          <a:ln/>
        </p:spPr>
        <p:txBody>
          <a:bodyPr wrap="square" lIns="25400" tIns="25400" rIns="25400" bIns="25400" rtlCol="0" anchor="t">
            <a:normAutofit/>
          </a:bodyPr>
          <a:lstStyle/>
          <a:p>
            <a:pPr algn="l" indent="0" marL="0">
              <a:buNone/>
            </a:pPr>
            <a:r>
              <a:rPr lang="en-US" sz="1200" dirty="0">
                <a:solidFill>
                  <a:srgbClr val="F2ECE0"/>
                </a:solidFill>
                <a:latin typeface="Courier New" pitchFamily="34" charset="0"/>
                <a:ea typeface="Courier New" pitchFamily="34" charset="-122"/>
                <a:cs typeface="Courier New" pitchFamily="34" charset="-120"/>
              </a:rPr>
              <a:t>trigger-refresh</a:t>
            </a:r>
            <a:endParaRPr lang="en-US" sz="1200" dirty="0"/>
          </a:p>
        </p:txBody>
      </p:sp>
      <p:sp>
        <p:nvSpPr>
          <p:cNvPr id="13" name="Text 10"/>
          <p:cNvSpPr/>
          <p:nvPr/>
        </p:nvSpPr>
        <p:spPr>
          <a:xfrm>
            <a:off x="12525375" y="5210175"/>
            <a:ext cx="4149090" cy="257175"/>
          </a:xfrm>
          <a:prstGeom prst="rect">
            <a:avLst/>
          </a:prstGeom>
          <a:noFill/>
          <a:ln/>
        </p:spPr>
        <p:txBody>
          <a:bodyPr wrap="square" lIns="25400" tIns="25400" rIns="25400" bIns="25400" rtlCol="0" anchor="t">
            <a:normAutofit/>
          </a:bodyPr>
          <a:lstStyle/>
          <a:p>
            <a:pPr algn="l" indent="0" marL="0">
              <a:buNone/>
            </a:pPr>
            <a:r>
              <a:rPr lang="en-US" sz="1350" dirty="0">
                <a:solidFill>
                  <a:srgbClr val="9C9584"/>
                </a:solidFill>
                <a:latin typeface="Arial" pitchFamily="34" charset="0"/>
                <a:ea typeface="Arial" pitchFamily="34" charset="-122"/>
                <a:cs typeface="Arial" pitchFamily="34" charset="-120"/>
              </a:rPr>
              <a:t>REFRESH_DATA=true → powerpipe-deploy</a:t>
            </a:r>
            <a:endParaRPr lang="en-US" sz="1350" dirty="0"/>
          </a:p>
        </p:txBody>
      </p:sp>
      <p:sp>
        <p:nvSpPr>
          <p:cNvPr id="14" name="Shape 11"/>
          <p:cNvSpPr/>
          <p:nvPr/>
        </p:nvSpPr>
        <p:spPr>
          <a:xfrm>
            <a:off x="12268200" y="5857875"/>
            <a:ext cx="4286250" cy="838200"/>
          </a:xfrm>
          <a:prstGeom prst="roundRect">
            <a:avLst>
              <a:gd name="adj" fmla="val 9091"/>
            </a:avLst>
          </a:prstGeom>
          <a:solidFill>
            <a:srgbClr val="232019"/>
          </a:solidFill>
          <a:ln w="9525">
            <a:solidFill>
              <a:srgbClr val="F2ECE0">
                <a:alpha val="15000"/>
              </a:srgbClr>
            </a:solidFill>
            <a:prstDash val="solid"/>
          </a:ln>
        </p:spPr>
      </p:sp>
      <p:sp>
        <p:nvSpPr>
          <p:cNvPr id="15" name="Text 12"/>
          <p:cNvSpPr/>
          <p:nvPr/>
        </p:nvSpPr>
        <p:spPr>
          <a:xfrm>
            <a:off x="12525375" y="6038850"/>
            <a:ext cx="4149090" cy="238125"/>
          </a:xfrm>
          <a:prstGeom prst="rect">
            <a:avLst/>
          </a:prstGeom>
          <a:noFill/>
          <a:ln/>
        </p:spPr>
        <p:txBody>
          <a:bodyPr wrap="square" lIns="25400" tIns="25400" rIns="25400" bIns="25400" rtlCol="0" anchor="t">
            <a:normAutofit/>
          </a:bodyPr>
          <a:lstStyle/>
          <a:p>
            <a:pPr algn="l" indent="0" marL="0">
              <a:buNone/>
            </a:pPr>
            <a:r>
              <a:rPr lang="en-US" sz="1200" dirty="0">
                <a:solidFill>
                  <a:srgbClr val="F2ECE0"/>
                </a:solidFill>
                <a:latin typeface="Courier New" pitchFamily="34" charset="0"/>
                <a:ea typeface="Courier New" pitchFamily="34" charset="-122"/>
                <a:cs typeface="Courier New" pitchFamily="34" charset="-120"/>
              </a:rPr>
              <a:t>kubectl rollout restart</a:t>
            </a:r>
            <a:endParaRPr lang="en-US" sz="1200" dirty="0"/>
          </a:p>
        </p:txBody>
      </p:sp>
      <p:sp>
        <p:nvSpPr>
          <p:cNvPr id="16" name="Text 13"/>
          <p:cNvSpPr/>
          <p:nvPr/>
        </p:nvSpPr>
        <p:spPr>
          <a:xfrm>
            <a:off x="12525375" y="6296025"/>
            <a:ext cx="4149090" cy="257175"/>
          </a:xfrm>
          <a:prstGeom prst="rect">
            <a:avLst/>
          </a:prstGeom>
          <a:noFill/>
          <a:ln/>
        </p:spPr>
        <p:txBody>
          <a:bodyPr wrap="square" lIns="25400" tIns="25400" rIns="25400" bIns="25400" rtlCol="0" anchor="t">
            <a:normAutofit/>
          </a:bodyPr>
          <a:lstStyle/>
          <a:p>
            <a:pPr algn="l" indent="0" marL="0">
              <a:buNone/>
            </a:pPr>
            <a:r>
              <a:rPr lang="en-US" sz="1350" dirty="0">
                <a:solidFill>
                  <a:srgbClr val="9C9584"/>
                </a:solidFill>
                <a:latin typeface="Arial" pitchFamily="34" charset="0"/>
                <a:ea typeface="Arial" pitchFamily="34" charset="-122"/>
                <a:cs typeface="Arial" pitchFamily="34" charset="-120"/>
              </a:rPr>
              <a:t>pod pulls new dashboard from S3</a:t>
            </a:r>
            <a:endParaRPr lang="en-US" sz="1350" dirty="0"/>
          </a:p>
        </p:txBody>
      </p:sp>
      <p:sp>
        <p:nvSpPr>
          <p:cNvPr id="17" name="Shape 14"/>
          <p:cNvSpPr/>
          <p:nvPr/>
        </p:nvSpPr>
        <p:spPr>
          <a:xfrm>
            <a:off x="12268200" y="6943725"/>
            <a:ext cx="4286250" cy="628650"/>
          </a:xfrm>
          <a:prstGeom prst="roundRect">
            <a:avLst>
              <a:gd name="adj" fmla="val 12121"/>
            </a:avLst>
          </a:prstGeom>
          <a:solidFill>
            <a:srgbClr val="232019"/>
          </a:solidFill>
          <a:ln w="19050">
            <a:solidFill>
              <a:srgbClr val="7E9A66"/>
            </a:solidFill>
            <a:prstDash val="solid"/>
          </a:ln>
          <a:effectLst>
            <a:outerShdw sx="100000" sy="100000" kx="0" ky="0" algn="bl" rotWithShape="0" blurRad="101600" dist="50800" dir="16200000">
              <a:srgbClr val="7E9A66">
                <a:alpha val="9800"/>
              </a:srgbClr>
            </a:outerShdw>
          </a:effectLst>
        </p:spPr>
      </p:sp>
      <p:sp>
        <p:nvSpPr>
          <p:cNvPr id="18" name="Text 15"/>
          <p:cNvSpPr/>
          <p:nvPr/>
        </p:nvSpPr>
        <p:spPr>
          <a:xfrm>
            <a:off x="12534900" y="7153275"/>
            <a:ext cx="4128135" cy="247650"/>
          </a:xfrm>
          <a:prstGeom prst="rect">
            <a:avLst/>
          </a:prstGeom>
          <a:noFill/>
          <a:ln/>
        </p:spPr>
        <p:txBody>
          <a:bodyPr wrap="square" lIns="25400" tIns="25400" rIns="25400" bIns="25400" rtlCol="0" anchor="t">
            <a:normAutofit/>
          </a:bodyPr>
          <a:lstStyle/>
          <a:p>
            <a:pPr algn="l" indent="0" marL="0">
              <a:buNone/>
            </a:pPr>
            <a:r>
              <a:rPr lang="en-US" sz="1275" dirty="0">
                <a:solidFill>
                  <a:srgbClr val="7E9A66"/>
                </a:solidFill>
                <a:latin typeface="Courier New" pitchFamily="34" charset="0"/>
                <a:ea typeface="Courier New" pitchFamily="34" charset="-122"/>
                <a:cs typeface="Courier New" pitchFamily="34" charset="-120"/>
              </a:rPr>
              <a:t>✓ live in browser</a:t>
            </a:r>
            <a:endParaRPr lang="en-US" sz="1275" dirty="0"/>
          </a:p>
        </p:txBody>
      </p:sp>
      <p:sp>
        <p:nvSpPr>
          <p:cNvPr id="19" name="Text 16"/>
          <p:cNvSpPr/>
          <p:nvPr/>
        </p:nvSpPr>
        <p:spPr>
          <a:xfrm>
            <a:off x="16953309" y="9515475"/>
            <a:ext cx="344091" cy="276225"/>
          </a:xfrm>
          <a:prstGeom prst="rect">
            <a:avLst/>
          </a:prstGeom>
          <a:noFill/>
          <a:ln/>
        </p:spPr>
        <p:txBody>
          <a:bodyPr wrap="square" lIns="25400" tIns="25400" rIns="25400" bIns="25400" rtlCol="0" anchor="t">
            <a:normAutofit/>
          </a:bodyPr>
          <a:lstStyle/>
          <a:p>
            <a:pPr algn="l" indent="0" marL="0">
              <a:buNone/>
            </a:pPr>
            <a:r>
              <a:rPr lang="en-US" sz="1425" spc="200" kern="0" dirty="0">
                <a:solidFill>
                  <a:srgbClr val="9C9584"/>
                </a:solidFill>
                <a:latin typeface="Courier New" pitchFamily="34" charset="0"/>
                <a:ea typeface="Courier New" pitchFamily="34" charset="-122"/>
                <a:cs typeface="Courier New" pitchFamily="34" charset="-120"/>
              </a:rPr>
              <a:t>20</a:t>
            </a:r>
            <a:endParaRPr lang="en-US" sz="1425"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B1813"/>
        </a:solidFill>
      </p:bgPr>
    </p:bg>
    <p:spTree>
      <p:nvGrpSpPr>
        <p:cNvPr id="1" name=""/>
        <p:cNvGrpSpPr/>
        <p:nvPr/>
      </p:nvGrpSpPr>
      <p:grpSpPr>
        <a:xfrm>
          <a:off x="0" y="0"/>
          <a:ext cx="0" cy="0"/>
          <a:chOff x="0" y="0"/>
          <a:chExt cx="0" cy="0"/>
        </a:xfrm>
      </p:grpSpPr>
      <p:sp>
        <p:nvSpPr>
          <p:cNvPr id="2" name="Text 0"/>
          <p:cNvSpPr/>
          <p:nvPr/>
        </p:nvSpPr>
        <p:spPr>
          <a:xfrm>
            <a:off x="1066800" y="3418582"/>
            <a:ext cx="17769840" cy="276225"/>
          </a:xfrm>
          <a:prstGeom prst="rect">
            <a:avLst/>
          </a:prstGeom>
          <a:noFill/>
          <a:ln/>
        </p:spPr>
        <p:txBody>
          <a:bodyPr wrap="square" lIns="25400" tIns="25400" rIns="25400" bIns="25400" rtlCol="0" anchor="t">
            <a:normAutofit/>
          </a:bodyPr>
          <a:lstStyle/>
          <a:p>
            <a:pPr algn="l" indent="0" marL="0">
              <a:buNone/>
            </a:pPr>
            <a:r>
              <a:rPr lang="en-US" sz="1425" spc="342" kern="0" dirty="0">
                <a:solidFill>
                  <a:srgbClr val="C05F38"/>
                </a:solidFill>
                <a:latin typeface="Courier New" pitchFamily="34" charset="0"/>
                <a:ea typeface="Courier New" pitchFamily="34" charset="-122"/>
                <a:cs typeface="Courier New" pitchFamily="34" charset="-120"/>
              </a:rPr>
              <a:t>VIII · LIVE DEMO</a:t>
            </a:r>
            <a:endParaRPr lang="en-US" sz="1425" dirty="0"/>
          </a:p>
        </p:txBody>
      </p:sp>
      <p:sp>
        <p:nvSpPr>
          <p:cNvPr id="3" name="Text 1"/>
          <p:cNvSpPr/>
          <p:nvPr/>
        </p:nvSpPr>
        <p:spPr>
          <a:xfrm>
            <a:off x="1066800" y="3999607"/>
            <a:ext cx="8730035" cy="1592461"/>
          </a:xfrm>
          <a:prstGeom prst="rect">
            <a:avLst/>
          </a:prstGeom>
          <a:noFill/>
          <a:ln/>
        </p:spPr>
        <p:txBody>
          <a:bodyPr wrap="square" lIns="25400" tIns="25400" rIns="25400" bIns="25400" rtlCol="0" anchor="t">
            <a:normAutofit/>
          </a:bodyPr>
          <a:lstStyle/>
          <a:p>
            <a:pPr algn="l" indent="0" marL="0">
              <a:lnSpc>
                <a:spcPct val="102000"/>
              </a:lnSpc>
              <a:buNone/>
            </a:pPr>
            <a:r>
              <a:rPr lang="en-US" sz="6000" b="1" spc="-120" kern="0" dirty="0">
                <a:solidFill>
                  <a:srgbClr val="F2ECE0"/>
                </a:solidFill>
                <a:latin typeface="Arial" pitchFamily="34" charset="0"/>
                <a:ea typeface="Arial" pitchFamily="34" charset="-122"/>
                <a:cs typeface="Arial" pitchFamily="34" charset="-120"/>
              </a:rPr>
              <a:t>Everything, in one feature.</a:t>
            </a:r>
            <a:endParaRPr lang="en-US" sz="6000" dirty="0"/>
          </a:p>
        </p:txBody>
      </p:sp>
      <p:sp>
        <p:nvSpPr>
          <p:cNvPr id="4" name="Text 2"/>
          <p:cNvSpPr/>
          <p:nvPr/>
        </p:nvSpPr>
        <p:spPr>
          <a:xfrm>
            <a:off x="1066800" y="5973068"/>
            <a:ext cx="12575389" cy="1028700"/>
          </a:xfrm>
          <a:prstGeom prst="rect">
            <a:avLst/>
          </a:prstGeom>
          <a:noFill/>
          <a:ln/>
        </p:spPr>
        <p:txBody>
          <a:bodyPr wrap="square" lIns="25400" tIns="25400" rIns="25400" bIns="25400" rtlCol="0" anchor="t">
            <a:normAutofit/>
          </a:bodyPr>
          <a:lstStyle/>
          <a:p>
            <a:pPr algn="l" indent="0" marL="0">
              <a:lnSpc>
                <a:spcPct val="130000"/>
              </a:lnSpc>
              <a:buNone/>
            </a:pPr>
            <a:r>
              <a:rPr lang="en-US" sz="3000" dirty="0">
                <a:solidFill>
                  <a:srgbClr val="9C9584"/>
                </a:solidFill>
                <a:latin typeface="Arial" pitchFamily="34" charset="0"/>
                <a:ea typeface="Arial" pitchFamily="34" charset="-122"/>
                <a:cs typeface="Arial" pitchFamily="34" charset="-120"/>
              </a:rPr>
              <a:t>Adding a Resource Count Summary dashboard — total cards, a per-account table, and a per-environment table.</a:t>
            </a:r>
            <a:endParaRPr lang="en-US" sz="3000" dirty="0"/>
          </a:p>
        </p:txBody>
      </p:sp>
      <p:sp>
        <p:nvSpPr>
          <p:cNvPr id="5" name="Text 3"/>
          <p:cNvSpPr/>
          <p:nvPr/>
        </p:nvSpPr>
        <p:spPr>
          <a:xfrm>
            <a:off x="16953309" y="9515475"/>
            <a:ext cx="344091" cy="276225"/>
          </a:xfrm>
          <a:prstGeom prst="rect">
            <a:avLst/>
          </a:prstGeom>
          <a:noFill/>
          <a:ln/>
        </p:spPr>
        <p:txBody>
          <a:bodyPr wrap="square" lIns="25400" tIns="25400" rIns="25400" bIns="25400" rtlCol="0" anchor="t">
            <a:normAutofit/>
          </a:bodyPr>
          <a:lstStyle/>
          <a:p>
            <a:pPr algn="l" indent="0" marL="0">
              <a:buNone/>
            </a:pPr>
            <a:r>
              <a:rPr lang="en-US" sz="1425" spc="200" kern="0" dirty="0">
                <a:solidFill>
                  <a:srgbClr val="9C9584"/>
                </a:solidFill>
                <a:latin typeface="Courier New" pitchFamily="34" charset="0"/>
                <a:ea typeface="Courier New" pitchFamily="34" charset="-122"/>
                <a:cs typeface="Courier New" pitchFamily="34" charset="-120"/>
              </a:rPr>
              <a:t>21</a:t>
            </a:r>
            <a:endParaRPr lang="en-US" sz="1425"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2ECE0"/>
        </a:solidFill>
      </p:bgPr>
    </p:bg>
    <p:spTree>
      <p:nvGrpSpPr>
        <p:cNvPr id="1" name=""/>
        <p:cNvGrpSpPr/>
        <p:nvPr/>
      </p:nvGrpSpPr>
      <p:grpSpPr>
        <a:xfrm>
          <a:off x="0" y="0"/>
          <a:ext cx="0" cy="0"/>
          <a:chOff x="0" y="0"/>
          <a:chExt cx="0" cy="0"/>
        </a:xfrm>
      </p:grpSpPr>
      <p:sp>
        <p:nvSpPr>
          <p:cNvPr id="2" name="Text 0"/>
          <p:cNvSpPr/>
          <p:nvPr/>
        </p:nvSpPr>
        <p:spPr>
          <a:xfrm>
            <a:off x="1066800" y="3801517"/>
            <a:ext cx="8884920" cy="276225"/>
          </a:xfrm>
          <a:prstGeom prst="rect">
            <a:avLst/>
          </a:prstGeom>
          <a:noFill/>
          <a:ln/>
        </p:spPr>
        <p:txBody>
          <a:bodyPr wrap="square" lIns="25400" tIns="25400" rIns="25400" bIns="25400" rtlCol="0" anchor="t">
            <a:normAutofit/>
          </a:bodyPr>
          <a:lstStyle/>
          <a:p>
            <a:pPr algn="l" indent="0" marL="0">
              <a:buNone/>
            </a:pPr>
            <a:r>
              <a:rPr lang="en-US" sz="1425" spc="342" kern="0" dirty="0">
                <a:solidFill>
                  <a:srgbClr val="C05F38"/>
                </a:solidFill>
                <a:latin typeface="Courier New" pitchFamily="34" charset="0"/>
                <a:ea typeface="Courier New" pitchFamily="34" charset="-122"/>
                <a:cs typeface="Courier New" pitchFamily="34" charset="-120"/>
              </a:rPr>
              <a:t>VIII · THE FLOW</a:t>
            </a:r>
            <a:endParaRPr lang="en-US" sz="1425" dirty="0"/>
          </a:p>
        </p:txBody>
      </p:sp>
      <p:sp>
        <p:nvSpPr>
          <p:cNvPr id="3" name="Text 1"/>
          <p:cNvSpPr/>
          <p:nvPr/>
        </p:nvSpPr>
        <p:spPr>
          <a:xfrm>
            <a:off x="1066800" y="4287292"/>
            <a:ext cx="4848136" cy="558105"/>
          </a:xfrm>
          <a:prstGeom prst="rect">
            <a:avLst/>
          </a:prstGeom>
          <a:noFill/>
          <a:ln/>
        </p:spPr>
        <p:txBody>
          <a:bodyPr wrap="square" lIns="25400" tIns="25400" rIns="25400" bIns="25400" rtlCol="0" anchor="t">
            <a:normAutofit/>
          </a:bodyPr>
          <a:lstStyle/>
          <a:p>
            <a:pPr algn="l" indent="0" marL="0">
              <a:lnSpc>
                <a:spcPct val="105000"/>
              </a:lnSpc>
              <a:buNone/>
            </a:pPr>
            <a:r>
              <a:rPr lang="en-US" sz="3900" b="1" spc="-58" kern="0" dirty="0">
                <a:solidFill>
                  <a:srgbClr val="1B1813"/>
                </a:solidFill>
                <a:latin typeface="Arial" pitchFamily="34" charset="0"/>
                <a:ea typeface="Arial" pitchFamily="34" charset="-122"/>
                <a:cs typeface="Arial" pitchFamily="34" charset="-120"/>
              </a:rPr>
              <a:t>resource_count_summary</a:t>
            </a:r>
            <a:endParaRPr lang="en-US" sz="3900" dirty="0"/>
          </a:p>
        </p:txBody>
      </p:sp>
      <p:sp>
        <p:nvSpPr>
          <p:cNvPr id="4" name="Text 2"/>
          <p:cNvSpPr/>
          <p:nvPr/>
        </p:nvSpPr>
        <p:spPr>
          <a:xfrm>
            <a:off x="1066800" y="5093047"/>
            <a:ext cx="8319516" cy="345728"/>
          </a:xfrm>
          <a:prstGeom prst="rect">
            <a:avLst/>
          </a:prstGeom>
          <a:noFill/>
          <a:ln/>
        </p:spPr>
        <p:txBody>
          <a:bodyPr wrap="square" lIns="25400" tIns="25400" rIns="25400" bIns="25400" rtlCol="0" anchor="t">
            <a:normAutofit/>
          </a:bodyPr>
          <a:lstStyle/>
          <a:p>
            <a:pPr algn="l" indent="0" marL="0">
              <a:lnSpc>
                <a:spcPct val="170000"/>
              </a:lnSpc>
              <a:buNone/>
            </a:pPr>
            <a:r>
              <a:rPr lang="en-US" sz="1425" dirty="0">
                <a:solidFill>
                  <a:srgbClr val="6E6656"/>
                </a:solidFill>
                <a:latin typeface="Courier New" pitchFamily="34" charset="0"/>
                <a:ea typeface="Courier New" pitchFamily="34" charset="-122"/>
                <a:cs typeface="Courier New" pitchFamily="34" charset="-120"/>
              </a:rPr>
              <a:t>dashboards/resource_count_summary.pp</a:t>
            </a:r>
            <a:endParaRPr lang="en-US" sz="1425" dirty="0"/>
          </a:p>
        </p:txBody>
      </p:sp>
      <p:sp>
        <p:nvSpPr>
          <p:cNvPr id="5" name="Text 3"/>
          <p:cNvSpPr/>
          <p:nvPr/>
        </p:nvSpPr>
        <p:spPr>
          <a:xfrm>
            <a:off x="1066800" y="5400675"/>
            <a:ext cx="8319516" cy="345728"/>
          </a:xfrm>
          <a:prstGeom prst="rect">
            <a:avLst/>
          </a:prstGeom>
          <a:noFill/>
          <a:ln/>
        </p:spPr>
        <p:txBody>
          <a:bodyPr wrap="square" lIns="25400" tIns="25400" rIns="25400" bIns="25400" rtlCol="0" anchor="t">
            <a:normAutofit/>
          </a:bodyPr>
          <a:lstStyle/>
          <a:p>
            <a:pPr algn="l" indent="0" marL="0">
              <a:lnSpc>
                <a:spcPct val="170000"/>
              </a:lnSpc>
              <a:buNone/>
            </a:pPr>
            <a:r>
              <a:rPr lang="en-US" sz="1425" dirty="0">
                <a:solidFill>
                  <a:srgbClr val="6E6656"/>
                </a:solidFill>
                <a:latin typeface="Courier New" pitchFamily="34" charset="0"/>
                <a:ea typeface="Courier New" pitchFamily="34" charset="-122"/>
                <a:cs typeface="Courier New" pitchFamily="34" charset="-120"/>
              </a:rPr>
              <a:t>queries/resource_count_summary.pp</a:t>
            </a:r>
            <a:endParaRPr lang="en-US" sz="1425" dirty="0"/>
          </a:p>
        </p:txBody>
      </p:sp>
      <p:sp>
        <p:nvSpPr>
          <p:cNvPr id="6" name="Text 4"/>
          <p:cNvSpPr/>
          <p:nvPr/>
        </p:nvSpPr>
        <p:spPr>
          <a:xfrm>
            <a:off x="1066800" y="5994053"/>
            <a:ext cx="4149794" cy="624780"/>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1B1813"/>
                </a:solidFill>
                <a:latin typeface="Arial" pitchFamily="34" charset="0"/>
                <a:ea typeface="Arial" pitchFamily="34" charset="-122"/>
                <a:cs typeface="Arial" pitchFamily="34" charset="-120"/>
              </a:rPr>
              <a:t>Two new files. Zero existing files modified. One guided flow.</a:t>
            </a:r>
            <a:endParaRPr lang="en-US" sz="1650" dirty="0"/>
          </a:p>
        </p:txBody>
      </p:sp>
      <p:sp>
        <p:nvSpPr>
          <p:cNvPr id="7" name="Shape 5"/>
          <p:cNvSpPr/>
          <p:nvPr/>
        </p:nvSpPr>
        <p:spPr>
          <a:xfrm>
            <a:off x="9601200" y="3380631"/>
            <a:ext cx="7620000" cy="3620988"/>
          </a:xfrm>
          <a:prstGeom prst="roundRect">
            <a:avLst>
              <a:gd name="adj" fmla="val 2630"/>
            </a:avLst>
          </a:prstGeom>
          <a:solidFill>
            <a:srgbClr val="1B1813"/>
          </a:solidFill>
          <a:ln/>
          <a:effectLst>
            <a:outerShdw sx="100000" sy="100000" kx="0" ky="0" algn="bl" rotWithShape="0" blurRad="571500" dist="228600" dir="5400000">
              <a:srgbClr val="1B1813">
                <a:alpha val="22000"/>
              </a:srgbClr>
            </a:outerShdw>
          </a:effectLst>
        </p:spPr>
      </p:sp>
      <p:sp>
        <p:nvSpPr>
          <p:cNvPr id="8" name="Shape 6"/>
          <p:cNvSpPr/>
          <p:nvPr/>
        </p:nvSpPr>
        <p:spPr>
          <a:xfrm>
            <a:off x="9601200" y="3875931"/>
            <a:ext cx="7620000" cy="9525"/>
          </a:xfrm>
          <a:prstGeom prst="rect">
            <a:avLst/>
          </a:prstGeom>
          <a:solidFill>
            <a:srgbClr val="F2ECE0">
              <a:alpha val="15000"/>
            </a:srgbClr>
          </a:solidFill>
          <a:ln/>
        </p:spPr>
      </p:sp>
      <p:sp>
        <p:nvSpPr>
          <p:cNvPr id="9" name="Shape 7"/>
          <p:cNvSpPr/>
          <p:nvPr/>
        </p:nvSpPr>
        <p:spPr>
          <a:xfrm>
            <a:off x="9810750" y="3571131"/>
            <a:ext cx="114300" cy="114300"/>
          </a:xfrm>
          <a:prstGeom prst="ellipse">
            <a:avLst/>
          </a:prstGeom>
          <a:solidFill>
            <a:srgbClr val="E06C5A"/>
          </a:solidFill>
          <a:ln/>
        </p:spPr>
      </p:sp>
      <p:sp>
        <p:nvSpPr>
          <p:cNvPr id="10" name="Shape 8"/>
          <p:cNvSpPr/>
          <p:nvPr/>
        </p:nvSpPr>
        <p:spPr>
          <a:xfrm>
            <a:off x="10010775" y="3571131"/>
            <a:ext cx="114300" cy="114300"/>
          </a:xfrm>
          <a:prstGeom prst="ellipse">
            <a:avLst/>
          </a:prstGeom>
          <a:solidFill>
            <a:srgbClr val="E3B341"/>
          </a:solidFill>
          <a:ln/>
        </p:spPr>
      </p:sp>
      <p:sp>
        <p:nvSpPr>
          <p:cNvPr id="11" name="Shape 9"/>
          <p:cNvSpPr/>
          <p:nvPr/>
        </p:nvSpPr>
        <p:spPr>
          <a:xfrm>
            <a:off x="10210800" y="3571131"/>
            <a:ext cx="114300" cy="114300"/>
          </a:xfrm>
          <a:prstGeom prst="ellipse">
            <a:avLst/>
          </a:prstGeom>
          <a:solidFill>
            <a:srgbClr val="7E9A66"/>
          </a:solidFill>
          <a:ln/>
        </p:spPr>
      </p:sp>
      <p:sp>
        <p:nvSpPr>
          <p:cNvPr id="12" name="Text 10"/>
          <p:cNvSpPr/>
          <p:nvPr/>
        </p:nvSpPr>
        <p:spPr>
          <a:xfrm>
            <a:off x="10544175" y="3533031"/>
            <a:ext cx="3017520" cy="228600"/>
          </a:xfrm>
          <a:prstGeom prst="rect">
            <a:avLst/>
          </a:prstGeom>
          <a:noFill/>
          <a:ln/>
        </p:spPr>
        <p:txBody>
          <a:bodyPr wrap="square" lIns="25400" tIns="25400" rIns="25400" bIns="25400" rtlCol="0" anchor="t">
            <a:normAutofit/>
          </a:bodyPr>
          <a:lstStyle/>
          <a:p>
            <a:pPr algn="l" indent="0" marL="0">
              <a:buNone/>
            </a:pPr>
            <a:r>
              <a:rPr lang="en-US" sz="1125" dirty="0">
                <a:solidFill>
                  <a:srgbClr val="9C9584"/>
                </a:solidFill>
                <a:latin typeface="Courier New" pitchFamily="34" charset="0"/>
                <a:ea typeface="Courier New" pitchFamily="34" charset="-122"/>
                <a:cs typeface="Courier New" pitchFamily="34" charset="-120"/>
              </a:rPr>
              <a:t>feature-developer · ctrl+shift+f</a:t>
            </a:r>
            <a:endParaRPr lang="en-US" sz="1125" dirty="0"/>
          </a:p>
        </p:txBody>
      </p:sp>
      <p:sp>
        <p:nvSpPr>
          <p:cNvPr id="13" name="Text 11"/>
          <p:cNvSpPr/>
          <p:nvPr/>
        </p:nvSpPr>
        <p:spPr>
          <a:xfrm>
            <a:off x="9886950" y="4133106"/>
            <a:ext cx="7277100" cy="2658963"/>
          </a:xfrm>
          <a:prstGeom prst="rect">
            <a:avLst/>
          </a:prstGeom>
          <a:noFill/>
          <a:ln/>
        </p:spPr>
        <p:txBody>
          <a:bodyPr wrap="square" lIns="25400" tIns="25400" rIns="25400" bIns="25400" rtlCol="0" anchor="t">
            <a:normAutofit/>
          </a:bodyPr>
          <a:lstStyle/>
          <a:p>
            <a:pPr algn="l" indent="0" marL="0">
              <a:lnSpc>
                <a:spcPct val="172000"/>
              </a:lnSpc>
              <a:buNone/>
            </a:pPr>
            <a:r>
              <a:rPr lang="en-US" sz="1200" dirty="0">
                <a:solidFill>
                  <a:srgbClr val="7E9A66"/>
                </a:solidFill>
                <a:latin typeface="Courier New" pitchFamily="34" charset="0"/>
                <a:ea typeface="Courier New" pitchFamily="34" charset="-122"/>
                <a:cs typeface="Courier New" pitchFamily="34" charset="-120"/>
              </a:rPr>
              <a:t>◇</a:t>
            </a:r>
            <a:pPr algn="l" indent="0" marL="0">
              <a:lnSpc>
                <a:spcPct val="172000"/>
              </a:lnSpc>
              <a:buNone/>
            </a:pPr>
            <a:r>
              <a:rPr lang="en-US" sz="1200" dirty="0">
                <a:solidFill>
                  <a:srgbClr val="F2ECE0"/>
                </a:solidFill>
                <a:latin typeface="Courier New" pitchFamily="34" charset="0"/>
                <a:ea typeface="Courier New" pitchFamily="34" charset="-122"/>
                <a:cs typeface="Courier New" pitchFamily="34" charset="-120"/>
              </a:rPr>
              <a:t> Branch: main · clean </a:t>
            </a:r>
            <a:pPr algn="l" indent="0" marL="0">
              <a:lnSpc>
                <a:spcPct val="172000"/>
              </a:lnSpc>
              <a:buNone/>
            </a:pPr>
            <a:r>
              <a:rPr lang="en-US" sz="1200" dirty="0">
                <a:solidFill>
                  <a:srgbClr val="7E9A66"/>
                </a:solidFill>
                <a:latin typeface="Courier New" pitchFamily="34" charset="0"/>
                <a:ea typeface="Courier New" pitchFamily="34" charset="-122"/>
                <a:cs typeface="Courier New" pitchFamily="34" charset="-120"/>
              </a:rPr>
              <a:t>◇ </a:t>
            </a:r>
            <a:pPr algn="l" indent="0" marL="0">
              <a:lnSpc>
                <a:spcPct val="172000"/>
              </a:lnSpc>
              <a:buNone/>
            </a:pPr>
            <a:r>
              <a:rPr lang="en-US" sz="1200" dirty="0">
                <a:solidFill>
                  <a:srgbClr val="F2ECE0"/>
                </a:solidFill>
                <a:latin typeface="Courier New" pitchFamily="34" charset="0"/>
                <a:ea typeface="Courier New" pitchFamily="34" charset="-122"/>
                <a:cs typeface="Courier New" pitchFamily="34" charset="-120"/>
              </a:rPr>
              <a:t> @feature-workflow</a:t>
            </a:r>
            <a:endParaRPr lang="en-US" sz="1200" dirty="0"/>
          </a:p>
          <a:p>
            <a:pPr algn="l" indent="0" marL="0">
              <a:lnSpc>
                <a:spcPct val="172000"/>
              </a:lnSpc>
              <a:buNone/>
            </a:pPr>
            <a:r>
              <a:rPr lang="en-US" sz="1200" dirty="0">
                <a:solidFill>
                  <a:srgbClr val="F2ECE0"/>
                </a:solidFill>
                <a:latin typeface="Courier New" pitchFamily="34" charset="0"/>
                <a:ea typeface="Courier New" pitchFamily="34" charset="-122"/>
                <a:cs typeface="Courier New" pitchFamily="34" charset="-120"/>
              </a:rPr>
              <a:t>  research → plan          </a:t>
            </a:r>
            <a:endParaRPr lang="en-US" sz="1200" dirty="0"/>
          </a:p>
          <a:p>
            <a:pPr algn="l" indent="0" marL="0">
              <a:lnSpc>
                <a:spcPct val="172000"/>
              </a:lnSpc>
              <a:buNone/>
            </a:pPr>
            <a:r>
              <a:rPr lang="en-US" sz="1200" dirty="0">
                <a:solidFill>
                  <a:srgbClr val="C05F38"/>
                </a:solidFill>
                <a:latin typeface="Courier New" pitchFamily="34" charset="0"/>
                <a:ea typeface="Courier New" pitchFamily="34" charset="-122"/>
                <a:cs typeface="Courier New" pitchFamily="34" charset="-120"/>
              </a:rPr>
              <a:t>🔒 </a:t>
            </a:r>
            <a:pPr algn="l" indent="0" marL="0">
              <a:lnSpc>
                <a:spcPct val="172000"/>
              </a:lnSpc>
              <a:buNone/>
            </a:pPr>
            <a:r>
              <a:rPr lang="en-US" sz="1200" dirty="0">
                <a:solidFill>
                  <a:srgbClr val="F2ECE0"/>
                </a:solidFill>
                <a:latin typeface="Courier New" pitchFamily="34" charset="0"/>
                <a:ea typeface="Courier New" pitchFamily="34" charset="-122"/>
                <a:cs typeface="Courier New" pitchFamily="34" charset="-120"/>
              </a:rPr>
              <a:t>  Jira CHR-XXXXX           </a:t>
            </a:r>
            <a:pPr algn="l" indent="0" marL="0">
              <a:lnSpc>
                <a:spcPct val="172000"/>
              </a:lnSpc>
              <a:buNone/>
            </a:pPr>
            <a:r>
              <a:rPr lang="en-US" sz="1200" dirty="0">
                <a:solidFill>
                  <a:srgbClr val="C05F38"/>
                </a:solidFill>
                <a:latin typeface="Courier New" pitchFamily="34" charset="0"/>
                <a:ea typeface="Courier New" pitchFamily="34" charset="-122"/>
                <a:cs typeface="Courier New" pitchFamily="34" charset="-120"/>
              </a:rPr>
              <a:t>🔒 </a:t>
            </a:r>
            <a:pPr algn="l" indent="0" marL="0">
              <a:lnSpc>
                <a:spcPct val="172000"/>
              </a:lnSpc>
              <a:buNone/>
            </a:pPr>
            <a:r>
              <a:rPr lang="en-US" sz="1200" dirty="0">
                <a:solidFill>
                  <a:srgbClr val="F2ECE0"/>
                </a:solidFill>
                <a:latin typeface="Courier New" pitchFamily="34" charset="0"/>
                <a:ea typeface="Courier New" pitchFamily="34" charset="-122"/>
                <a:cs typeface="Courier New" pitchFamily="34" charset="-120"/>
              </a:rPr>
              <a:t>  branch feature/…-summary </a:t>
            </a:r>
            <a:pPr algn="l" indent="0" marL="0">
              <a:lnSpc>
                <a:spcPct val="172000"/>
              </a:lnSpc>
              <a:buNone/>
            </a:pPr>
            <a:r>
              <a:rPr lang="en-US" sz="1200" dirty="0">
                <a:solidFill>
                  <a:srgbClr val="C05F38"/>
                </a:solidFill>
                <a:latin typeface="Courier New" pitchFamily="34" charset="0"/>
                <a:ea typeface="Courier New" pitchFamily="34" charset="-122"/>
                <a:cs typeface="Courier New" pitchFamily="34" charset="-120"/>
              </a:rPr>
              <a:t>🔒 </a:t>
            </a:r>
            <a:pPr algn="l" indent="0" marL="0">
              <a:lnSpc>
                <a:spcPct val="172000"/>
              </a:lnSpc>
              <a:buNone/>
            </a:pPr>
            <a:r>
              <a:rPr lang="en-US" sz="1200" dirty="0">
                <a:solidFill>
                  <a:srgbClr val="F2ECE0"/>
                </a:solidFill>
                <a:latin typeface="Courier New" pitchFamily="34" charset="0"/>
                <a:ea typeface="Courier New" pitchFamily="34" charset="-122"/>
                <a:cs typeface="Courier New" pitchFamily="34" charset="-120"/>
              </a:rPr>
              <a:t>  implement 2 files</a:t>
            </a:r>
            <a:endParaRPr lang="en-US" sz="1200" dirty="0"/>
          </a:p>
          <a:p>
            <a:pPr algn="l" indent="0" marL="0">
              <a:lnSpc>
                <a:spcPct val="172000"/>
              </a:lnSpc>
              <a:buNone/>
            </a:pPr>
            <a:r>
              <a:rPr lang="en-US" sz="1200" dirty="0">
                <a:solidFill>
                  <a:srgbClr val="F2ECE0"/>
                </a:solidFill>
                <a:latin typeface="Courier New" pitchFamily="34" charset="0"/>
                <a:ea typeface="Courier New" pitchFamily="34" charset="-122"/>
                <a:cs typeface="Courier New" pitchFamily="34" charset="-120"/>
              </a:rPr>
              <a:t>  powerpipe dashboard list </a:t>
            </a:r>
            <a:endParaRPr lang="en-US" sz="1200" dirty="0"/>
          </a:p>
          <a:p>
            <a:pPr algn="l" indent="0" marL="0">
              <a:lnSpc>
                <a:spcPct val="172000"/>
              </a:lnSpc>
              <a:buNone/>
            </a:pPr>
            <a:r>
              <a:rPr lang="en-US" sz="1200" dirty="0">
                <a:solidFill>
                  <a:srgbClr val="7E9A66"/>
                </a:solidFill>
                <a:latin typeface="Courier New" pitchFamily="34" charset="0"/>
                <a:ea typeface="Courier New" pitchFamily="34" charset="-122"/>
                <a:cs typeface="Courier New" pitchFamily="34" charset="-120"/>
              </a:rPr>
              <a:t>✓ exit 0 </a:t>
            </a:r>
            <a:pPr algn="l" indent="0" marL="0">
              <a:lnSpc>
                <a:spcPct val="172000"/>
              </a:lnSpc>
              <a:buNone/>
            </a:pPr>
            <a:r>
              <a:rPr lang="en-US" sz="1200" dirty="0">
                <a:solidFill>
                  <a:srgbClr val="F2ECE0"/>
                </a:solidFill>
                <a:latin typeface="Courier New" pitchFamily="34" charset="0"/>
                <a:ea typeface="Courier New" pitchFamily="34" charset="-122"/>
                <a:cs typeface="Courier New" pitchFamily="34" charset="-120"/>
              </a:rPr>
              <a:t>  code-reviewer            </a:t>
            </a:r>
            <a:pPr algn="l" indent="0" marL="0">
              <a:lnSpc>
                <a:spcPct val="172000"/>
              </a:lnSpc>
              <a:buNone/>
            </a:pPr>
            <a:r>
              <a:rPr lang="en-US" sz="1200" dirty="0">
                <a:solidFill>
                  <a:srgbClr val="7E9A66"/>
                </a:solidFill>
                <a:latin typeface="Courier New" pitchFamily="34" charset="0"/>
                <a:ea typeface="Courier New" pitchFamily="34" charset="-122"/>
                <a:cs typeface="Courier New" pitchFamily="34" charset="-120"/>
              </a:rPr>
              <a:t>LGTM </a:t>
            </a:r>
            <a:pPr algn="l" indent="0" marL="0">
              <a:lnSpc>
                <a:spcPct val="172000"/>
              </a:lnSpc>
              <a:buNone/>
            </a:pPr>
            <a:r>
              <a:rPr lang="en-US" sz="1200" dirty="0">
                <a:solidFill>
                  <a:srgbClr val="F2ECE0"/>
                </a:solidFill>
                <a:latin typeface="Courier New" pitchFamily="34" charset="0"/>
                <a:ea typeface="Courier New" pitchFamily="34" charset="-122"/>
                <a:cs typeface="Courier New" pitchFamily="34" charset="-120"/>
              </a:rPr>
              <a:t>  commit → push            </a:t>
            </a:r>
            <a:pPr algn="l" indent="0" marL="0">
              <a:lnSpc>
                <a:spcPct val="172000"/>
              </a:lnSpc>
              <a:buNone/>
            </a:pPr>
            <a:r>
              <a:rPr lang="en-US" sz="1200" dirty="0">
                <a:solidFill>
                  <a:srgbClr val="C05F38"/>
                </a:solidFill>
                <a:latin typeface="Courier New" pitchFamily="34" charset="0"/>
                <a:ea typeface="Courier New" pitchFamily="34" charset="-122"/>
                <a:cs typeface="Courier New" pitchFamily="34" charset="-120"/>
              </a:rPr>
              <a:t>🔒 </a:t>
            </a:r>
            <a:pPr algn="l" indent="0" marL="0">
              <a:lnSpc>
                <a:spcPct val="172000"/>
              </a:lnSpc>
              <a:buNone/>
            </a:pPr>
            <a:r>
              <a:rPr lang="en-US" sz="1200" dirty="0">
                <a:solidFill>
                  <a:srgbClr val="F2ECE0"/>
                </a:solidFill>
                <a:latin typeface="Courier New" pitchFamily="34" charset="0"/>
                <a:ea typeface="Courier New" pitchFamily="34" charset="-122"/>
                <a:cs typeface="Courier New" pitchFamily="34" charset="-120"/>
              </a:rPr>
              <a:t>  glab mr create           </a:t>
            </a:r>
            <a:pPr algn="l" indent="0" marL="0">
              <a:lnSpc>
                <a:spcPct val="172000"/>
              </a:lnSpc>
              <a:buNone/>
            </a:pPr>
            <a:r>
              <a:rPr lang="en-US" sz="1200" dirty="0">
                <a:solidFill>
                  <a:srgbClr val="C05F38"/>
                </a:solidFill>
                <a:latin typeface="Courier New" pitchFamily="34" charset="0"/>
                <a:ea typeface="Courier New" pitchFamily="34" charset="-122"/>
                <a:cs typeface="Courier New" pitchFamily="34" charset="-120"/>
              </a:rPr>
              <a:t>🔒</a:t>
            </a:r>
            <a:pPr algn="l" indent="0" marL="0">
              <a:lnSpc>
                <a:spcPct val="172000"/>
              </a:lnSpc>
              <a:buNone/>
            </a:pPr>
            <a:r>
              <a:rPr lang="en-US" sz="1200" dirty="0">
                <a:solidFill>
                  <a:srgbClr val="7E9A66"/>
                </a:solidFill>
                <a:latin typeface="Courier New" pitchFamily="34" charset="0"/>
                <a:ea typeface="Courier New" pitchFamily="34" charset="-122"/>
                <a:cs typeface="Courier New" pitchFamily="34" charset="-120"/>
              </a:rPr>
              <a:t>◇</a:t>
            </a:r>
            <a:pPr algn="l" indent="0" marL="0">
              <a:lnSpc>
                <a:spcPct val="172000"/>
              </a:lnSpc>
              <a:buNone/>
            </a:pPr>
            <a:r>
              <a:rPr lang="en-US" sz="1200" dirty="0">
                <a:solidFill>
                  <a:srgbClr val="F2ECE0"/>
                </a:solidFill>
                <a:latin typeface="Courier New" pitchFamily="34" charset="0"/>
                <a:ea typeface="Courier New" pitchFamily="34" charset="-122"/>
                <a:cs typeface="Courier New" pitchFamily="34" charset="-120"/>
              </a:rPr>
              <a:t> merged → pipeline → </a:t>
            </a:r>
            <a:pPr algn="l" indent="0" marL="0">
              <a:lnSpc>
                <a:spcPct val="172000"/>
              </a:lnSpc>
              <a:buNone/>
            </a:pPr>
            <a:r>
              <a:rPr lang="en-US" sz="1200" dirty="0">
                <a:solidFill>
                  <a:srgbClr val="7E9A66"/>
                </a:solidFill>
                <a:latin typeface="Courier New" pitchFamily="34" charset="0"/>
                <a:ea typeface="Courier New" pitchFamily="34" charset="-122"/>
                <a:cs typeface="Courier New" pitchFamily="34" charset="-120"/>
              </a:rPr>
              <a:t>live</a:t>
            </a:r>
            <a:endParaRPr lang="en-US" sz="1200" dirty="0"/>
          </a:p>
        </p:txBody>
      </p:sp>
      <p:sp>
        <p:nvSpPr>
          <p:cNvPr id="14" name="Text 12"/>
          <p:cNvSpPr/>
          <p:nvPr/>
        </p:nvSpPr>
        <p:spPr>
          <a:xfrm>
            <a:off x="16953309" y="9515475"/>
            <a:ext cx="344091" cy="276225"/>
          </a:xfrm>
          <a:prstGeom prst="rect">
            <a:avLst/>
          </a:prstGeom>
          <a:noFill/>
          <a:ln/>
        </p:spPr>
        <p:txBody>
          <a:bodyPr wrap="square" lIns="25400" tIns="25400" rIns="25400" bIns="25400" rtlCol="0" anchor="t">
            <a:normAutofit/>
          </a:bodyPr>
          <a:lstStyle/>
          <a:p>
            <a:pPr algn="l" indent="0" marL="0">
              <a:buNone/>
            </a:pPr>
            <a:r>
              <a:rPr lang="en-US" sz="1425" spc="200" kern="0" dirty="0">
                <a:solidFill>
                  <a:srgbClr val="6E6656"/>
                </a:solidFill>
                <a:latin typeface="Courier New" pitchFamily="34" charset="0"/>
                <a:ea typeface="Courier New" pitchFamily="34" charset="-122"/>
                <a:cs typeface="Courier New" pitchFamily="34" charset="-120"/>
              </a:rPr>
              <a:t>22</a:t>
            </a:r>
            <a:endParaRPr lang="en-US" sz="1425"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2ECE0"/>
        </a:solidFill>
      </p:bgPr>
    </p:bg>
    <p:spTree>
      <p:nvGrpSpPr>
        <p:cNvPr id="1" name=""/>
        <p:cNvGrpSpPr/>
        <p:nvPr/>
      </p:nvGrpSpPr>
      <p:grpSpPr>
        <a:xfrm>
          <a:off x="0" y="0"/>
          <a:ext cx="0" cy="0"/>
          <a:chOff x="0" y="0"/>
          <a:chExt cx="0" cy="0"/>
        </a:xfrm>
      </p:grpSpPr>
      <p:sp>
        <p:nvSpPr>
          <p:cNvPr id="2" name="Text 0"/>
          <p:cNvSpPr/>
          <p:nvPr/>
        </p:nvSpPr>
        <p:spPr>
          <a:xfrm>
            <a:off x="1066800" y="3316784"/>
            <a:ext cx="17769840" cy="276225"/>
          </a:xfrm>
          <a:prstGeom prst="rect">
            <a:avLst/>
          </a:prstGeom>
          <a:noFill/>
          <a:ln/>
        </p:spPr>
        <p:txBody>
          <a:bodyPr wrap="square" lIns="25400" tIns="25400" rIns="25400" bIns="25400" rtlCol="0" anchor="t">
            <a:normAutofit/>
          </a:bodyPr>
          <a:lstStyle/>
          <a:p>
            <a:pPr algn="l" indent="0" marL="0">
              <a:buNone/>
            </a:pPr>
            <a:r>
              <a:rPr lang="en-US" sz="1425" spc="342" kern="0" dirty="0">
                <a:solidFill>
                  <a:srgbClr val="C05F38"/>
                </a:solidFill>
                <a:latin typeface="Courier New" pitchFamily="34" charset="0"/>
                <a:ea typeface="Courier New" pitchFamily="34" charset="-122"/>
                <a:cs typeface="Courier New" pitchFamily="34" charset="-120"/>
              </a:rPr>
              <a:t>VIII · WHAT IT SHOWS</a:t>
            </a:r>
            <a:endParaRPr lang="en-US" sz="1425" dirty="0"/>
          </a:p>
        </p:txBody>
      </p:sp>
      <p:sp>
        <p:nvSpPr>
          <p:cNvPr id="3" name="Text 1"/>
          <p:cNvSpPr/>
          <p:nvPr/>
        </p:nvSpPr>
        <p:spPr>
          <a:xfrm>
            <a:off x="1066800" y="3802559"/>
            <a:ext cx="8950404" cy="671959"/>
          </a:xfrm>
          <a:prstGeom prst="rect">
            <a:avLst/>
          </a:prstGeom>
          <a:noFill/>
          <a:ln/>
        </p:spPr>
        <p:txBody>
          <a:bodyPr wrap="square" lIns="25400" tIns="25400" rIns="25400" bIns="25400" rtlCol="0" anchor="t">
            <a:normAutofit/>
          </a:bodyPr>
          <a:lstStyle/>
          <a:p>
            <a:pPr algn="l" indent="0" marL="0">
              <a:lnSpc>
                <a:spcPct val="104000"/>
              </a:lnSpc>
              <a:buNone/>
            </a:pPr>
            <a:r>
              <a:rPr lang="en-US" sz="4800" b="1" spc="-72" kern="0" dirty="0">
                <a:solidFill>
                  <a:srgbClr val="1B1813"/>
                </a:solidFill>
                <a:latin typeface="Arial" pitchFamily="34" charset="0"/>
                <a:ea typeface="Arial" pitchFamily="34" charset="-122"/>
                <a:cs typeface="Arial" pitchFamily="34" charset="-120"/>
              </a:rPr>
              <a:t>Every piece, visible at once</a:t>
            </a:r>
            <a:endParaRPr lang="en-US" sz="4800" dirty="0"/>
          </a:p>
        </p:txBody>
      </p:sp>
      <p:sp>
        <p:nvSpPr>
          <p:cNvPr id="4" name="Shape 2"/>
          <p:cNvSpPr/>
          <p:nvPr/>
        </p:nvSpPr>
        <p:spPr>
          <a:xfrm>
            <a:off x="1066800" y="5398443"/>
            <a:ext cx="7334250" cy="9525"/>
          </a:xfrm>
          <a:prstGeom prst="rect">
            <a:avLst/>
          </a:prstGeom>
          <a:solidFill>
            <a:srgbClr val="1B1813">
              <a:alpha val="13000"/>
            </a:srgbClr>
          </a:solidFill>
          <a:ln/>
        </p:spPr>
      </p:sp>
      <p:sp>
        <p:nvSpPr>
          <p:cNvPr id="5" name="Text 3"/>
          <p:cNvSpPr/>
          <p:nvPr/>
        </p:nvSpPr>
        <p:spPr>
          <a:xfrm>
            <a:off x="1066800" y="5007918"/>
            <a:ext cx="1990725" cy="285750"/>
          </a:xfrm>
          <a:prstGeom prst="rect">
            <a:avLst/>
          </a:prstGeom>
          <a:noFill/>
          <a:ln/>
        </p:spPr>
        <p:txBody>
          <a:bodyPr wrap="square" lIns="25400" tIns="25400" rIns="25400" bIns="25400" rtlCol="0" anchor="t">
            <a:normAutofit/>
          </a:bodyPr>
          <a:lstStyle/>
          <a:p>
            <a:pPr algn="l" indent="0" marL="0">
              <a:buNone/>
            </a:pPr>
            <a:r>
              <a:rPr lang="en-US" sz="1500" dirty="0">
                <a:solidFill>
                  <a:srgbClr val="C05F38"/>
                </a:solidFill>
                <a:latin typeface="Courier New" pitchFamily="34" charset="0"/>
                <a:ea typeface="Courier New" pitchFamily="34" charset="-122"/>
                <a:cs typeface="Courier New" pitchFamily="34" charset="-120"/>
              </a:rPr>
              <a:t>Steering</a:t>
            </a:r>
            <a:endParaRPr lang="en-US" sz="1500" dirty="0"/>
          </a:p>
        </p:txBody>
      </p:sp>
      <p:sp>
        <p:nvSpPr>
          <p:cNvPr id="6" name="Text 4"/>
          <p:cNvSpPr/>
          <p:nvPr/>
        </p:nvSpPr>
        <p:spPr>
          <a:xfrm>
            <a:off x="3105150" y="4998393"/>
            <a:ext cx="5825490" cy="295275"/>
          </a:xfrm>
          <a:prstGeom prst="rect">
            <a:avLst/>
          </a:prstGeom>
          <a:noFill/>
          <a:ln/>
        </p:spPr>
        <p:txBody>
          <a:bodyPr wrap="square" lIns="25400" tIns="25400" rIns="25400" bIns="25400" rtlCol="0" anchor="t">
            <a:normAutofit/>
          </a:bodyPr>
          <a:lstStyle/>
          <a:p>
            <a:pPr algn="l" indent="0" marL="0">
              <a:buNone/>
            </a:pPr>
            <a:r>
              <a:rPr lang="en-US" sz="1575" dirty="0">
                <a:solidFill>
                  <a:srgbClr val="1B1813"/>
                </a:solidFill>
                <a:latin typeface="Arial" pitchFamily="34" charset="0"/>
                <a:ea typeface="Arial" pitchFamily="34" charset="-122"/>
                <a:cs typeface="Arial" pitchFamily="34" charset="-120"/>
              </a:rPr>
              <a:t>branch naming, verify step</a:t>
            </a:r>
            <a:endParaRPr lang="en-US" sz="1575" dirty="0"/>
          </a:p>
        </p:txBody>
      </p:sp>
      <p:sp>
        <p:nvSpPr>
          <p:cNvPr id="7" name="Shape 5"/>
          <p:cNvSpPr/>
          <p:nvPr/>
        </p:nvSpPr>
        <p:spPr>
          <a:xfrm>
            <a:off x="9163050" y="5398443"/>
            <a:ext cx="7334250" cy="9525"/>
          </a:xfrm>
          <a:prstGeom prst="rect">
            <a:avLst/>
          </a:prstGeom>
          <a:solidFill>
            <a:srgbClr val="1B1813">
              <a:alpha val="13000"/>
            </a:srgbClr>
          </a:solidFill>
          <a:ln/>
        </p:spPr>
      </p:sp>
      <p:sp>
        <p:nvSpPr>
          <p:cNvPr id="8" name="Text 6"/>
          <p:cNvSpPr/>
          <p:nvPr/>
        </p:nvSpPr>
        <p:spPr>
          <a:xfrm>
            <a:off x="9163050" y="5007918"/>
            <a:ext cx="1990725" cy="285750"/>
          </a:xfrm>
          <a:prstGeom prst="rect">
            <a:avLst/>
          </a:prstGeom>
          <a:noFill/>
          <a:ln/>
        </p:spPr>
        <p:txBody>
          <a:bodyPr wrap="square" lIns="25400" tIns="25400" rIns="25400" bIns="25400" rtlCol="0" anchor="t">
            <a:normAutofit/>
          </a:bodyPr>
          <a:lstStyle/>
          <a:p>
            <a:pPr algn="l" indent="0" marL="0">
              <a:buNone/>
            </a:pPr>
            <a:r>
              <a:rPr lang="en-US" sz="1500" dirty="0">
                <a:solidFill>
                  <a:srgbClr val="C05F38"/>
                </a:solidFill>
                <a:latin typeface="Courier New" pitchFamily="34" charset="0"/>
                <a:ea typeface="Courier New" pitchFamily="34" charset="-122"/>
                <a:cs typeface="Courier New" pitchFamily="34" charset="-120"/>
              </a:rPr>
              <a:t>Permissions</a:t>
            </a:r>
            <a:endParaRPr lang="en-US" sz="1500" dirty="0"/>
          </a:p>
        </p:txBody>
      </p:sp>
      <p:sp>
        <p:nvSpPr>
          <p:cNvPr id="9" name="Text 7"/>
          <p:cNvSpPr/>
          <p:nvPr/>
        </p:nvSpPr>
        <p:spPr>
          <a:xfrm>
            <a:off x="11201400" y="4998393"/>
            <a:ext cx="5825490" cy="295275"/>
          </a:xfrm>
          <a:prstGeom prst="rect">
            <a:avLst/>
          </a:prstGeom>
          <a:noFill/>
          <a:ln/>
        </p:spPr>
        <p:txBody>
          <a:bodyPr wrap="square" lIns="25400" tIns="25400" rIns="25400" bIns="25400" rtlCol="0" anchor="t">
            <a:normAutofit/>
          </a:bodyPr>
          <a:lstStyle/>
          <a:p>
            <a:pPr algn="l" indent="0" marL="0">
              <a:buNone/>
            </a:pPr>
            <a:r>
              <a:rPr lang="en-US" sz="1575" dirty="0">
                <a:solidFill>
                  <a:srgbClr val="1B1813"/>
                </a:solidFill>
                <a:latin typeface="Arial" pitchFamily="34" charset="0"/>
                <a:ea typeface="Arial" pitchFamily="34" charset="-122"/>
                <a:cs typeface="Arial" pitchFamily="34" charset="-120"/>
              </a:rPr>
              <a:t>write scoped to powerpipe/**</a:t>
            </a:r>
            <a:endParaRPr lang="en-US" sz="1575" dirty="0"/>
          </a:p>
        </p:txBody>
      </p:sp>
      <p:sp>
        <p:nvSpPr>
          <p:cNvPr id="10" name="Shape 8"/>
          <p:cNvSpPr/>
          <p:nvPr/>
        </p:nvSpPr>
        <p:spPr>
          <a:xfrm>
            <a:off x="1066800" y="5950893"/>
            <a:ext cx="7334250" cy="9525"/>
          </a:xfrm>
          <a:prstGeom prst="rect">
            <a:avLst/>
          </a:prstGeom>
          <a:solidFill>
            <a:srgbClr val="1B1813">
              <a:alpha val="13000"/>
            </a:srgbClr>
          </a:solidFill>
          <a:ln/>
        </p:spPr>
      </p:sp>
      <p:sp>
        <p:nvSpPr>
          <p:cNvPr id="11" name="Text 9"/>
          <p:cNvSpPr/>
          <p:nvPr/>
        </p:nvSpPr>
        <p:spPr>
          <a:xfrm>
            <a:off x="1066800" y="5560368"/>
            <a:ext cx="1990725" cy="285750"/>
          </a:xfrm>
          <a:prstGeom prst="rect">
            <a:avLst/>
          </a:prstGeom>
          <a:noFill/>
          <a:ln/>
        </p:spPr>
        <p:txBody>
          <a:bodyPr wrap="square" lIns="25400" tIns="25400" rIns="25400" bIns="25400" rtlCol="0" anchor="t">
            <a:normAutofit/>
          </a:bodyPr>
          <a:lstStyle/>
          <a:p>
            <a:pPr algn="l" indent="0" marL="0">
              <a:buNone/>
            </a:pPr>
            <a:r>
              <a:rPr lang="en-US" sz="1500" dirty="0">
                <a:solidFill>
                  <a:srgbClr val="C05F38"/>
                </a:solidFill>
                <a:latin typeface="Courier New" pitchFamily="34" charset="0"/>
                <a:ea typeface="Courier New" pitchFamily="34" charset="-122"/>
                <a:cs typeface="Courier New" pitchFamily="34" charset="-120"/>
              </a:rPr>
              <a:t>Skills</a:t>
            </a:r>
            <a:endParaRPr lang="en-US" sz="1500" dirty="0"/>
          </a:p>
        </p:txBody>
      </p:sp>
      <p:sp>
        <p:nvSpPr>
          <p:cNvPr id="12" name="Text 10"/>
          <p:cNvSpPr/>
          <p:nvPr/>
        </p:nvSpPr>
        <p:spPr>
          <a:xfrm>
            <a:off x="3105150" y="5550843"/>
            <a:ext cx="5825490" cy="295275"/>
          </a:xfrm>
          <a:prstGeom prst="rect">
            <a:avLst/>
          </a:prstGeom>
          <a:noFill/>
          <a:ln/>
        </p:spPr>
        <p:txBody>
          <a:bodyPr wrap="square" lIns="25400" tIns="25400" rIns="25400" bIns="25400" rtlCol="0" anchor="t">
            <a:normAutofit/>
          </a:bodyPr>
          <a:lstStyle/>
          <a:p>
            <a:pPr algn="l" indent="0" marL="0">
              <a:buNone/>
            </a:pPr>
            <a:r>
              <a:rPr lang="en-US" sz="1575" dirty="0">
                <a:solidFill>
                  <a:srgbClr val="1B1813"/>
                </a:solidFill>
                <a:latin typeface="Arial" pitchFamily="34" charset="0"/>
                <a:ea typeface="Arial" pitchFamily="34" charset="-122"/>
                <a:cs typeface="Arial" pitchFamily="34" charset="-120"/>
              </a:rPr>
              <a:t>correct HCL: 12-col grid, CTE</a:t>
            </a:r>
            <a:endParaRPr lang="en-US" sz="1575" dirty="0"/>
          </a:p>
        </p:txBody>
      </p:sp>
      <p:sp>
        <p:nvSpPr>
          <p:cNvPr id="13" name="Shape 11"/>
          <p:cNvSpPr/>
          <p:nvPr/>
        </p:nvSpPr>
        <p:spPr>
          <a:xfrm>
            <a:off x="9163050" y="5950893"/>
            <a:ext cx="7334250" cy="9525"/>
          </a:xfrm>
          <a:prstGeom prst="rect">
            <a:avLst/>
          </a:prstGeom>
          <a:solidFill>
            <a:srgbClr val="1B1813">
              <a:alpha val="13000"/>
            </a:srgbClr>
          </a:solidFill>
          <a:ln/>
        </p:spPr>
      </p:sp>
      <p:sp>
        <p:nvSpPr>
          <p:cNvPr id="14" name="Text 12"/>
          <p:cNvSpPr/>
          <p:nvPr/>
        </p:nvSpPr>
        <p:spPr>
          <a:xfrm>
            <a:off x="9163050" y="5560368"/>
            <a:ext cx="1990725" cy="285750"/>
          </a:xfrm>
          <a:prstGeom prst="rect">
            <a:avLst/>
          </a:prstGeom>
          <a:noFill/>
          <a:ln/>
        </p:spPr>
        <p:txBody>
          <a:bodyPr wrap="square" lIns="25400" tIns="25400" rIns="25400" bIns="25400" rtlCol="0" anchor="t">
            <a:normAutofit/>
          </a:bodyPr>
          <a:lstStyle/>
          <a:p>
            <a:pPr algn="l" indent="0" marL="0">
              <a:buNone/>
            </a:pPr>
            <a:r>
              <a:rPr lang="en-US" sz="1500" dirty="0">
                <a:solidFill>
                  <a:srgbClr val="C05F38"/>
                </a:solidFill>
                <a:latin typeface="Courier New" pitchFamily="34" charset="0"/>
                <a:ea typeface="Courier New" pitchFamily="34" charset="-122"/>
                <a:cs typeface="Courier New" pitchFamily="34" charset="-120"/>
              </a:rPr>
              <a:t>Context</a:t>
            </a:r>
            <a:endParaRPr lang="en-US" sz="1500" dirty="0"/>
          </a:p>
        </p:txBody>
      </p:sp>
      <p:sp>
        <p:nvSpPr>
          <p:cNvPr id="15" name="Text 13"/>
          <p:cNvSpPr/>
          <p:nvPr/>
        </p:nvSpPr>
        <p:spPr>
          <a:xfrm>
            <a:off x="11201400" y="5550843"/>
            <a:ext cx="5825490" cy="295275"/>
          </a:xfrm>
          <a:prstGeom prst="rect">
            <a:avLst/>
          </a:prstGeom>
          <a:noFill/>
          <a:ln/>
        </p:spPr>
        <p:txBody>
          <a:bodyPr wrap="square" lIns="25400" tIns="25400" rIns="25400" bIns="25400" rtlCol="0" anchor="t">
            <a:normAutofit/>
          </a:bodyPr>
          <a:lstStyle/>
          <a:p>
            <a:pPr algn="l" indent="0" marL="0">
              <a:buNone/>
            </a:pPr>
            <a:r>
              <a:rPr lang="en-US" sz="1575" dirty="0">
                <a:solidFill>
                  <a:srgbClr val="1B1813"/>
                </a:solidFill>
                <a:latin typeface="Arial" pitchFamily="34" charset="0"/>
                <a:ea typeface="Arial" pitchFamily="34" charset="-122"/>
                <a:cs typeface="Arial" pitchFamily="34" charset="-120"/>
              </a:rPr>
              <a:t>steering always, skill on demand</a:t>
            </a:r>
            <a:endParaRPr lang="en-US" sz="1575" dirty="0"/>
          </a:p>
        </p:txBody>
      </p:sp>
      <p:sp>
        <p:nvSpPr>
          <p:cNvPr id="16" name="Shape 14"/>
          <p:cNvSpPr/>
          <p:nvPr/>
        </p:nvSpPr>
        <p:spPr>
          <a:xfrm>
            <a:off x="1066800" y="6503343"/>
            <a:ext cx="7334250" cy="9525"/>
          </a:xfrm>
          <a:prstGeom prst="rect">
            <a:avLst/>
          </a:prstGeom>
          <a:solidFill>
            <a:srgbClr val="1B1813">
              <a:alpha val="13000"/>
            </a:srgbClr>
          </a:solidFill>
          <a:ln/>
        </p:spPr>
      </p:sp>
      <p:sp>
        <p:nvSpPr>
          <p:cNvPr id="17" name="Text 15"/>
          <p:cNvSpPr/>
          <p:nvPr/>
        </p:nvSpPr>
        <p:spPr>
          <a:xfrm>
            <a:off x="1066800" y="6112818"/>
            <a:ext cx="1990725" cy="285750"/>
          </a:xfrm>
          <a:prstGeom prst="rect">
            <a:avLst/>
          </a:prstGeom>
          <a:noFill/>
          <a:ln/>
        </p:spPr>
        <p:txBody>
          <a:bodyPr wrap="square" lIns="25400" tIns="25400" rIns="25400" bIns="25400" rtlCol="0" anchor="t">
            <a:normAutofit/>
          </a:bodyPr>
          <a:lstStyle/>
          <a:p>
            <a:pPr algn="l" indent="0" marL="0">
              <a:buNone/>
            </a:pPr>
            <a:r>
              <a:rPr lang="en-US" sz="1500" dirty="0">
                <a:solidFill>
                  <a:srgbClr val="C05F38"/>
                </a:solidFill>
                <a:latin typeface="Courier New" pitchFamily="34" charset="0"/>
                <a:ea typeface="Courier New" pitchFamily="34" charset="-122"/>
                <a:cs typeface="Courier New" pitchFamily="34" charset="-120"/>
              </a:rPr>
              <a:t>Agents</a:t>
            </a:r>
            <a:endParaRPr lang="en-US" sz="1500" dirty="0"/>
          </a:p>
        </p:txBody>
      </p:sp>
      <p:sp>
        <p:nvSpPr>
          <p:cNvPr id="18" name="Text 16"/>
          <p:cNvSpPr/>
          <p:nvPr/>
        </p:nvSpPr>
        <p:spPr>
          <a:xfrm>
            <a:off x="3105150" y="6103293"/>
            <a:ext cx="5825490" cy="295275"/>
          </a:xfrm>
          <a:prstGeom prst="rect">
            <a:avLst/>
          </a:prstGeom>
          <a:noFill/>
          <a:ln/>
        </p:spPr>
        <p:txBody>
          <a:bodyPr wrap="square" lIns="25400" tIns="25400" rIns="25400" bIns="25400" rtlCol="0" anchor="t">
            <a:normAutofit/>
          </a:bodyPr>
          <a:lstStyle/>
          <a:p>
            <a:pPr algn="l" indent="0" marL="0">
              <a:buNone/>
            </a:pPr>
            <a:r>
              <a:rPr lang="en-US" sz="1575" dirty="0">
                <a:solidFill>
                  <a:srgbClr val="1B1813"/>
                </a:solidFill>
                <a:latin typeface="Arial" pitchFamily="34" charset="0"/>
                <a:ea typeface="Arial" pitchFamily="34" charset="-122"/>
                <a:cs typeface="Arial" pitchFamily="34" charset="-120"/>
              </a:rPr>
              <a:t>developer writes, reviewer reviews</a:t>
            </a:r>
            <a:endParaRPr lang="en-US" sz="1575" dirty="0"/>
          </a:p>
        </p:txBody>
      </p:sp>
      <p:sp>
        <p:nvSpPr>
          <p:cNvPr id="19" name="Shape 17"/>
          <p:cNvSpPr/>
          <p:nvPr/>
        </p:nvSpPr>
        <p:spPr>
          <a:xfrm>
            <a:off x="9163050" y="6503343"/>
            <a:ext cx="7334250" cy="9525"/>
          </a:xfrm>
          <a:prstGeom prst="rect">
            <a:avLst/>
          </a:prstGeom>
          <a:solidFill>
            <a:srgbClr val="1B1813">
              <a:alpha val="13000"/>
            </a:srgbClr>
          </a:solidFill>
          <a:ln/>
        </p:spPr>
      </p:sp>
      <p:sp>
        <p:nvSpPr>
          <p:cNvPr id="20" name="Text 18"/>
          <p:cNvSpPr/>
          <p:nvPr/>
        </p:nvSpPr>
        <p:spPr>
          <a:xfrm>
            <a:off x="9163050" y="6112818"/>
            <a:ext cx="1990725" cy="285750"/>
          </a:xfrm>
          <a:prstGeom prst="rect">
            <a:avLst/>
          </a:prstGeom>
          <a:noFill/>
          <a:ln/>
        </p:spPr>
        <p:txBody>
          <a:bodyPr wrap="square" lIns="25400" tIns="25400" rIns="25400" bIns="25400" rtlCol="0" anchor="t">
            <a:normAutofit/>
          </a:bodyPr>
          <a:lstStyle/>
          <a:p>
            <a:pPr algn="l" indent="0" marL="0">
              <a:buNone/>
            </a:pPr>
            <a:r>
              <a:rPr lang="en-US" sz="1500" dirty="0">
                <a:solidFill>
                  <a:srgbClr val="C05F38"/>
                </a:solidFill>
                <a:latin typeface="Courier New" pitchFamily="34" charset="0"/>
                <a:ea typeface="Courier New" pitchFamily="34" charset="-122"/>
                <a:cs typeface="Courier New" pitchFamily="34" charset="-120"/>
              </a:rPr>
              <a:t>Workflow</a:t>
            </a:r>
            <a:endParaRPr lang="en-US" sz="1500" dirty="0"/>
          </a:p>
        </p:txBody>
      </p:sp>
      <p:sp>
        <p:nvSpPr>
          <p:cNvPr id="21" name="Text 19"/>
          <p:cNvSpPr/>
          <p:nvPr/>
        </p:nvSpPr>
        <p:spPr>
          <a:xfrm>
            <a:off x="11201400" y="6103293"/>
            <a:ext cx="5825490" cy="295275"/>
          </a:xfrm>
          <a:prstGeom prst="rect">
            <a:avLst/>
          </a:prstGeom>
          <a:noFill/>
          <a:ln/>
        </p:spPr>
        <p:txBody>
          <a:bodyPr wrap="square" lIns="25400" tIns="25400" rIns="25400" bIns="25400" rtlCol="0" anchor="t">
            <a:normAutofit/>
          </a:bodyPr>
          <a:lstStyle/>
          <a:p>
            <a:pPr algn="l" indent="0" marL="0">
              <a:buNone/>
            </a:pPr>
            <a:r>
              <a:rPr lang="en-US" sz="1575" dirty="0">
                <a:solidFill>
                  <a:srgbClr val="1B1813"/>
                </a:solidFill>
                <a:latin typeface="Arial" pitchFamily="34" charset="0"/>
                <a:ea typeface="Arial" pitchFamily="34" charset="-122"/>
                <a:cs typeface="Arial" pitchFamily="34" charset="-120"/>
              </a:rPr>
              <a:t>8 steps, human gates, no misses</a:t>
            </a:r>
            <a:endParaRPr lang="en-US" sz="1575" dirty="0"/>
          </a:p>
        </p:txBody>
      </p:sp>
      <p:sp>
        <p:nvSpPr>
          <p:cNvPr id="22" name="Shape 20"/>
          <p:cNvSpPr/>
          <p:nvPr/>
        </p:nvSpPr>
        <p:spPr>
          <a:xfrm>
            <a:off x="1066800" y="7055793"/>
            <a:ext cx="7334250" cy="9525"/>
          </a:xfrm>
          <a:prstGeom prst="rect">
            <a:avLst/>
          </a:prstGeom>
          <a:solidFill>
            <a:srgbClr val="1B1813">
              <a:alpha val="13000"/>
            </a:srgbClr>
          </a:solidFill>
          <a:ln/>
        </p:spPr>
      </p:sp>
      <p:sp>
        <p:nvSpPr>
          <p:cNvPr id="23" name="Text 21"/>
          <p:cNvSpPr/>
          <p:nvPr/>
        </p:nvSpPr>
        <p:spPr>
          <a:xfrm>
            <a:off x="1066800" y="6665268"/>
            <a:ext cx="1990725" cy="285750"/>
          </a:xfrm>
          <a:prstGeom prst="rect">
            <a:avLst/>
          </a:prstGeom>
          <a:noFill/>
          <a:ln/>
        </p:spPr>
        <p:txBody>
          <a:bodyPr wrap="square" lIns="25400" tIns="25400" rIns="25400" bIns="25400" rtlCol="0" anchor="t">
            <a:normAutofit/>
          </a:bodyPr>
          <a:lstStyle/>
          <a:p>
            <a:pPr algn="l" indent="0" marL="0">
              <a:buNone/>
            </a:pPr>
            <a:r>
              <a:rPr lang="en-US" sz="1500" dirty="0">
                <a:solidFill>
                  <a:srgbClr val="C05F38"/>
                </a:solidFill>
                <a:latin typeface="Courier New" pitchFamily="34" charset="0"/>
                <a:ea typeface="Courier New" pitchFamily="34" charset="-122"/>
                <a:cs typeface="Courier New" pitchFamily="34" charset="-120"/>
              </a:rPr>
              <a:t>Hooks</a:t>
            </a:r>
            <a:endParaRPr lang="en-US" sz="1500" dirty="0"/>
          </a:p>
        </p:txBody>
      </p:sp>
      <p:sp>
        <p:nvSpPr>
          <p:cNvPr id="24" name="Text 22"/>
          <p:cNvSpPr/>
          <p:nvPr/>
        </p:nvSpPr>
        <p:spPr>
          <a:xfrm>
            <a:off x="3105150" y="6655743"/>
            <a:ext cx="5825490" cy="295275"/>
          </a:xfrm>
          <a:prstGeom prst="rect">
            <a:avLst/>
          </a:prstGeom>
          <a:noFill/>
          <a:ln/>
        </p:spPr>
        <p:txBody>
          <a:bodyPr wrap="square" lIns="25400" tIns="25400" rIns="25400" bIns="25400" rtlCol="0" anchor="t">
            <a:normAutofit/>
          </a:bodyPr>
          <a:lstStyle/>
          <a:p>
            <a:pPr algn="l" indent="0" marL="0">
              <a:buNone/>
            </a:pPr>
            <a:r>
              <a:rPr lang="en-US" sz="1575" dirty="0">
                <a:solidFill>
                  <a:srgbClr val="1B1813"/>
                </a:solidFill>
                <a:latin typeface="Arial" pitchFamily="34" charset="0"/>
                <a:ea typeface="Arial" pitchFamily="34" charset="-122"/>
                <a:cs typeface="Arial" pitchFamily="34" charset="-120"/>
              </a:rPr>
              <a:t>git-safety-guard blocks main</a:t>
            </a:r>
            <a:endParaRPr lang="en-US" sz="1575" dirty="0"/>
          </a:p>
        </p:txBody>
      </p:sp>
      <p:sp>
        <p:nvSpPr>
          <p:cNvPr id="25" name="Shape 23"/>
          <p:cNvSpPr/>
          <p:nvPr/>
        </p:nvSpPr>
        <p:spPr>
          <a:xfrm>
            <a:off x="9163050" y="7055793"/>
            <a:ext cx="7334250" cy="9525"/>
          </a:xfrm>
          <a:prstGeom prst="rect">
            <a:avLst/>
          </a:prstGeom>
          <a:solidFill>
            <a:srgbClr val="1B1813">
              <a:alpha val="13000"/>
            </a:srgbClr>
          </a:solidFill>
          <a:ln/>
        </p:spPr>
      </p:sp>
      <p:sp>
        <p:nvSpPr>
          <p:cNvPr id="26" name="Text 24"/>
          <p:cNvSpPr/>
          <p:nvPr/>
        </p:nvSpPr>
        <p:spPr>
          <a:xfrm>
            <a:off x="9163050" y="6665268"/>
            <a:ext cx="1990725" cy="285750"/>
          </a:xfrm>
          <a:prstGeom prst="rect">
            <a:avLst/>
          </a:prstGeom>
          <a:noFill/>
          <a:ln/>
        </p:spPr>
        <p:txBody>
          <a:bodyPr wrap="square" lIns="25400" tIns="25400" rIns="25400" bIns="25400" rtlCol="0" anchor="t">
            <a:normAutofit/>
          </a:bodyPr>
          <a:lstStyle/>
          <a:p>
            <a:pPr algn="l" indent="0" marL="0">
              <a:buNone/>
            </a:pPr>
            <a:r>
              <a:rPr lang="en-US" sz="1500" dirty="0">
                <a:solidFill>
                  <a:srgbClr val="C05F38"/>
                </a:solidFill>
                <a:latin typeface="Courier New" pitchFamily="34" charset="0"/>
                <a:ea typeface="Courier New" pitchFamily="34" charset="-122"/>
                <a:cs typeface="Courier New" pitchFamily="34" charset="-120"/>
              </a:rPr>
              <a:t>Automation</a:t>
            </a:r>
            <a:endParaRPr lang="en-US" sz="1500" dirty="0"/>
          </a:p>
        </p:txBody>
      </p:sp>
      <p:sp>
        <p:nvSpPr>
          <p:cNvPr id="27" name="Text 25"/>
          <p:cNvSpPr/>
          <p:nvPr/>
        </p:nvSpPr>
        <p:spPr>
          <a:xfrm>
            <a:off x="11201400" y="6655743"/>
            <a:ext cx="5825490" cy="295275"/>
          </a:xfrm>
          <a:prstGeom prst="rect">
            <a:avLst/>
          </a:prstGeom>
          <a:noFill/>
          <a:ln/>
        </p:spPr>
        <p:txBody>
          <a:bodyPr wrap="square" lIns="25400" tIns="25400" rIns="25400" bIns="25400" rtlCol="0" anchor="t">
            <a:normAutofit/>
          </a:bodyPr>
          <a:lstStyle/>
          <a:p>
            <a:pPr algn="l" indent="0" marL="0">
              <a:buNone/>
            </a:pPr>
            <a:r>
              <a:rPr lang="en-US" sz="1575" dirty="0">
                <a:solidFill>
                  <a:srgbClr val="1B1813"/>
                </a:solidFill>
                <a:latin typeface="Arial" pitchFamily="34" charset="0"/>
                <a:ea typeface="Arial" pitchFamily="34" charset="-122"/>
                <a:cs typeface="Arial" pitchFamily="34" charset="-120"/>
              </a:rPr>
              <a:t>MR merge → S3 → pod → live</a:t>
            </a:r>
            <a:endParaRPr lang="en-US" sz="1575" dirty="0"/>
          </a:p>
        </p:txBody>
      </p:sp>
      <p:sp>
        <p:nvSpPr>
          <p:cNvPr id="28" name="Text 26"/>
          <p:cNvSpPr/>
          <p:nvPr/>
        </p:nvSpPr>
        <p:spPr>
          <a:xfrm>
            <a:off x="16953309" y="9515475"/>
            <a:ext cx="344091" cy="276225"/>
          </a:xfrm>
          <a:prstGeom prst="rect">
            <a:avLst/>
          </a:prstGeom>
          <a:noFill/>
          <a:ln/>
        </p:spPr>
        <p:txBody>
          <a:bodyPr wrap="square" lIns="25400" tIns="25400" rIns="25400" bIns="25400" rtlCol="0" anchor="t">
            <a:normAutofit/>
          </a:bodyPr>
          <a:lstStyle/>
          <a:p>
            <a:pPr algn="l" indent="0" marL="0">
              <a:buNone/>
            </a:pPr>
            <a:r>
              <a:rPr lang="en-US" sz="1425" spc="200" kern="0" dirty="0">
                <a:solidFill>
                  <a:srgbClr val="6E6656"/>
                </a:solidFill>
                <a:latin typeface="Courier New" pitchFamily="34" charset="0"/>
                <a:ea typeface="Courier New" pitchFamily="34" charset="-122"/>
                <a:cs typeface="Courier New" pitchFamily="34" charset="-120"/>
              </a:rPr>
              <a:t>23</a:t>
            </a:r>
            <a:endParaRPr lang="en-US" sz="1425"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2ECE0"/>
        </a:solidFill>
      </p:bgPr>
    </p:bg>
    <p:spTree>
      <p:nvGrpSpPr>
        <p:cNvPr id="1" name=""/>
        <p:cNvGrpSpPr/>
        <p:nvPr/>
      </p:nvGrpSpPr>
      <p:grpSpPr>
        <a:xfrm>
          <a:off x="0" y="0"/>
          <a:ext cx="0" cy="0"/>
          <a:chOff x="0" y="0"/>
          <a:chExt cx="0" cy="0"/>
        </a:xfrm>
      </p:grpSpPr>
      <p:sp>
        <p:nvSpPr>
          <p:cNvPr id="2" name="Text 0"/>
          <p:cNvSpPr/>
          <p:nvPr/>
        </p:nvSpPr>
        <p:spPr>
          <a:xfrm>
            <a:off x="1066800" y="2545259"/>
            <a:ext cx="17769840" cy="276225"/>
          </a:xfrm>
          <a:prstGeom prst="rect">
            <a:avLst/>
          </a:prstGeom>
          <a:noFill/>
          <a:ln/>
        </p:spPr>
        <p:txBody>
          <a:bodyPr wrap="square" lIns="25400" tIns="25400" rIns="25400" bIns="25400" rtlCol="0" anchor="t">
            <a:normAutofit/>
          </a:bodyPr>
          <a:lstStyle/>
          <a:p>
            <a:pPr algn="l" indent="0" marL="0">
              <a:buNone/>
            </a:pPr>
            <a:r>
              <a:rPr lang="en-US" sz="1425" spc="342" kern="0" dirty="0">
                <a:solidFill>
                  <a:srgbClr val="C05F38"/>
                </a:solidFill>
                <a:latin typeface="Courier New" pitchFamily="34" charset="0"/>
                <a:ea typeface="Courier New" pitchFamily="34" charset="-122"/>
                <a:cs typeface="Courier New" pitchFamily="34" charset="-120"/>
              </a:rPr>
              <a:t>THE SHIFT</a:t>
            </a:r>
            <a:endParaRPr lang="en-US" sz="1425" dirty="0"/>
          </a:p>
        </p:txBody>
      </p:sp>
      <p:sp>
        <p:nvSpPr>
          <p:cNvPr id="3" name="Text 1"/>
          <p:cNvSpPr/>
          <p:nvPr/>
        </p:nvSpPr>
        <p:spPr>
          <a:xfrm>
            <a:off x="1066800" y="3031034"/>
            <a:ext cx="8950404" cy="671959"/>
          </a:xfrm>
          <a:prstGeom prst="rect">
            <a:avLst/>
          </a:prstGeom>
          <a:noFill/>
          <a:ln/>
        </p:spPr>
        <p:txBody>
          <a:bodyPr wrap="square" lIns="25400" tIns="25400" rIns="25400" bIns="25400" rtlCol="0" anchor="t">
            <a:normAutofit/>
          </a:bodyPr>
          <a:lstStyle/>
          <a:p>
            <a:pPr algn="l" indent="0" marL="0">
              <a:lnSpc>
                <a:spcPct val="104000"/>
              </a:lnSpc>
              <a:buNone/>
            </a:pPr>
            <a:r>
              <a:rPr lang="en-US" sz="4800" b="1" spc="-72" kern="0" dirty="0">
                <a:solidFill>
                  <a:srgbClr val="1B1813"/>
                </a:solidFill>
                <a:latin typeface="Arial" pitchFamily="34" charset="0"/>
                <a:ea typeface="Arial" pitchFamily="34" charset="-122"/>
                <a:cs typeface="Arial" pitchFamily="34" charset="-120"/>
              </a:rPr>
              <a:t>Before kiro → after kiro</a:t>
            </a:r>
            <a:endParaRPr lang="en-US" sz="4800" dirty="0"/>
          </a:p>
        </p:txBody>
      </p:sp>
      <p:sp>
        <p:nvSpPr>
          <p:cNvPr id="4" name="Shape 2"/>
          <p:cNvSpPr/>
          <p:nvPr/>
        </p:nvSpPr>
        <p:spPr>
          <a:xfrm>
            <a:off x="1066800" y="4579293"/>
            <a:ext cx="16002000" cy="9525"/>
          </a:xfrm>
          <a:prstGeom prst="rect">
            <a:avLst/>
          </a:prstGeom>
          <a:solidFill>
            <a:srgbClr val="1B1813">
              <a:alpha val="13000"/>
            </a:srgbClr>
          </a:solidFill>
          <a:ln/>
        </p:spPr>
      </p:sp>
      <p:sp>
        <p:nvSpPr>
          <p:cNvPr id="5" name="Text 3"/>
          <p:cNvSpPr/>
          <p:nvPr/>
        </p:nvSpPr>
        <p:spPr>
          <a:xfrm>
            <a:off x="1066800" y="4169718"/>
            <a:ext cx="8486775" cy="323850"/>
          </a:xfrm>
          <a:prstGeom prst="rect">
            <a:avLst/>
          </a:prstGeom>
          <a:noFill/>
          <a:ln/>
        </p:spPr>
        <p:txBody>
          <a:bodyPr wrap="square" lIns="25400" tIns="25400" rIns="25400" bIns="25400" rtlCol="0" anchor="t">
            <a:normAutofit/>
          </a:bodyPr>
          <a:lstStyle/>
          <a:p>
            <a:pPr algn="l" indent="0" marL="0">
              <a:buNone/>
            </a:pPr>
            <a:r>
              <a:rPr lang="en-US" sz="1725" dirty="0">
                <a:solidFill>
                  <a:srgbClr val="6E6656"/>
                </a:solidFill>
                <a:latin typeface="Arial" pitchFamily="34" charset="0"/>
                <a:ea typeface="Arial" pitchFamily="34" charset="-122"/>
                <a:cs typeface="Arial" pitchFamily="34" charset="-120"/>
              </a:rPr>
              <a:t>Forgot conventions between sessions</a:t>
            </a:r>
            <a:endParaRPr lang="en-US" sz="1725" dirty="0"/>
          </a:p>
        </p:txBody>
      </p:sp>
      <p:sp>
        <p:nvSpPr>
          <p:cNvPr id="6" name="Text 4"/>
          <p:cNvSpPr/>
          <p:nvPr/>
        </p:nvSpPr>
        <p:spPr>
          <a:xfrm>
            <a:off x="9353550" y="4169718"/>
            <a:ext cx="8486775" cy="323850"/>
          </a:xfrm>
          <a:prstGeom prst="rect">
            <a:avLst/>
          </a:prstGeom>
          <a:noFill/>
          <a:ln/>
        </p:spPr>
        <p:txBody>
          <a:bodyPr wrap="square" lIns="25400" tIns="25400" rIns="25400" bIns="25400" rtlCol="0" anchor="t">
            <a:normAutofit/>
          </a:bodyPr>
          <a:lstStyle/>
          <a:p>
            <a:pPr algn="l" indent="0" marL="0">
              <a:buNone/>
            </a:pPr>
            <a:r>
              <a:rPr lang="en-US" sz="1725" dirty="0">
                <a:solidFill>
                  <a:srgbClr val="7E9A66"/>
                </a:solidFill>
                <a:latin typeface="Arial" pitchFamily="34" charset="0"/>
                <a:ea typeface="Arial" pitchFamily="34" charset="-122"/>
                <a:cs typeface="Arial" pitchFamily="34" charset="-120"/>
              </a:rPr>
              <a:t>→ </a:t>
            </a:r>
            <a:pPr algn="l" indent="0" marL="0">
              <a:buNone/>
            </a:pPr>
            <a:r>
              <a:rPr lang="en-US" sz="1725" dirty="0">
                <a:solidFill>
                  <a:srgbClr val="1B1813"/>
                </a:solidFill>
                <a:latin typeface="Arial" pitchFamily="34" charset="0"/>
                <a:ea typeface="Arial" pitchFamily="34" charset="-122"/>
                <a:cs typeface="Arial" pitchFamily="34" charset="-120"/>
              </a:rPr>
              <a:t>Steering enforces them automatically</a:t>
            </a:r>
            <a:endParaRPr lang="en-US" sz="1725" dirty="0"/>
          </a:p>
        </p:txBody>
      </p:sp>
      <p:sp>
        <p:nvSpPr>
          <p:cNvPr id="7" name="Shape 5"/>
          <p:cNvSpPr/>
          <p:nvPr/>
        </p:nvSpPr>
        <p:spPr>
          <a:xfrm>
            <a:off x="1066800" y="5122218"/>
            <a:ext cx="16002000" cy="9525"/>
          </a:xfrm>
          <a:prstGeom prst="rect">
            <a:avLst/>
          </a:prstGeom>
          <a:solidFill>
            <a:srgbClr val="1B1813">
              <a:alpha val="13000"/>
            </a:srgbClr>
          </a:solidFill>
          <a:ln/>
        </p:spPr>
      </p:sp>
      <p:sp>
        <p:nvSpPr>
          <p:cNvPr id="8" name="Text 6"/>
          <p:cNvSpPr/>
          <p:nvPr/>
        </p:nvSpPr>
        <p:spPr>
          <a:xfrm>
            <a:off x="1066800" y="4712643"/>
            <a:ext cx="8486775" cy="323850"/>
          </a:xfrm>
          <a:prstGeom prst="rect">
            <a:avLst/>
          </a:prstGeom>
          <a:noFill/>
          <a:ln/>
        </p:spPr>
        <p:txBody>
          <a:bodyPr wrap="square" lIns="25400" tIns="25400" rIns="25400" bIns="25400" rtlCol="0" anchor="t">
            <a:normAutofit/>
          </a:bodyPr>
          <a:lstStyle/>
          <a:p>
            <a:pPr algn="l" indent="0" marL="0">
              <a:buNone/>
            </a:pPr>
            <a:r>
              <a:rPr lang="en-US" sz="1725" dirty="0">
                <a:solidFill>
                  <a:srgbClr val="6E6656"/>
                </a:solidFill>
                <a:latin typeface="Arial" pitchFamily="34" charset="0"/>
                <a:ea typeface="Arial" pitchFamily="34" charset="-122"/>
                <a:cs typeface="Arial" pitchFamily="34" charset="-120"/>
              </a:rPr>
              <a:t>Hallucinated Powerpipe syntax</a:t>
            </a:r>
            <a:endParaRPr lang="en-US" sz="1725" dirty="0"/>
          </a:p>
        </p:txBody>
      </p:sp>
      <p:sp>
        <p:nvSpPr>
          <p:cNvPr id="9" name="Text 7"/>
          <p:cNvSpPr/>
          <p:nvPr/>
        </p:nvSpPr>
        <p:spPr>
          <a:xfrm>
            <a:off x="9353550" y="4712643"/>
            <a:ext cx="8486775" cy="323850"/>
          </a:xfrm>
          <a:prstGeom prst="rect">
            <a:avLst/>
          </a:prstGeom>
          <a:noFill/>
          <a:ln/>
        </p:spPr>
        <p:txBody>
          <a:bodyPr wrap="square" lIns="25400" tIns="25400" rIns="25400" bIns="25400" rtlCol="0" anchor="t">
            <a:normAutofit/>
          </a:bodyPr>
          <a:lstStyle/>
          <a:p>
            <a:pPr algn="l" indent="0" marL="0">
              <a:buNone/>
            </a:pPr>
            <a:r>
              <a:rPr lang="en-US" sz="1725" dirty="0">
                <a:solidFill>
                  <a:srgbClr val="7E9A66"/>
                </a:solidFill>
                <a:latin typeface="Arial" pitchFamily="34" charset="0"/>
                <a:ea typeface="Arial" pitchFamily="34" charset="-122"/>
                <a:cs typeface="Arial" pitchFamily="34" charset="-120"/>
              </a:rPr>
              <a:t>→ </a:t>
            </a:r>
            <a:pPr algn="l" indent="0" marL="0">
              <a:buNone/>
            </a:pPr>
            <a:r>
              <a:rPr lang="en-US" sz="1725" dirty="0">
                <a:solidFill>
                  <a:srgbClr val="1B1813"/>
                </a:solidFill>
                <a:latin typeface="Arial" pitchFamily="34" charset="0"/>
                <a:ea typeface="Arial" pitchFamily="34" charset="-122"/>
                <a:cs typeface="Arial" pitchFamily="34" charset="-120"/>
              </a:rPr>
              <a:t>Skills provide verified patterns</a:t>
            </a:r>
            <a:endParaRPr lang="en-US" sz="1725" dirty="0"/>
          </a:p>
        </p:txBody>
      </p:sp>
      <p:sp>
        <p:nvSpPr>
          <p:cNvPr id="10" name="Shape 8"/>
          <p:cNvSpPr/>
          <p:nvPr/>
        </p:nvSpPr>
        <p:spPr>
          <a:xfrm>
            <a:off x="1066800" y="5665143"/>
            <a:ext cx="16002000" cy="9525"/>
          </a:xfrm>
          <a:prstGeom prst="rect">
            <a:avLst/>
          </a:prstGeom>
          <a:solidFill>
            <a:srgbClr val="1B1813">
              <a:alpha val="13000"/>
            </a:srgbClr>
          </a:solidFill>
          <a:ln/>
        </p:spPr>
      </p:sp>
      <p:sp>
        <p:nvSpPr>
          <p:cNvPr id="11" name="Text 9"/>
          <p:cNvSpPr/>
          <p:nvPr/>
        </p:nvSpPr>
        <p:spPr>
          <a:xfrm>
            <a:off x="1066800" y="5255568"/>
            <a:ext cx="8486775" cy="323850"/>
          </a:xfrm>
          <a:prstGeom prst="rect">
            <a:avLst/>
          </a:prstGeom>
          <a:noFill/>
          <a:ln/>
        </p:spPr>
        <p:txBody>
          <a:bodyPr wrap="square" lIns="25400" tIns="25400" rIns="25400" bIns="25400" rtlCol="0" anchor="t">
            <a:normAutofit/>
          </a:bodyPr>
          <a:lstStyle/>
          <a:p>
            <a:pPr algn="l" indent="0" marL="0">
              <a:buNone/>
            </a:pPr>
            <a:r>
              <a:rPr lang="en-US" sz="1725" dirty="0">
                <a:solidFill>
                  <a:srgbClr val="6E6656"/>
                </a:solidFill>
                <a:latin typeface="Arial" pitchFamily="34" charset="0"/>
                <a:ea typeface="Arial" pitchFamily="34" charset="-122"/>
                <a:cs typeface="Arial" pitchFamily="34" charset="-120"/>
              </a:rPr>
              <a:t>One agent trying to do everything</a:t>
            </a:r>
            <a:endParaRPr lang="en-US" sz="1725" dirty="0"/>
          </a:p>
        </p:txBody>
      </p:sp>
      <p:sp>
        <p:nvSpPr>
          <p:cNvPr id="12" name="Text 10"/>
          <p:cNvSpPr/>
          <p:nvPr/>
        </p:nvSpPr>
        <p:spPr>
          <a:xfrm>
            <a:off x="9353550" y="5255568"/>
            <a:ext cx="8486775" cy="323850"/>
          </a:xfrm>
          <a:prstGeom prst="rect">
            <a:avLst/>
          </a:prstGeom>
          <a:noFill/>
          <a:ln/>
        </p:spPr>
        <p:txBody>
          <a:bodyPr wrap="square" lIns="25400" tIns="25400" rIns="25400" bIns="25400" rtlCol="0" anchor="t">
            <a:normAutofit/>
          </a:bodyPr>
          <a:lstStyle/>
          <a:p>
            <a:pPr algn="l" indent="0" marL="0">
              <a:buNone/>
            </a:pPr>
            <a:r>
              <a:rPr lang="en-US" sz="1725" dirty="0">
                <a:solidFill>
                  <a:srgbClr val="7E9A66"/>
                </a:solidFill>
                <a:latin typeface="Arial" pitchFamily="34" charset="0"/>
                <a:ea typeface="Arial" pitchFamily="34" charset="-122"/>
                <a:cs typeface="Arial" pitchFamily="34" charset="-120"/>
              </a:rPr>
              <a:t>→ </a:t>
            </a:r>
            <a:pPr algn="l" indent="0" marL="0">
              <a:buNone/>
            </a:pPr>
            <a:r>
              <a:rPr lang="en-US" sz="1725" dirty="0">
                <a:solidFill>
                  <a:srgbClr val="1B1813"/>
                </a:solidFill>
                <a:latin typeface="Arial" pitchFamily="34" charset="0"/>
                <a:ea typeface="Arial" pitchFamily="34" charset="-122"/>
                <a:cs typeface="Arial" pitchFamily="34" charset="-120"/>
              </a:rPr>
              <a:t>Specialised agents with scoped access</a:t>
            </a:r>
            <a:endParaRPr lang="en-US" sz="1725" dirty="0"/>
          </a:p>
        </p:txBody>
      </p:sp>
      <p:sp>
        <p:nvSpPr>
          <p:cNvPr id="13" name="Shape 11"/>
          <p:cNvSpPr/>
          <p:nvPr/>
        </p:nvSpPr>
        <p:spPr>
          <a:xfrm>
            <a:off x="1066800" y="6208068"/>
            <a:ext cx="16002000" cy="9525"/>
          </a:xfrm>
          <a:prstGeom prst="rect">
            <a:avLst/>
          </a:prstGeom>
          <a:solidFill>
            <a:srgbClr val="1B1813">
              <a:alpha val="13000"/>
            </a:srgbClr>
          </a:solidFill>
          <a:ln/>
        </p:spPr>
      </p:sp>
      <p:sp>
        <p:nvSpPr>
          <p:cNvPr id="14" name="Text 12"/>
          <p:cNvSpPr/>
          <p:nvPr/>
        </p:nvSpPr>
        <p:spPr>
          <a:xfrm>
            <a:off x="1066800" y="5798493"/>
            <a:ext cx="8486775" cy="323850"/>
          </a:xfrm>
          <a:prstGeom prst="rect">
            <a:avLst/>
          </a:prstGeom>
          <a:noFill/>
          <a:ln/>
        </p:spPr>
        <p:txBody>
          <a:bodyPr wrap="square" lIns="25400" tIns="25400" rIns="25400" bIns="25400" rtlCol="0" anchor="t">
            <a:normAutofit/>
          </a:bodyPr>
          <a:lstStyle/>
          <a:p>
            <a:pPr algn="l" indent="0" marL="0">
              <a:buNone/>
            </a:pPr>
            <a:r>
              <a:rPr lang="en-US" sz="1725" dirty="0">
                <a:solidFill>
                  <a:srgbClr val="6E6656"/>
                </a:solidFill>
                <a:latin typeface="Arial" pitchFamily="34" charset="0"/>
                <a:ea typeface="Arial" pitchFamily="34" charset="-122"/>
                <a:cs typeface="Arial" pitchFamily="34" charset="-120"/>
              </a:rPr>
              <a:t>Accidental destructive operations</a:t>
            </a:r>
            <a:endParaRPr lang="en-US" sz="1725" dirty="0"/>
          </a:p>
        </p:txBody>
      </p:sp>
      <p:sp>
        <p:nvSpPr>
          <p:cNvPr id="15" name="Text 13"/>
          <p:cNvSpPr/>
          <p:nvPr/>
        </p:nvSpPr>
        <p:spPr>
          <a:xfrm>
            <a:off x="9353550" y="5798493"/>
            <a:ext cx="8486775" cy="323850"/>
          </a:xfrm>
          <a:prstGeom prst="rect">
            <a:avLst/>
          </a:prstGeom>
          <a:noFill/>
          <a:ln/>
        </p:spPr>
        <p:txBody>
          <a:bodyPr wrap="square" lIns="25400" tIns="25400" rIns="25400" bIns="25400" rtlCol="0" anchor="t">
            <a:normAutofit/>
          </a:bodyPr>
          <a:lstStyle/>
          <a:p>
            <a:pPr algn="l" indent="0" marL="0">
              <a:buNone/>
            </a:pPr>
            <a:r>
              <a:rPr lang="en-US" sz="1725" dirty="0">
                <a:solidFill>
                  <a:srgbClr val="7E9A66"/>
                </a:solidFill>
                <a:latin typeface="Arial" pitchFamily="34" charset="0"/>
                <a:ea typeface="Arial" pitchFamily="34" charset="-122"/>
                <a:cs typeface="Arial" pitchFamily="34" charset="-120"/>
              </a:rPr>
              <a:t>→ </a:t>
            </a:r>
            <a:pPr algn="l" indent="0" marL="0">
              <a:buNone/>
            </a:pPr>
            <a:r>
              <a:rPr lang="en-US" sz="1725" dirty="0">
                <a:solidFill>
                  <a:srgbClr val="1B1813"/>
                </a:solidFill>
                <a:latin typeface="Arial" pitchFamily="34" charset="0"/>
                <a:ea typeface="Arial" pitchFamily="34" charset="-122"/>
                <a:cs typeface="Arial" pitchFamily="34" charset="-120"/>
              </a:rPr>
              <a:t>Hooks block them before execution</a:t>
            </a:r>
            <a:endParaRPr lang="en-US" sz="1725" dirty="0"/>
          </a:p>
        </p:txBody>
      </p:sp>
      <p:sp>
        <p:nvSpPr>
          <p:cNvPr id="16" name="Shape 14"/>
          <p:cNvSpPr/>
          <p:nvPr/>
        </p:nvSpPr>
        <p:spPr>
          <a:xfrm>
            <a:off x="1066800" y="6750993"/>
            <a:ext cx="16002000" cy="9525"/>
          </a:xfrm>
          <a:prstGeom prst="rect">
            <a:avLst/>
          </a:prstGeom>
          <a:solidFill>
            <a:srgbClr val="1B1813">
              <a:alpha val="13000"/>
            </a:srgbClr>
          </a:solidFill>
          <a:ln/>
        </p:spPr>
      </p:sp>
      <p:sp>
        <p:nvSpPr>
          <p:cNvPr id="17" name="Text 15"/>
          <p:cNvSpPr/>
          <p:nvPr/>
        </p:nvSpPr>
        <p:spPr>
          <a:xfrm>
            <a:off x="1066800" y="6341418"/>
            <a:ext cx="8486775" cy="323850"/>
          </a:xfrm>
          <a:prstGeom prst="rect">
            <a:avLst/>
          </a:prstGeom>
          <a:noFill/>
          <a:ln/>
        </p:spPr>
        <p:txBody>
          <a:bodyPr wrap="square" lIns="25400" tIns="25400" rIns="25400" bIns="25400" rtlCol="0" anchor="t">
            <a:normAutofit/>
          </a:bodyPr>
          <a:lstStyle/>
          <a:p>
            <a:pPr algn="l" indent="0" marL="0">
              <a:buNone/>
            </a:pPr>
            <a:r>
              <a:rPr lang="en-US" sz="1725" dirty="0">
                <a:solidFill>
                  <a:srgbClr val="6E6656"/>
                </a:solidFill>
                <a:latin typeface="Arial" pitchFamily="34" charset="0"/>
                <a:ea typeface="Arial" pitchFamily="34" charset="-122"/>
                <a:cs typeface="Arial" pitchFamily="34" charset="-120"/>
              </a:rPr>
              <a:t>Constant approval prompts</a:t>
            </a:r>
            <a:endParaRPr lang="en-US" sz="1725" dirty="0"/>
          </a:p>
        </p:txBody>
      </p:sp>
      <p:sp>
        <p:nvSpPr>
          <p:cNvPr id="18" name="Text 16"/>
          <p:cNvSpPr/>
          <p:nvPr/>
        </p:nvSpPr>
        <p:spPr>
          <a:xfrm>
            <a:off x="9353550" y="6341418"/>
            <a:ext cx="8486775" cy="323850"/>
          </a:xfrm>
          <a:prstGeom prst="rect">
            <a:avLst/>
          </a:prstGeom>
          <a:noFill/>
          <a:ln/>
        </p:spPr>
        <p:txBody>
          <a:bodyPr wrap="square" lIns="25400" tIns="25400" rIns="25400" bIns="25400" rtlCol="0" anchor="t">
            <a:normAutofit/>
          </a:bodyPr>
          <a:lstStyle/>
          <a:p>
            <a:pPr algn="l" indent="0" marL="0">
              <a:buNone/>
            </a:pPr>
            <a:r>
              <a:rPr lang="en-US" sz="1725" dirty="0">
                <a:solidFill>
                  <a:srgbClr val="7E9A66"/>
                </a:solidFill>
                <a:latin typeface="Arial" pitchFamily="34" charset="0"/>
                <a:ea typeface="Arial" pitchFamily="34" charset="-122"/>
                <a:cs typeface="Arial" pitchFamily="34" charset="-120"/>
              </a:rPr>
              <a:t>→ </a:t>
            </a:r>
            <a:pPr algn="l" indent="0" marL="0">
              <a:buNone/>
            </a:pPr>
            <a:r>
              <a:rPr lang="en-US" sz="1725" dirty="0">
                <a:solidFill>
                  <a:srgbClr val="1B1813"/>
                </a:solidFill>
                <a:latin typeface="Arial" pitchFamily="34" charset="0"/>
                <a:ea typeface="Arial" pitchFamily="34" charset="-122"/>
                <a:cs typeface="Arial" pitchFamily="34" charset="-120"/>
              </a:rPr>
              <a:t>Trust layers auto-approve safe ops</a:t>
            </a:r>
            <a:endParaRPr lang="en-US" sz="1725" dirty="0"/>
          </a:p>
        </p:txBody>
      </p:sp>
      <p:sp>
        <p:nvSpPr>
          <p:cNvPr id="19" name="Shape 17"/>
          <p:cNvSpPr/>
          <p:nvPr/>
        </p:nvSpPr>
        <p:spPr>
          <a:xfrm>
            <a:off x="1066800" y="7293918"/>
            <a:ext cx="16002000" cy="9525"/>
          </a:xfrm>
          <a:prstGeom prst="rect">
            <a:avLst/>
          </a:prstGeom>
          <a:solidFill>
            <a:srgbClr val="1B1813">
              <a:alpha val="13000"/>
            </a:srgbClr>
          </a:solidFill>
          <a:ln/>
        </p:spPr>
      </p:sp>
      <p:sp>
        <p:nvSpPr>
          <p:cNvPr id="20" name="Text 18"/>
          <p:cNvSpPr/>
          <p:nvPr/>
        </p:nvSpPr>
        <p:spPr>
          <a:xfrm>
            <a:off x="1066800" y="6884343"/>
            <a:ext cx="8486775" cy="323850"/>
          </a:xfrm>
          <a:prstGeom prst="rect">
            <a:avLst/>
          </a:prstGeom>
          <a:noFill/>
          <a:ln/>
        </p:spPr>
        <p:txBody>
          <a:bodyPr wrap="square" lIns="25400" tIns="25400" rIns="25400" bIns="25400" rtlCol="0" anchor="t">
            <a:normAutofit/>
          </a:bodyPr>
          <a:lstStyle/>
          <a:p>
            <a:pPr algn="l" indent="0" marL="0">
              <a:buNone/>
            </a:pPr>
            <a:r>
              <a:rPr lang="en-US" sz="1725" dirty="0">
                <a:solidFill>
                  <a:srgbClr val="6E6656"/>
                </a:solidFill>
                <a:latin typeface="Arial" pitchFamily="34" charset="0"/>
                <a:ea typeface="Arial" pitchFamily="34" charset="-122"/>
                <a:cs typeface="Arial" pitchFamily="34" charset="-120"/>
              </a:rPr>
              <a:t>8-step process with missed steps</a:t>
            </a:r>
            <a:endParaRPr lang="en-US" sz="1725" dirty="0"/>
          </a:p>
        </p:txBody>
      </p:sp>
      <p:sp>
        <p:nvSpPr>
          <p:cNvPr id="21" name="Text 19"/>
          <p:cNvSpPr/>
          <p:nvPr/>
        </p:nvSpPr>
        <p:spPr>
          <a:xfrm>
            <a:off x="9353550" y="6884343"/>
            <a:ext cx="8486775" cy="323850"/>
          </a:xfrm>
          <a:prstGeom prst="rect">
            <a:avLst/>
          </a:prstGeom>
          <a:noFill/>
          <a:ln/>
        </p:spPr>
        <p:txBody>
          <a:bodyPr wrap="square" lIns="25400" tIns="25400" rIns="25400" bIns="25400" rtlCol="0" anchor="t">
            <a:normAutofit/>
          </a:bodyPr>
          <a:lstStyle/>
          <a:p>
            <a:pPr algn="l" indent="0" marL="0">
              <a:buNone/>
            </a:pPr>
            <a:r>
              <a:rPr lang="en-US" sz="1725" dirty="0">
                <a:solidFill>
                  <a:srgbClr val="7E9A66"/>
                </a:solidFill>
                <a:latin typeface="Arial" pitchFamily="34" charset="0"/>
                <a:ea typeface="Arial" pitchFamily="34" charset="-122"/>
                <a:cs typeface="Arial" pitchFamily="34" charset="-120"/>
              </a:rPr>
              <a:t>→ </a:t>
            </a:r>
            <a:pPr algn="l" indent="0" marL="0">
              <a:buNone/>
            </a:pPr>
            <a:r>
              <a:rPr lang="en-US" sz="1725" dirty="0">
                <a:solidFill>
                  <a:srgbClr val="1B1813"/>
                </a:solidFill>
                <a:latin typeface="Arial" pitchFamily="34" charset="0"/>
                <a:ea typeface="Arial" pitchFamily="34" charset="-122"/>
                <a:cs typeface="Arial" pitchFamily="34" charset="-120"/>
              </a:rPr>
              <a:t>Automated flow with human gates</a:t>
            </a:r>
            <a:endParaRPr lang="en-US" sz="1725" dirty="0"/>
          </a:p>
        </p:txBody>
      </p:sp>
      <p:sp>
        <p:nvSpPr>
          <p:cNvPr id="22" name="Text 20"/>
          <p:cNvSpPr/>
          <p:nvPr/>
        </p:nvSpPr>
        <p:spPr>
          <a:xfrm>
            <a:off x="1066800" y="7427268"/>
            <a:ext cx="8486775" cy="323850"/>
          </a:xfrm>
          <a:prstGeom prst="rect">
            <a:avLst/>
          </a:prstGeom>
          <a:noFill/>
          <a:ln/>
        </p:spPr>
        <p:txBody>
          <a:bodyPr wrap="square" lIns="25400" tIns="25400" rIns="25400" bIns="25400" rtlCol="0" anchor="t">
            <a:normAutofit/>
          </a:bodyPr>
          <a:lstStyle/>
          <a:p>
            <a:pPr algn="l" indent="0" marL="0">
              <a:buNone/>
            </a:pPr>
            <a:r>
              <a:rPr lang="en-US" sz="1725" dirty="0">
                <a:solidFill>
                  <a:srgbClr val="6E6656"/>
                </a:solidFill>
                <a:latin typeface="Arial" pitchFamily="34" charset="0"/>
                <a:ea typeface="Arial" pitchFamily="34" charset="-122"/>
                <a:cs typeface="Arial" pitchFamily="34" charset="-120"/>
              </a:rPr>
              <a:t>Manual deployment after merge</a:t>
            </a:r>
            <a:endParaRPr lang="en-US" sz="1725" dirty="0"/>
          </a:p>
        </p:txBody>
      </p:sp>
      <p:sp>
        <p:nvSpPr>
          <p:cNvPr id="23" name="Text 21"/>
          <p:cNvSpPr/>
          <p:nvPr/>
        </p:nvSpPr>
        <p:spPr>
          <a:xfrm>
            <a:off x="9353550" y="7427268"/>
            <a:ext cx="8486775" cy="323850"/>
          </a:xfrm>
          <a:prstGeom prst="rect">
            <a:avLst/>
          </a:prstGeom>
          <a:noFill/>
          <a:ln/>
        </p:spPr>
        <p:txBody>
          <a:bodyPr wrap="square" lIns="25400" tIns="25400" rIns="25400" bIns="25400" rtlCol="0" anchor="t">
            <a:normAutofit/>
          </a:bodyPr>
          <a:lstStyle/>
          <a:p>
            <a:pPr algn="l" indent="0" marL="0">
              <a:buNone/>
            </a:pPr>
            <a:r>
              <a:rPr lang="en-US" sz="1725" dirty="0">
                <a:solidFill>
                  <a:srgbClr val="7E9A66"/>
                </a:solidFill>
                <a:latin typeface="Arial" pitchFamily="34" charset="0"/>
                <a:ea typeface="Arial" pitchFamily="34" charset="-122"/>
                <a:cs typeface="Arial" pitchFamily="34" charset="-120"/>
              </a:rPr>
              <a:t>→ </a:t>
            </a:r>
            <a:pPr algn="l" indent="0" marL="0">
              <a:buNone/>
            </a:pPr>
            <a:r>
              <a:rPr lang="en-US" sz="1725" dirty="0">
                <a:solidFill>
                  <a:srgbClr val="1B1813"/>
                </a:solidFill>
                <a:latin typeface="Arial" pitchFamily="34" charset="0"/>
                <a:ea typeface="Arial" pitchFamily="34" charset="-122"/>
                <a:cs typeface="Arial" pitchFamily="34" charset="-120"/>
              </a:rPr>
              <a:t>Pipeline auto-deploys in minutes</a:t>
            </a:r>
            <a:endParaRPr lang="en-US" sz="1725" dirty="0"/>
          </a:p>
        </p:txBody>
      </p:sp>
      <p:sp>
        <p:nvSpPr>
          <p:cNvPr id="24" name="Text 22"/>
          <p:cNvSpPr/>
          <p:nvPr/>
        </p:nvSpPr>
        <p:spPr>
          <a:xfrm>
            <a:off x="16953309" y="9515475"/>
            <a:ext cx="344091" cy="276225"/>
          </a:xfrm>
          <a:prstGeom prst="rect">
            <a:avLst/>
          </a:prstGeom>
          <a:noFill/>
          <a:ln/>
        </p:spPr>
        <p:txBody>
          <a:bodyPr wrap="square" lIns="25400" tIns="25400" rIns="25400" bIns="25400" rtlCol="0" anchor="t">
            <a:normAutofit/>
          </a:bodyPr>
          <a:lstStyle/>
          <a:p>
            <a:pPr algn="l" indent="0" marL="0">
              <a:buNone/>
            </a:pPr>
            <a:r>
              <a:rPr lang="en-US" sz="1425" spc="200" kern="0" dirty="0">
                <a:solidFill>
                  <a:srgbClr val="6E6656"/>
                </a:solidFill>
                <a:latin typeface="Courier New" pitchFamily="34" charset="0"/>
                <a:ea typeface="Courier New" pitchFamily="34" charset="-122"/>
                <a:cs typeface="Courier New" pitchFamily="34" charset="-120"/>
              </a:rPr>
              <a:t>24</a:t>
            </a:r>
            <a:endParaRPr lang="en-US" sz="1425"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B1813"/>
        </a:solidFill>
      </p:bgPr>
    </p:bg>
    <p:spTree>
      <p:nvGrpSpPr>
        <p:cNvPr id="1" name=""/>
        <p:cNvGrpSpPr/>
        <p:nvPr/>
      </p:nvGrpSpPr>
      <p:grpSpPr>
        <a:xfrm>
          <a:off x="0" y="0"/>
          <a:ext cx="0" cy="0"/>
          <a:chOff x="0" y="0"/>
          <a:chExt cx="0" cy="0"/>
        </a:xfrm>
      </p:grpSpPr>
      <p:sp>
        <p:nvSpPr>
          <p:cNvPr id="2" name="Text 0"/>
          <p:cNvSpPr/>
          <p:nvPr/>
        </p:nvSpPr>
        <p:spPr>
          <a:xfrm>
            <a:off x="1066800" y="2751981"/>
            <a:ext cx="17769840" cy="276225"/>
          </a:xfrm>
          <a:prstGeom prst="rect">
            <a:avLst/>
          </a:prstGeom>
          <a:noFill/>
          <a:ln/>
        </p:spPr>
        <p:txBody>
          <a:bodyPr wrap="square" lIns="25400" tIns="25400" rIns="25400" bIns="25400" rtlCol="0" anchor="t">
            <a:normAutofit/>
          </a:bodyPr>
          <a:lstStyle/>
          <a:p>
            <a:pPr algn="l" indent="0" marL="0">
              <a:buNone/>
            </a:pPr>
            <a:r>
              <a:rPr lang="en-US" sz="1425" spc="342" kern="0" dirty="0">
                <a:solidFill>
                  <a:srgbClr val="C05F38"/>
                </a:solidFill>
                <a:latin typeface="Courier New" pitchFamily="34" charset="0"/>
                <a:ea typeface="Courier New" pitchFamily="34" charset="-122"/>
                <a:cs typeface="Courier New" pitchFamily="34" charset="-120"/>
              </a:rPr>
              <a:t>THE BOTTOM LINE</a:t>
            </a:r>
            <a:endParaRPr lang="en-US" sz="1425" dirty="0"/>
          </a:p>
        </p:txBody>
      </p:sp>
      <p:sp>
        <p:nvSpPr>
          <p:cNvPr id="3" name="Text 1"/>
          <p:cNvSpPr/>
          <p:nvPr/>
        </p:nvSpPr>
        <p:spPr>
          <a:xfrm>
            <a:off x="1066800" y="3333006"/>
            <a:ext cx="8642658" cy="1464469"/>
          </a:xfrm>
          <a:prstGeom prst="rect">
            <a:avLst/>
          </a:prstGeom>
          <a:noFill/>
          <a:ln/>
        </p:spPr>
        <p:txBody>
          <a:bodyPr wrap="square" lIns="25400" tIns="25400" rIns="25400" bIns="25400" rtlCol="0" anchor="t">
            <a:normAutofit/>
          </a:bodyPr>
          <a:lstStyle/>
          <a:p>
            <a:pPr algn="l" indent="0" marL="0">
              <a:lnSpc>
                <a:spcPct val="104000"/>
              </a:lnSpc>
              <a:buNone/>
            </a:pPr>
            <a:r>
              <a:rPr lang="en-US" sz="5400" b="1" spc="-108" kern="0" dirty="0">
                <a:solidFill>
                  <a:srgbClr val="F2ECE0"/>
                </a:solidFill>
                <a:latin typeface="Arial" pitchFamily="34" charset="0"/>
                <a:ea typeface="Arial" pitchFamily="34" charset="-122"/>
                <a:cs typeface="Arial" pitchFamily="34" charset="-120"/>
              </a:rPr>
              <a:t>A partner that amplifies our capacity.</a:t>
            </a:r>
            <a:endParaRPr lang="en-US" sz="5400" dirty="0"/>
          </a:p>
        </p:txBody>
      </p:sp>
      <p:sp>
        <p:nvSpPr>
          <p:cNvPr id="4" name="Text 2"/>
          <p:cNvSpPr/>
          <p:nvPr/>
        </p:nvSpPr>
        <p:spPr>
          <a:xfrm>
            <a:off x="1066800" y="5140375"/>
            <a:ext cx="12575389" cy="1546771"/>
          </a:xfrm>
          <a:prstGeom prst="rect">
            <a:avLst/>
          </a:prstGeom>
          <a:noFill/>
          <a:ln/>
        </p:spPr>
        <p:txBody>
          <a:bodyPr wrap="square" lIns="25400" tIns="25400" rIns="25400" bIns="25400" rtlCol="0" anchor="t">
            <a:normAutofit/>
          </a:bodyPr>
          <a:lstStyle/>
          <a:p>
            <a:pPr algn="l" indent="0" marL="0">
              <a:lnSpc>
                <a:spcPct val="132000"/>
              </a:lnSpc>
              <a:buNone/>
            </a:pPr>
            <a:r>
              <a:rPr lang="en-US" sz="3000" dirty="0">
                <a:solidFill>
                  <a:srgbClr val="9C9584"/>
                </a:solidFill>
                <a:latin typeface="Arial" pitchFamily="34" charset="0"/>
                <a:ea typeface="Arial" pitchFamily="34" charset="-122"/>
                <a:cs typeface="Arial" pitchFamily="34" charset="-120"/>
              </a:rPr>
              <a:t>4 repos · 9 accounts · 6 dashboards · full CI/CD — delivered and maintained with kiro-cli handling the mechanical parts while we focus on the decisions.</a:t>
            </a:r>
            <a:endParaRPr lang="en-US" sz="3000" dirty="0"/>
          </a:p>
        </p:txBody>
      </p:sp>
      <p:sp>
        <p:nvSpPr>
          <p:cNvPr id="5" name="Text 3"/>
          <p:cNvSpPr/>
          <p:nvPr/>
        </p:nvSpPr>
        <p:spPr>
          <a:xfrm>
            <a:off x="1066800" y="7220545"/>
            <a:ext cx="259110" cy="447675"/>
          </a:xfrm>
          <a:prstGeom prst="rect">
            <a:avLst/>
          </a:prstGeom>
          <a:noFill/>
          <a:ln/>
        </p:spPr>
        <p:txBody>
          <a:bodyPr wrap="square" lIns="25400" tIns="25400" rIns="25400" bIns="25400" rtlCol="0" anchor="t">
            <a:normAutofit/>
          </a:bodyPr>
          <a:lstStyle/>
          <a:p>
            <a:pPr algn="l" indent="0" marL="0">
              <a:buNone/>
            </a:pPr>
            <a:r>
              <a:rPr lang="en-US" sz="2400" dirty="0">
                <a:solidFill>
                  <a:srgbClr val="7E9A66"/>
                </a:solidFill>
                <a:latin typeface="Courier New" pitchFamily="34" charset="0"/>
                <a:ea typeface="Courier New" pitchFamily="34" charset="-122"/>
                <a:cs typeface="Courier New" pitchFamily="34" charset="-120"/>
              </a:rPr>
              <a:t>$</a:t>
            </a:r>
            <a:endParaRPr lang="en-US" sz="2400" dirty="0"/>
          </a:p>
        </p:txBody>
      </p:sp>
      <p:sp>
        <p:nvSpPr>
          <p:cNvPr id="6" name="Text 4"/>
          <p:cNvSpPr/>
          <p:nvPr/>
        </p:nvSpPr>
        <p:spPr>
          <a:xfrm>
            <a:off x="1451521" y="7220545"/>
            <a:ext cx="807839" cy="447675"/>
          </a:xfrm>
          <a:prstGeom prst="rect">
            <a:avLst/>
          </a:prstGeom>
          <a:noFill/>
          <a:ln/>
        </p:spPr>
        <p:txBody>
          <a:bodyPr wrap="square" lIns="0" tIns="0" rIns="0" bIns="0" rtlCol="0" anchor="t">
            <a:normAutofit/>
          </a:bodyPr>
          <a:lstStyle/>
          <a:p>
            <a:pPr algn="l" indent="0" marL="0">
              <a:buNone/>
            </a:pPr>
            <a:r>
              <a:rPr lang="en-US" sz="2400" dirty="0">
                <a:solidFill>
                  <a:srgbClr val="F2ECE0"/>
                </a:solidFill>
                <a:latin typeface="Courier New" pitchFamily="34" charset="0"/>
                <a:ea typeface="Courier New" pitchFamily="34" charset="-122"/>
                <a:cs typeface="Courier New" pitchFamily="34" charset="-120"/>
              </a:rPr>
              <a:t>kiro</a:t>
            </a:r>
            <a:endParaRPr lang="en-US" sz="2400" dirty="0"/>
          </a:p>
        </p:txBody>
      </p:sp>
      <p:sp>
        <p:nvSpPr>
          <p:cNvPr id="7" name="Text 5"/>
          <p:cNvSpPr/>
          <p:nvPr/>
        </p:nvSpPr>
        <p:spPr>
          <a:xfrm>
            <a:off x="16953309" y="9515475"/>
            <a:ext cx="344091" cy="276225"/>
          </a:xfrm>
          <a:prstGeom prst="rect">
            <a:avLst/>
          </a:prstGeom>
          <a:noFill/>
          <a:ln/>
        </p:spPr>
        <p:txBody>
          <a:bodyPr wrap="square" lIns="25400" tIns="25400" rIns="25400" bIns="25400" rtlCol="0" anchor="t">
            <a:normAutofit/>
          </a:bodyPr>
          <a:lstStyle/>
          <a:p>
            <a:pPr algn="l" indent="0" marL="0">
              <a:buNone/>
            </a:pPr>
            <a:r>
              <a:rPr lang="en-US" sz="1425" spc="200" kern="0" dirty="0">
                <a:solidFill>
                  <a:srgbClr val="9C9584"/>
                </a:solidFill>
                <a:latin typeface="Courier New" pitchFamily="34" charset="0"/>
                <a:ea typeface="Courier New" pitchFamily="34" charset="-122"/>
                <a:cs typeface="Courier New" pitchFamily="34" charset="-120"/>
              </a:rPr>
              <a:t>25</a:t>
            </a:r>
            <a:endParaRPr lang="en-US" sz="142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2026-07-08T22:44:21Z</dcterms:created>
  <dcterms:modified xsi:type="dcterms:W3CDTF">2026-07-08T22:44:21Z</dcterms:modified>
</cp:coreProperties>
</file>